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17365D"/>
                </a:solidFill>
              </a:rPr>
              <a:t>Demonstration of DOCX support in 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links, dropcaps and various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Here, we demonstrate various types of inline text formatting and the use of embedded fonts.</a:t>
            </a:r>
            <a:endParaRPr lang="en-US" sz="1800" dirty="0"/>
          </a:p>
          <a:p>
            <a:pPr>
              <a:buNone/>
            </a:pPr>
            <a:r>
              <a:rPr lang="en-US" sz="1800" dirty="0"/>
              <a:t>Here is some </a:t>
            </a:r>
            <a:r>
              <a:rPr lang="en-US" sz="1800" b="1" dirty="0"/>
              <a:t>bold, </a:t>
            </a:r>
            <a:r>
              <a:rPr lang="en-US" sz="1800" i="1" dirty="0"/>
              <a:t>italic, </a:t>
            </a:r>
            <a:r>
              <a:rPr lang="en-US" sz="1800" b="1" i="1" dirty="0"/>
              <a:t>bold-italic, </a:t>
            </a:r>
            <a:r>
              <a:rPr lang="en-US" sz="1800" u="sng" dirty="0"/>
              <a:t>underlined </a:t>
            </a:r>
            <a:r>
              <a:rPr lang="en-US" sz="1800" dirty="0"/>
              <a:t>and </a:t>
            </a:r>
            <a:r>
              <a:rPr lang="en-US" sz="1800" strike="sngStrike" dirty="0"/>
              <a:t>struck out </a:t>
            </a:r>
            <a:r>
              <a:rPr lang="en-US" sz="1800" dirty="0"/>
              <a:t>text. Then, we have a super</a:t>
            </a:r>
            <a:r>
              <a:rPr lang="en-US" sz="1800" baseline="30000" dirty="0"/>
              <a:t>script</a:t>
            </a:r>
            <a:r>
              <a:rPr lang="en-US" sz="1800" dirty="0"/>
              <a:t> and a sub</a:t>
            </a:r>
            <a:r>
              <a:rPr lang="en-US" sz="1800" baseline="-25000" dirty="0"/>
              <a:t>script</a:t>
            </a:r>
            <a:r>
              <a:rPr lang="en-US" sz="1800" dirty="0"/>
              <a:t>. Now we see some </a:t>
            </a:r>
            <a:r>
              <a:rPr lang="en-US" sz="1800" dirty="0">
                <a:solidFill>
                  <a:srgbClr val="FF0000"/>
                </a:solidFill>
              </a:rPr>
              <a:t>red</a:t>
            </a:r>
            <a:r>
              <a:rPr lang="en-US" sz="1800" dirty="0"/>
              <a:t>, </a:t>
            </a:r>
            <a:r>
              <a:rPr lang="en-US" sz="1800" dirty="0">
                <a:solidFill>
                  <a:srgbClr val="92D050"/>
                </a:solidFill>
              </a:rPr>
              <a:t>green</a:t>
            </a:r>
            <a:r>
              <a:rPr lang="en-US" sz="1800" dirty="0"/>
              <a:t> and </a:t>
            </a:r>
            <a:r>
              <a:rPr lang="en-US" sz="1800" dirty="0">
                <a:solidFill>
                  <a:srgbClr val="0070C0"/>
                </a:solidFill>
              </a:rPr>
              <a:t>blue</a:t>
            </a:r>
            <a:r>
              <a:rPr lang="en-US" sz="1800" dirty="0"/>
              <a:t> text. Some text with a </a:t>
            </a:r>
            <a:r>
              <a:rPr lang="en-US" sz="1800" dirty="0"/>
              <a:t>yellow highlight</a:t>
            </a:r>
            <a:r>
              <a:rPr lang="en-US" sz="1800" dirty="0"/>
              <a:t>. Some text in a box. Some text in </a:t>
            </a:r>
            <a:r>
              <a:rPr lang="en-US" sz="1800" dirty="0">
                <a:solidFill>
                  <a:srgbClr val="FFFFFF"/>
                </a:solidFill>
              </a:rPr>
              <a:t>inverse video</a:t>
            </a:r>
            <a:r>
              <a:rPr lang="en-US" sz="1800" dirty="0"/>
              <a:t>.</a:t>
            </a:r>
            <a:endParaRPr lang="en-US" sz="1800" dirty="0"/>
          </a:p>
          <a:p>
            <a:pPr>
              <a:buNone/>
            </a:pPr>
            <a:r>
              <a:rPr lang="en-US" sz="1800" dirty="0"/>
              <a:t>A paragraph with styled text: </a:t>
            </a:r>
            <a:r>
              <a:rPr lang="en-US" sz="1800" i="1" dirty="0">
                <a:solidFill>
                  <a:srgbClr val="808080"/>
                </a:solidFill>
              </a:rPr>
              <a:t>subtle emphasis </a:t>
            </a:r>
            <a:r>
              <a:rPr lang="en-US" sz="1800" dirty="0"/>
              <a:t>followed by </a:t>
            </a:r>
            <a:r>
              <a:rPr lang="en-US" sz="1800" b="1" dirty="0"/>
              <a:t>strong text </a:t>
            </a:r>
            <a:r>
              <a:rPr lang="en-US" sz="1800" dirty="0"/>
              <a:t>and </a:t>
            </a:r>
            <a:r>
              <a:rPr lang="en-US" sz="1800" b="1" i="1" dirty="0">
                <a:solidFill>
                  <a:srgbClr val="4F81BD"/>
                </a:solidFill>
              </a:rPr>
              <a:t>intense emphasis</a:t>
            </a:r>
            <a:r>
              <a:rPr lang="en-US" sz="1800" dirty="0"/>
              <a:t>. This paragraph uses document wide styles for styling rather than inline text properties as demonstrated in the previous paragraph — calibre can handle both with equal ease.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latin typeface="monospace"/>
              </a:rPr>
              <a:t>some text in the Ubuntu Mono typeface, notice how every letter has the same width, even i and m</a:t>
            </a:r>
            <a:r>
              <a:rPr lang="en-US" sz="1800" dirty="0"/>
              <a:t>. Every embedded font will automatically be embedded in the output ebook during conversion.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200" dirty="0"/>
                        <a:t>City or Town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rPr>
              <a:t>Source:</a:t>
            </a:r>
            <a:r>
              <a:rPr lang="en-US" sz="1000" dirty="0"/>
              <a:t>Fictitious data, for illustration purposes only</a:t>
            </a:r>
            <a:endParaRPr lang="en-US" sz="1000" dirty="0"/>
          </a:p>
          <a:p>
            <a:pPr>
              <a:buNone/>
            </a:pPr>
            <a:r>
              <a:rPr lang="en-US" sz="1800" dirty="0"/>
              <a:t>Next, we have something a little more complex, a nested table, i.e. a table inside another table. Additionally, the inner table has some of its cells merged. 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554014"/>
                <a:gridCol w="5675586"/>
              </a:tblGrid>
              <a:tr h="3683000">
                <a:tc>
                  <a:txBody>
                    <a:bodyPr/>
                    <a:lstStyle/>
                    <a:p>
                      <a:pPr>
                        <a:buNone/>
                      </a:pPr>
                      <a:r>
                        <a:rPr lang="en-US" sz="1200" dirty="0"/>
                        <a:t>One
Three	Two</a:t>
                      </a:r>
                      <a:endParaRPr lang="en-US" sz="1200" dirty="0"/>
                    </a:p>
                    <a:p>
                      <a:pPr>
                        <a:buNone/>
                      </a:pPr>
                      <a:r>
                        <a:rPr lang="en-US" sz="1200" dirty="0"/>
                        <a:t>Four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r>
              <a:rPr lang="en-US" sz="1800" baseline="30000" dirty="0"/>
              <a:t>1</a:t>
            </a:r>
            <a:r>
              <a:rPr lang="en-US" sz="1800" dirty="0"/>
              <a:t> and endnotes</a:t>
            </a:r>
            <a:r>
              <a:rPr lang="en-US" sz="1800" baseline="30000" dirty="0"/>
              <a:t>2</a:t>
            </a:r>
            <a:r>
              <a:rPr lang="en-US" sz="1800" dirty="0"/>
              <a:t> are automatically recognized and both are converted to endnotes, with backlinks for maximum ease of use in ebook devices.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endParaRPr lang="en-US" sz="5850" dirty="0"/>
          </a:p>
          <a:p>
            <a:pPr>
              <a:buNone/>
            </a:pPr>
            <a:r>
              <a:rPr lang="en-US" sz="1800" dirty="0"/>
              <a:t>rop caps are used to emphasize the leading paragraph at the start of a section. In Word it is possible to specify how many lines of text a drop-cap should use.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locations inside the document itself. Both are supported by calibre. For example, here is a link pointing to the </a:t>
            </a:r>
            <a:r>
              <a:rPr lang="en-US" sz="1800" u="sng" dirty="0">
                <a:solidFill>
                  <a:srgbClr val="0000FF"/>
                </a:solidFill>
                <a:hlinkClick r:id="rId2"/>
              </a:rPr>
              <a:t>calibre download page</a:t>
            </a:r>
            <a:r>
              <a:rPr lang="en-US" sz="1800" dirty="0"/>
              <a:t>. Then we have a link that points back to the section on </a:t>
            </a:r>
            <a:r>
              <a:rPr lang="en-US" sz="1800" u="sng" dirty="0">
                <a:solidFill>
                  <a:srgbClr val="0000FF"/>
                </a:solidFill>
              </a:rPr>
              <a:t>paragraph level formatting</a:t>
            </a:r>
            <a:r>
              <a:rPr lang="en-US" sz="1800" dirty="0"/>
              <a:t> in this document.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see the Table of Contents created by calibre by clicking the Table of Contents button in whatever viewer you are using to view the converted ebook.</a:t>
            </a:r>
            <a:endParaRPr lang="en-US" sz="1800" dirty="0"/>
          </a:p>
          <a:p>
            <a:pPr>
              <a:buNone/>
            </a:pPr>
            <a:r>
              <a:rPr lang="en-US" sz="1000" b="1" u="sng" dirty="0">
                <a:solidFill>
                  <a:srgbClr val="0000FF"/>
                </a:solidFill>
              </a:rPr>
              <a:t>Demonstration of DOCX support in calibre1</a:t>
            </a:r>
            <a:endParaRPr lang="en-US" sz="1000" dirty="0"/>
          </a:p>
          <a:p>
            <a:pPr>
              <a:buNone/>
            </a:pPr>
            <a:r>
              <a:rPr lang="en-US" sz="1000" b="1" u="sng" dirty="0">
                <a:solidFill>
                  <a:srgbClr val="0000FF"/>
                </a:solidFill>
              </a:rPr>
              <a:t>Text Formatting1</a:t>
            </a:r>
            <a:endParaRPr lang="en-US" sz="1000" dirty="0"/>
          </a:p>
          <a:p>
            <a:pPr>
              <a:buNone/>
            </a:pPr>
            <a:r>
              <a:rPr lang="en-US" sz="1000" i="1" u="sng" dirty="0">
                <a:solidFill>
                  <a:srgbClr val="0000FF"/>
                </a:solidFill>
              </a:rPr>
              <a:t>Inline formatting2</a:t>
            </a:r>
            <a:endParaRPr lang="en-US" sz="1000" dirty="0"/>
          </a:p>
          <a:p>
            <a:pPr>
              <a:buNone/>
            </a:pPr>
            <a:r>
              <a:rPr lang="en-US" sz="1000" i="1" u="sng" dirty="0">
                <a:solidFill>
                  <a:srgbClr val="0000FF"/>
                </a:solidFill>
              </a:rPr>
              <a:t>Fun with fonts2</a:t>
            </a:r>
            <a:endParaRPr lang="en-US" sz="1000" dirty="0"/>
          </a:p>
          <a:p>
            <a:pPr>
              <a:buNone/>
            </a:pPr>
            <a:r>
              <a:rPr lang="en-US" sz="1000" i="1" u="sng" dirty="0">
                <a:solidFill>
                  <a:srgbClr val="0000FF"/>
                </a:solidFill>
              </a:rPr>
              <a:t>Paragraph level formatting2</a:t>
            </a:r>
            <a:endParaRPr lang="en-US" sz="1000" dirty="0"/>
          </a:p>
          <a:p>
            <a:pPr>
              <a:buNone/>
            </a:pPr>
            <a:r>
              <a:rPr lang="en-US" sz="1000" b="1" u="sng" dirty="0">
                <a:solidFill>
                  <a:srgbClr val="0000FF"/>
                </a:solidFill>
              </a:rPr>
              <a:t>Tables2</a:t>
            </a:r>
            <a:endParaRPr lang="en-US" sz="1000" dirty="0"/>
          </a:p>
          <a:p>
            <a:pPr>
              <a:buNone/>
            </a:pPr>
            <a:r>
              <a:rPr lang="en-US" sz="1000" b="1" u="sng" dirty="0">
                <a:solidFill>
                  <a:srgbClr val="0000FF"/>
                </a:solidFill>
              </a:rPr>
              <a:t>Structural Elements4</a:t>
            </a:r>
            <a:endParaRPr lang="en-US" sz="1000" dirty="0"/>
          </a:p>
          <a:p>
            <a:pPr>
              <a:buNone/>
            </a:pPr>
            <a:r>
              <a:rPr lang="en-US" sz="1000" i="1" u="sng" dirty="0">
                <a:solidFill>
                  <a:srgbClr val="0000FF"/>
                </a:solidFill>
              </a:rPr>
              <a:t>Footnotes &amp; Endnotes5</a:t>
            </a:r>
            <a:endParaRPr lang="en-US" sz="1000" dirty="0"/>
          </a:p>
          <a:p>
            <a:pPr>
              <a:buNone/>
            </a:pPr>
            <a:r>
              <a:rPr lang="en-US" sz="1000" i="1" u="sng" dirty="0">
                <a:solidFill>
                  <a:srgbClr val="0000FF"/>
                </a:solidFill>
              </a:rPr>
              <a:t>Dropcaps5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u="sng" dirty="0">
                <a:solidFill>
                  <a:srgbClr val="0000FF"/>
                </a:solidFill>
              </a:rPr>
              <a:t>Links5</a:t>
            </a:r>
            <a:endParaRPr lang="en-US" sz="1000" dirty="0"/>
          </a:p>
          <a:p>
            <a:pPr>
              <a:buNone/>
            </a:pPr>
            <a:r>
              <a:rPr lang="en-US" sz="1000" i="1" u="sng" dirty="0">
                <a:solidFill>
                  <a:srgbClr val="0000FF"/>
                </a:solidFill>
              </a:rPr>
              <a:t>Table of Contents5</a:t>
            </a:r>
            <a:endParaRPr lang="en-US" sz="1000" dirty="0"/>
          </a:p>
          <a:p>
            <a:pPr>
              <a:buNone/>
            </a:pPr>
            <a:r>
              <a:rPr lang="en-US" sz="1000" b="1" u="sng" dirty="0">
                <a:solidFill>
                  <a:srgbClr val="0000FF"/>
                </a:solidFill>
              </a:rPr>
              <a:t>Images6</a:t>
            </a:r>
            <a:endParaRPr lang="en-US" sz="1000" dirty="0"/>
          </a:p>
          <a:p>
            <a:pPr>
              <a:buNone/>
            </a:pPr>
            <a:r>
              <a:rPr lang="en-US" sz="1000" b="1" u="sng" dirty="0">
                <a:solidFill>
                  <a:srgbClr val="0000FF"/>
                </a:solidFill>
              </a:rPr>
              <a:t>Lists7</a:t>
            </a:r>
            <a:endParaRPr lang="en-US" sz="1000" dirty="0"/>
          </a:p>
          <a:p>
            <a:pPr>
              <a:buNone/>
            </a:pPr>
            <a:r>
              <a:rPr lang="en-US" sz="1000" i="1" u="sng" dirty="0">
                <a:solidFill>
                  <a:srgbClr val="0000FF"/>
                </a:solidFill>
              </a:rPr>
              <a:t>Bulleted List8</a:t>
            </a:r>
            <a:endParaRPr lang="en-US" sz="1000" dirty="0"/>
          </a:p>
          <a:p>
            <a:pPr>
              <a:buNone/>
            </a:pPr>
            <a:r>
              <a:rPr lang="en-US" sz="1000" i="1" u="sng" dirty="0">
                <a:solidFill>
                  <a:srgbClr val="0000FF"/>
                </a:solidFill>
              </a:rPr>
              <a:t>Numbered List8</a:t>
            </a:r>
            <a:endParaRPr lang="en-US" sz="1000" dirty="0"/>
          </a:p>
          <a:p>
            <a:pPr>
              <a:buNone/>
            </a:pPr>
            <a:r>
              <a:rPr lang="en-US" sz="1000" i="1" u="sng" dirty="0">
                <a:solidFill>
                  <a:srgbClr val="0000FF"/>
                </a:solidFill>
              </a:rPr>
              <a:t>Multi-level Lists8</a:t>
            </a:r>
            <a:endParaRPr lang="en-US" sz="1000" dirty="0"/>
          </a:p>
          <a:p>
            <a:pPr>
              <a:buNone/>
            </a:pPr>
            <a:r>
              <a:rPr lang="en-US" sz="1000" i="1" u="sng" dirty="0">
                <a:solidFill>
                  <a:srgbClr val="0000FF"/>
                </a:solidFill>
              </a:rPr>
              <a:t>Continued Lists8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t>There is no analogous technology in ebooks, so the conversion will usually end up placing the image either centered or floating close to the point in the text where it was </a:t>
            </a:r>
            <a:r>
              <a:rPr lang="en-US" sz="1200" i="1" dirty="0">
                <a:solidFill>
                  <a:srgbClr val="808080"/>
                </a:solidFill>
              </a:rPr>
              <a:t>inserted</a:t>
            </a:r>
            <a:r>
              <a:rPr lang="en-US" sz="1200" dirty="0"/>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 with a very long line to demonstrate that the hanging indent for the list is working correctly</a:t>
            </a:r>
            <a:endParaRPr lang="en-US" sz="1800" dirty="0"/>
          </a:p>
          <a:p>
            <a:pPr marL="228600" indent="-177800">
              <a:buNone/>
            </a:pPr>
            <a:r>
              <a:rPr lang="en-US" sz="1800" dirty="0"/>
              <a:t>2.	</a:t>
            </a: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457200" indent="-177800" lvl="1">
              <a:buNone/>
            </a:pPr>
            <a:r>
              <a:rPr lang="en-US" sz="1800" dirty="0"/>
              <a:t>1.	</a:t>
            </a:r>
            <a:r>
              <a:rPr lang="en-US" sz="1800" dirty="0"/>
              <a:t>Two</a:t>
            </a:r>
            <a:endParaRPr lang="en-US" sz="1800" dirty="0"/>
          </a:p>
          <a:p>
            <a:pPr marL="685800" indent="-177800" lvl="2">
              <a:buNone/>
            </a:pPr>
            <a:r>
              <a:rPr lang="en-US" sz="1800" dirty="0"/>
              <a:t>1.	</a:t>
            </a:r>
            <a:r>
              <a:rPr lang="en-US" sz="1800" dirty="0"/>
              <a:t>Three</a:t>
            </a:r>
            <a:endParaRPr lang="en-US" sz="1800" dirty="0"/>
          </a:p>
          <a:p>
            <a:pPr marL="685800" indent="-177800" lvl="2">
              <a:buNone/>
            </a:pPr>
            <a:r>
              <a:rPr lang="en-US" sz="1800" dirty="0"/>
              <a:t>2.	</a:t>
            </a:r>
            <a:r>
              <a:rPr lang="en-US" sz="1800" dirty="0"/>
              <a:t>Four with a very long line to demonstrate that the hanging indent for the list is working correctly.</a:t>
            </a:r>
            <a:endParaRPr lang="en-US" sz="1800" dirty="0"/>
          </a:p>
          <a:p>
            <a:pPr marL="685800" indent="-177800" lvl="2">
              <a:buNone/>
            </a:pPr>
            <a:r>
              <a:rPr lang="en-US" sz="1800" dirty="0"/>
              <a:t>3.	</a:t>
            </a:r>
            <a:r>
              <a:rPr lang="en-US" sz="1800" dirty="0"/>
              <a:t>Five</a:t>
            </a:r>
            <a:endParaRPr lang="en-US" sz="1800" dirty="0"/>
          </a:p>
          <a:p>
            <a:pPr marL="228600" indent="-177800">
              <a:buNone/>
            </a:pPr>
            <a:r>
              <a:rPr lang="en-US" sz="1800" dirty="0"/>
              <a:t>2.	</a:t>
            </a: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228600" indent="-177800">
              <a:buNone/>
            </a:pPr>
            <a:r>
              <a:rPr lang="en-US" sz="1800" dirty="0"/>
              <a:t>2.	</a:t>
            </a: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None/>
            </a:pPr>
            <a:r>
              <a:rPr lang="en-US" sz="1800" dirty="0"/>
              <a:t>3.	</a:t>
            </a:r>
            <a:r>
              <a:rPr lang="en-US" sz="1800" dirty="0"/>
              <a:t>We now resume our normal programming</a:t>
            </a:r>
            <a:endParaRPr lang="en-US" sz="1800" dirty="0"/>
          </a:p>
          <a:p>
            <a:pPr marL="228600" indent="-177800">
              <a:buNone/>
            </a:pPr>
            <a:r>
              <a:rPr lang="en-US" sz="1800" dirty="0"/>
              <a:t>4.	</a:t>
            </a:r>
            <a:r>
              <a:rPr lang="en-US" sz="1800" dirty="0"/>
              <a:t>Four</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a:t>
            </a:r>
            <a:r>
              <a:rPr lang="en-US" sz="1400" dirty="0"/>
              <a:t>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a:t>
            </a:r>
            <a:r>
              <a:rPr lang="en-US" sz="1400" dirty="0"/>
              <a:t>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cp:keywords>calibre, docs, ebook, conversion</cp:keywords>
  <cp:lastModifiedBy>Harsh Ankur</cp:lastModifiedBy>
  <dcterms:created xsi:type="dcterms:W3CDTF">2013-06-05T07:56:00Z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lpwstr>42</vt:lpwstr>
  </property>
  <property fmtid="{D5CDD505-2E9C-101B-9397-08002B2CF9AE}" pid="4" name="TestBool">
    <vt:lpwstr>true</vt:lpwstr>
  </property>
</Properties>
</file>