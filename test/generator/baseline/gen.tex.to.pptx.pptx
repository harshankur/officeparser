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theme" Target="theme/theme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17365D"/>
                </a:solidFill>
              </a:rPr>
              <a:t>Demonstration of DOCX support in calibre</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a:t>
            </a:r>
            <a:endParaRPr lang="en-US" sz="1800" dirty="0"/>
          </a:p>
          <a:p>
            <a:pPr>
              <a:buNone/>
            </a:pPr>
            <a:r>
              <a:rPr lang="en-US" sz="1800" dirty="0"/>
              <a:t>There is support for images, tables, lists, footnotes, endnotes, links, dropcaps and various types of text and paragraph level formatting.</a:t>
            </a:r>
            <a:endParaRPr lang="en-US" sz="1800" dirty="0"/>
          </a:p>
          <a:p>
            <a:pPr>
              <a:buNone/>
            </a:pPr>
            <a:r>
              <a:rPr lang="en-US" sz="1800" dirty="0"/>
              <a:t>To see the DOCX conversion in action, simply add this file to calibre using the </a:t>
            </a:r>
            <a:r>
              <a:rPr lang="en-US" sz="1800" b="1" dirty="0"/>
              <a:t>“Add Books” </a:t>
            </a:r>
            <a:r>
              <a:rPr lang="en-US" sz="1800" dirty="0"/>
              <a:t>button and then click “</a:t>
            </a:r>
            <a:r>
              <a:rPr lang="en-US" sz="1800" b="1" dirty="0"/>
              <a:t>Convert”. </a:t>
            </a:r>
            <a:r>
              <a:rPr lang="en-US" sz="1800" dirty="0"/>
              <a:t>Set the output format in the top right corner of the conversion dialog to EPUB or AZW3 and click </a:t>
            </a:r>
            <a:r>
              <a:rPr lang="en-US" sz="1800" b="1" dirty="0"/>
              <a:t>“OK”</a:t>
            </a:r>
            <a:r>
              <a:rPr lang="en-US" sz="1800" dirty="0"/>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Text Formatting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Inline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Here, we demonstrate various types of inline text formatting and the use of embedded fonts.</a:t>
            </a:r>
            <a:endParaRPr lang="en-US" sz="1800" dirty="0"/>
          </a:p>
          <a:p>
            <a:pPr>
              <a:buNone/>
            </a:pPr>
            <a:r>
              <a:rPr lang="en-US" sz="1800" dirty="0"/>
              <a:t>Here is some </a:t>
            </a:r>
            <a:r>
              <a:rPr lang="en-US" sz="1800" b="1" dirty="0"/>
              <a:t>bold, </a:t>
            </a:r>
            <a:r>
              <a:rPr lang="en-US" sz="1800" i="1" dirty="0"/>
              <a:t>italic, </a:t>
            </a:r>
            <a:r>
              <a:rPr lang="en-US" sz="1800" b="1" i="1" dirty="0"/>
              <a:t>bold-italic, </a:t>
            </a:r>
            <a:r>
              <a:rPr lang="en-US" sz="1800" u="sng" dirty="0"/>
              <a:t>underlined </a:t>
            </a:r>
            <a:r>
              <a:rPr lang="en-US" sz="1800" dirty="0"/>
              <a:t>and </a:t>
            </a:r>
            <a:r>
              <a:rPr lang="en-US" sz="1800" strike="sngStrike" dirty="0"/>
              <a:t>struck out </a:t>
            </a:r>
            <a:r>
              <a:rPr lang="en-US" sz="1800" dirty="0"/>
              <a:t>text. Then, we have a super</a:t>
            </a:r>
            <a:r>
              <a:rPr lang="en-US" sz="1800" baseline="30000" dirty="0"/>
              <a:t>script</a:t>
            </a:r>
            <a:r>
              <a:rPr lang="en-US" sz="1800" dirty="0"/>
              <a:t> and a sub</a:t>
            </a:r>
            <a:r>
              <a:rPr lang="en-US" sz="1800" baseline="-25000" dirty="0"/>
              <a:t>script</a:t>
            </a:r>
            <a:r>
              <a:rPr lang="en-US" sz="1800" dirty="0"/>
              <a:t>. Now we see some </a:t>
            </a:r>
            <a:r>
              <a:rPr lang="en-US" sz="1800" dirty="0">
                <a:solidFill>
                  <a:srgbClr val="FF0000"/>
                </a:solidFill>
              </a:rPr>
              <a:t>red</a:t>
            </a:r>
            <a:r>
              <a:rPr lang="en-US" sz="1800" dirty="0"/>
              <a:t>, </a:t>
            </a:r>
            <a:r>
              <a:rPr lang="en-US" sz="1800" dirty="0">
                <a:solidFill>
                  <a:srgbClr val="92D050"/>
                </a:solidFill>
              </a:rPr>
              <a:t>green</a:t>
            </a:r>
            <a:r>
              <a:rPr lang="en-US" sz="1800" dirty="0"/>
              <a:t> and </a:t>
            </a:r>
            <a:r>
              <a:rPr lang="en-US" sz="1800" dirty="0">
                <a:solidFill>
                  <a:srgbClr val="0070C0"/>
                </a:solidFill>
              </a:rPr>
              <a:t>blue</a:t>
            </a:r>
            <a:r>
              <a:rPr lang="en-US" sz="1800" dirty="0"/>
              <a:t> text. Some text with a </a:t>
            </a:r>
            <a:r>
              <a:rPr lang="en-US" sz="1800" dirty="0"/>
              <a:t>yellow highlight</a:t>
            </a:r>
            <a:r>
              <a:rPr lang="en-US" sz="1800" dirty="0"/>
              <a:t>. Some text in a box. Some text in </a:t>
            </a:r>
            <a:r>
              <a:rPr lang="en-US" sz="1800" dirty="0">
                <a:solidFill>
                  <a:srgbClr val="FFFFFF"/>
                </a:solidFill>
              </a:rPr>
              <a:t>inverse video</a:t>
            </a:r>
            <a:r>
              <a:rPr lang="en-US" sz="1800" dirty="0"/>
              <a:t>.</a:t>
            </a:r>
            <a:endParaRPr lang="en-US" sz="1800" dirty="0"/>
          </a:p>
          <a:p>
            <a:pPr>
              <a:buNone/>
            </a:pPr>
            <a:r>
              <a:rPr lang="en-US" sz="1800" dirty="0"/>
              <a:t>A paragraph with styled text: </a:t>
            </a:r>
            <a:r>
              <a:rPr lang="en-US" sz="1800" i="1" dirty="0">
                <a:solidFill>
                  <a:srgbClr val="808080"/>
                </a:solidFill>
              </a:rPr>
              <a:t>subtle emphasis </a:t>
            </a:r>
            <a:r>
              <a:rPr lang="en-US" sz="1800" dirty="0"/>
              <a:t>followed by </a:t>
            </a:r>
            <a:r>
              <a:rPr lang="en-US" sz="1800" b="1" dirty="0"/>
              <a:t>strong text </a:t>
            </a:r>
            <a:r>
              <a:rPr lang="en-US" sz="1800" dirty="0"/>
              <a:t>and </a:t>
            </a:r>
            <a:r>
              <a:rPr lang="en-US" sz="1800" b="1" i="1" dirty="0">
                <a:solidFill>
                  <a:srgbClr val="4F81BD"/>
                </a:solidFill>
              </a:rPr>
              <a:t>intense emphasis</a:t>
            </a:r>
            <a:r>
              <a:rPr lang="en-US" sz="1800" dirty="0"/>
              <a:t>. This paragraph uses document wide styles for styling rather than inline text properties as demonstrated in the previous paragraph — calibre can handle both with equal ease.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Fun with fonts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This document has embedded the Ubuntu font family. The body text is in the Ubuntu typeface, here is </a:t>
            </a:r>
            <a:r>
              <a:rPr lang="en-US" sz="1800" dirty="0">
                <a:latin typeface="monospace"/>
              </a:rPr>
              <a:t>some text in the Ubuntu Mono typeface, notice how every letter has the same width, even i and m</a:t>
            </a:r>
            <a:r>
              <a:rPr lang="en-US" sz="1800" dirty="0"/>
              <a:t>. Every embedded font will automatically be embedded in the output ebook during conversion.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Paragraph level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lgn="r">
              <a:buNone/>
            </a:pPr>
            <a:r>
              <a:rPr lang="en-US" sz="1800" dirty="0"/>
              <a:t>You can do crazy things with paragraphs, if the urge strikes you. For instance this paragraph is right aligned and has a right border. It has also been given a light gray background.</a:t>
            </a:r>
            <a:endParaRPr lang="en-US" sz="1800" dirty="0"/>
          </a:p>
          <a:p>
            <a:pPr>
              <a:buNone/>
            </a:pPr>
            <a:r>
              <a:rPr lang="en-US" sz="1800" dirty="0"/>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764505"/>
                <a:gridCol w="3465095"/>
              </a:tblGrid>
              <a:tr h="613833">
                <a:tc>
                  <a:txBody>
                    <a:bodyPr/>
                    <a:lstStyle/>
                    <a:p>
                      <a:pPr>
                        <a:buNone/>
                      </a:pPr>
                      <a:r>
                        <a:rPr lang="en-US" sz="1200" dirty="0"/>
                        <a:t>ITEM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NEEDED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Books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Pencils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Highlighter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Scissors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endParaRPr lang="en-US" sz="1800" dirty="0"/>
          </a:p>
          <a:p>
            <a:pPr>
              <a:buNone/>
            </a:pPr>
            <a:r>
              <a:rPr lang="en-US" sz="1800" dirty="0"/>
              <a:t>Now let’s look at a fancier table—one with alternating row colors and partial borders. This table is stretched out to take 100% of the available width.</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101174"/>
                <a:gridCol w="1225685"/>
                <a:gridCol w="1225685"/>
                <a:gridCol w="1225685"/>
                <a:gridCol w="1225685"/>
                <a:gridCol w="1225685"/>
              </a:tblGrid>
              <a:tr h="613833">
                <a:tc>
                  <a:txBody>
                    <a:bodyPr/>
                    <a:lstStyle/>
                    <a:p>
                      <a:pPr>
                        <a:buNone/>
                      </a:pPr>
                      <a:r>
                        <a:rPr lang="en-US" sz="1200" dirty="0"/>
                        <a:t>City or Town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A</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B</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87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C</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64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200" dirty="0"/>
                        <a:t>Point 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93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54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Next, we see a table with special formatting in various locations. Notice how the formatting for the header row and sub header rows is preserved.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438400"/>
                <a:gridCol w="1981200"/>
                <a:gridCol w="2895600"/>
                <a:gridCol w="914400"/>
              </a:tblGrid>
              <a:tr h="460375">
                <a:tc>
                  <a:txBody>
                    <a:bodyPr/>
                    <a:lstStyle/>
                    <a:p>
                      <a:pPr>
                        <a:buNone/>
                      </a:pPr>
                      <a:r>
                        <a:rPr lang="en-US" sz="1200" dirty="0"/>
                        <a:t>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New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Graduating students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Change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rPr>
                        <a:t>Undergraduate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Oak Institute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i="1" dirty="0">
                          <a:solidFill>
                            <a:srgbClr val="808080"/>
                          </a:solidFill>
                        </a:rPr>
                        <a:t>Graduate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Cedar University</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Elm College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200" dirty="0"/>
                        <a:t>Total</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998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dirty="0">
                <a:solidFill>
                  <a:srgbClr val="808080"/>
                </a:solidFill>
              </a:rPr>
              <a:t>Source:</a:t>
            </a:r>
            <a:r>
              <a:rPr lang="en-US" sz="1000" dirty="0"/>
              <a:t>Fictitious data, for illustration purposes only</a:t>
            </a:r>
            <a:endParaRPr lang="en-US" sz="1000" dirty="0"/>
          </a:p>
          <a:p>
            <a:pPr>
              <a:buNone/>
            </a:pPr>
            <a:r>
              <a:rPr lang="en-US" sz="1800" dirty="0"/>
              <a:t>Next, we have something a little more complex, a nested table, i.e. a table inside another table. Additionally, the inner table has some of its cells merged. The table is displayed horizontally centered.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554014"/>
                <a:gridCol w="5675586"/>
              </a:tblGrid>
              <a:tr h="3683000">
                <a:tc>
                  <a:txBody>
                    <a:bodyPr/>
                    <a:lstStyle/>
                    <a:p>
                      <a:pPr>
                        <a:buNone/>
                      </a:pPr>
                      <a:r>
                        <a:rPr lang="en-US" sz="1200" dirty="0"/>
                        <a:t>One
Three	Two</a:t>
                      </a:r>
                      <a:endParaRPr lang="en-US" sz="1200" dirty="0"/>
                    </a:p>
                    <a:p>
                      <a:pPr>
                        <a:buNone/>
                      </a:pPr>
                      <a:r>
                        <a:rPr lang="en-US" sz="1200" dirty="0"/>
                        <a:t>Four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We end with a fancy calendar, note how much of the original formatting is preserved. Note that this table will only display correctly on relatively wide screens. In general, very wide tables or tables whose cells have fixed width requirements don’t fare well in ebooks.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334818">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Sun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Mon</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Tue</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Wed</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Thu</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Fri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Sat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15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26</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r>
                        <a:rPr lang="en-US" sz="1200" dirty="0"/>
                        <a:t>29</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587829"/>
                <a:gridCol w="587829"/>
                <a:gridCol w="587829"/>
                <a:gridCol w="587829"/>
                <a:gridCol w="587829"/>
                <a:gridCol w="587829"/>
                <a:gridCol w="587829"/>
                <a:gridCol w="587829"/>
                <a:gridCol w="587829"/>
                <a:gridCol w="587829"/>
                <a:gridCol w="587829"/>
                <a:gridCol w="587829"/>
                <a:gridCol w="587829"/>
                <a:gridCol w="587829"/>
              </a:tblGrid>
              <a:tr h="1227667">
                <a:tc gridSpan="13">
                  <a:txBody>
                    <a:bodyPr/>
                    <a:lstStyle/>
                    <a:p>
                      <a:pPr>
                        <a:buNone/>
                      </a:pPr>
                      <a:r>
                        <a:rPr lang="en-US" sz="1200" dirty="0"/>
                        <a:t>December 2007</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t>30</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gridSpan="2">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hMerge="1">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Structural Elements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Miscellaneous structural elements you can add to your document, like footnotes, endnotes, dropcaps and the like.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Footnotes &amp; Endnotes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Footnotes</a:t>
            </a:r>
            <a:r>
              <a:rPr lang="en-US" sz="1800" baseline="30000" dirty="0"/>
              <a:t>1</a:t>
            </a:r>
            <a:r>
              <a:rPr lang="en-US" sz="1800" dirty="0"/>
              <a:t> and endnotes</a:t>
            </a:r>
            <a:r>
              <a:rPr lang="en-US" sz="1800" baseline="30000" dirty="0"/>
              <a:t>2</a:t>
            </a:r>
            <a:r>
              <a:rPr lang="en-US" sz="1800" dirty="0"/>
              <a:t> are automatically recognized and both are converted to endnotes, with backlinks for maximum ease of use in ebook devices.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Dropcaps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5850" dirty="0"/>
              <a:t>D</a:t>
            </a:r>
            <a:endParaRPr lang="en-US" sz="5850" dirty="0"/>
          </a:p>
          <a:p>
            <a:pPr>
              <a:buNone/>
            </a:pPr>
            <a:r>
              <a:rPr lang="en-US" sz="1800" dirty="0"/>
              <a:t>rop caps are used to emphasize the leading paragraph at the start of a section. In Word it is possible to specify how many lines of text a drop-cap should use.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Links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Two kinds of links are possible, those that refer to an external website and those that refer to locations inside the document itself. Both are supported by calibre. For example, here is a link pointing to the </a:t>
            </a:r>
            <a:r>
              <a:rPr lang="en-US" sz="1800" u="sng" dirty="0">
                <a:solidFill>
                  <a:srgbClr val="0000FF"/>
                </a:solidFill>
                <a:hlinkClick r:id="rId2"/>
              </a:rPr>
              <a:t>calibre download page</a:t>
            </a:r>
            <a:r>
              <a:rPr lang="en-US" sz="1800" dirty="0"/>
              <a:t>. Then we have a link that points back to the section on </a:t>
            </a:r>
            <a:r>
              <a:rPr lang="en-US" sz="1800" u="sng" dirty="0">
                <a:solidFill>
                  <a:srgbClr val="0000FF"/>
                </a:solidFill>
              </a:rPr>
              <a:t>paragraph level formatting</a:t>
            </a:r>
            <a:r>
              <a:rPr lang="en-US" sz="1800" dirty="0"/>
              <a:t> in this document.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You can see the Table of Contents created by calibre by clicking the Table of Contents button in whatever viewer you are using to view the converted ebook.</a:t>
            </a:r>
            <a:endParaRPr lang="en-US" sz="1800" dirty="0"/>
          </a:p>
          <a:p>
            <a:pPr>
              <a:buNone/>
            </a:pPr>
            <a:r>
              <a:rPr lang="en-US" sz="1000" b="1" u="sng" dirty="0">
                <a:solidFill>
                  <a:srgbClr val="0000FF"/>
                </a:solidFill>
              </a:rPr>
              <a:t>Demonstration of DOCX support in calibre1</a:t>
            </a:r>
            <a:endParaRPr lang="en-US" sz="1000" dirty="0"/>
          </a:p>
          <a:p>
            <a:pPr>
              <a:buNone/>
            </a:pPr>
            <a:r>
              <a:rPr lang="en-US" sz="1000" b="1" u="sng" dirty="0">
                <a:solidFill>
                  <a:srgbClr val="0000FF"/>
                </a:solidFill>
              </a:rPr>
              <a:t>Text Formatting1</a:t>
            </a:r>
            <a:endParaRPr lang="en-US" sz="1000" dirty="0"/>
          </a:p>
          <a:p>
            <a:pPr>
              <a:buNone/>
            </a:pPr>
            <a:r>
              <a:rPr lang="en-US" sz="1000" i="1" u="sng" dirty="0">
                <a:solidFill>
                  <a:srgbClr val="0000FF"/>
                </a:solidFill>
              </a:rPr>
              <a:t>Inline formatting2</a:t>
            </a:r>
            <a:endParaRPr lang="en-US" sz="1000" dirty="0"/>
          </a:p>
          <a:p>
            <a:pPr>
              <a:buNone/>
            </a:pPr>
            <a:r>
              <a:rPr lang="en-US" sz="1000" i="1" u="sng" dirty="0">
                <a:solidFill>
                  <a:srgbClr val="0000FF"/>
                </a:solidFill>
              </a:rPr>
              <a:t>Fun with fonts2</a:t>
            </a:r>
            <a:endParaRPr lang="en-US" sz="1000" dirty="0"/>
          </a:p>
          <a:p>
            <a:pPr>
              <a:buNone/>
            </a:pPr>
            <a:r>
              <a:rPr lang="en-US" sz="1000" i="1" u="sng" dirty="0">
                <a:solidFill>
                  <a:srgbClr val="0000FF"/>
                </a:solidFill>
              </a:rPr>
              <a:t>Paragraph level formatting2</a:t>
            </a:r>
            <a:endParaRPr lang="en-US" sz="1000" dirty="0"/>
          </a:p>
          <a:p>
            <a:pPr>
              <a:buNone/>
            </a:pPr>
            <a:r>
              <a:rPr lang="en-US" sz="1000" b="1" u="sng" dirty="0">
                <a:solidFill>
                  <a:srgbClr val="0000FF"/>
                </a:solidFill>
              </a:rPr>
              <a:t>Tables2</a:t>
            </a:r>
            <a:endParaRPr lang="en-US" sz="1000" dirty="0"/>
          </a:p>
          <a:p>
            <a:pPr>
              <a:buNone/>
            </a:pPr>
            <a:r>
              <a:rPr lang="en-US" sz="1000" b="1" u="sng" dirty="0">
                <a:solidFill>
                  <a:srgbClr val="0000FF"/>
                </a:solidFill>
              </a:rPr>
              <a:t>Structural Elements4</a:t>
            </a:r>
            <a:endParaRPr lang="en-US" sz="1000" dirty="0"/>
          </a:p>
          <a:p>
            <a:pPr>
              <a:buNone/>
            </a:pPr>
            <a:r>
              <a:rPr lang="en-US" sz="1000" i="1" u="sng" dirty="0">
                <a:solidFill>
                  <a:srgbClr val="0000FF"/>
                </a:solidFill>
              </a:rPr>
              <a:t>Footnotes &amp; Endnotes5</a:t>
            </a:r>
            <a:endParaRPr lang="en-US" sz="1000" dirty="0"/>
          </a:p>
          <a:p>
            <a:pPr>
              <a:buNone/>
            </a:pPr>
            <a:r>
              <a:rPr lang="en-US" sz="1000" i="1" u="sng" dirty="0">
                <a:solidFill>
                  <a:srgbClr val="0000FF"/>
                </a:solidFill>
              </a:rPr>
              <a:t>Dropcaps5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u="sng" dirty="0">
                <a:solidFill>
                  <a:srgbClr val="0000FF"/>
                </a:solidFill>
              </a:rPr>
              <a:t>Links5</a:t>
            </a:r>
            <a:endParaRPr lang="en-US" sz="1000" dirty="0"/>
          </a:p>
          <a:p>
            <a:pPr>
              <a:buNone/>
            </a:pPr>
            <a:r>
              <a:rPr lang="en-US" sz="1000" i="1" u="sng" dirty="0">
                <a:solidFill>
                  <a:srgbClr val="0000FF"/>
                </a:solidFill>
              </a:rPr>
              <a:t>Table of Contents5</a:t>
            </a:r>
            <a:endParaRPr lang="en-US" sz="1000" dirty="0"/>
          </a:p>
          <a:p>
            <a:pPr>
              <a:buNone/>
            </a:pPr>
            <a:r>
              <a:rPr lang="en-US" sz="1000" b="1" u="sng" dirty="0">
                <a:solidFill>
                  <a:srgbClr val="0000FF"/>
                </a:solidFill>
              </a:rPr>
              <a:t>Images6</a:t>
            </a:r>
            <a:endParaRPr lang="en-US" sz="1000" dirty="0"/>
          </a:p>
          <a:p>
            <a:pPr>
              <a:buNone/>
            </a:pPr>
            <a:r>
              <a:rPr lang="en-US" sz="1000" b="1" u="sng" dirty="0">
                <a:solidFill>
                  <a:srgbClr val="0000FF"/>
                </a:solidFill>
              </a:rPr>
              <a:t>Lists7</a:t>
            </a:r>
            <a:endParaRPr lang="en-US" sz="1000" dirty="0"/>
          </a:p>
          <a:p>
            <a:pPr>
              <a:buNone/>
            </a:pPr>
            <a:r>
              <a:rPr lang="en-US" sz="1000" i="1" u="sng" dirty="0">
                <a:solidFill>
                  <a:srgbClr val="0000FF"/>
                </a:solidFill>
              </a:rPr>
              <a:t>Bulleted List8</a:t>
            </a:r>
            <a:endParaRPr lang="en-US" sz="1000" dirty="0"/>
          </a:p>
          <a:p>
            <a:pPr>
              <a:buNone/>
            </a:pPr>
            <a:r>
              <a:rPr lang="en-US" sz="1000" i="1" u="sng" dirty="0">
                <a:solidFill>
                  <a:srgbClr val="0000FF"/>
                </a:solidFill>
              </a:rPr>
              <a:t>Numbered List8</a:t>
            </a:r>
            <a:endParaRPr lang="en-US" sz="1000" dirty="0"/>
          </a:p>
          <a:p>
            <a:pPr>
              <a:buNone/>
            </a:pPr>
            <a:r>
              <a:rPr lang="en-US" sz="1000" i="1" u="sng" dirty="0">
                <a:solidFill>
                  <a:srgbClr val="0000FF"/>
                </a:solidFill>
              </a:rPr>
              <a:t>Multi-level Lists8</a:t>
            </a:r>
            <a:endParaRPr lang="en-US" sz="1000" dirty="0"/>
          </a:p>
          <a:p>
            <a:pPr>
              <a:buNone/>
            </a:pPr>
            <a:r>
              <a:rPr lang="en-US" sz="1000" i="1" u="sng" dirty="0">
                <a:solidFill>
                  <a:srgbClr val="0000FF"/>
                </a:solidFill>
              </a:rPr>
              <a:t>Continued Lists8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Centered images like this are useful for large pictures that should be a focus of attention.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Images</a:t>
            </a:r>
            <a:endParaRPr lang="en-US" sz="2800" dirty="0"/>
          </a:p>
        </p:txBody>
      </p:sp>
      <p:pic>
        <p:nvPicPr>
          <p:cNvPr id="3" name="Picture 3"/>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t>There is no analogous technology in ebooks, so the conversion will usually end up placing the image either centered or floating close to the point in the text where it was </a:t>
            </a:r>
            <a:r>
              <a:rPr lang="en-US" sz="1200" i="1" dirty="0">
                <a:solidFill>
                  <a:srgbClr val="808080"/>
                </a:solidFill>
              </a:rPr>
              <a:t>inserted</a:t>
            </a:r>
            <a:r>
              <a:rPr lang="en-US" sz="1200" dirty="0"/>
              <a:t>, not necessarily where it appears on the page in Word.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365F91"/>
                </a:solidFill>
              </a:rPr>
              <a:t>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800" dirty="0"/>
              <a:t>All types of lists are supported by the conversion, with the exception of lists that use fancy bullets, these get converted to regular bullets.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Bulleted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One</a:t>
            </a:r>
            <a:endParaRPr lang="en-US" sz="1800" dirty="0"/>
          </a:p>
          <a:p>
            <a:pPr marL="228600" indent="-177800">
              <a:buFont typeface="Arial"/>
              <a:buChar char="•"/>
            </a:pPr>
            <a:r>
              <a:rPr lang="en-US" sz="1800" dirty="0"/>
              <a:t>Two</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Numbered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 with a very long line to demonstrate that the hanging indent for the list is working correctly</a:t>
            </a:r>
            <a:endParaRPr lang="en-US" sz="1800" dirty="0"/>
          </a:p>
          <a:p>
            <a:pPr marL="228600" indent="-177800">
              <a:buFont typeface="+mj-lt"/>
              <a:buAutoNum type="arabicPeriod"/>
            </a:pPr>
            <a:r>
              <a:rPr lang="en-US" sz="1800" dirty="0"/>
              <a:t>Two</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457200" indent="-177800" lvl="1">
              <a:buFont typeface="+mj-lt"/>
              <a:buAutoNum type="arabicPeriod"/>
            </a:pPr>
            <a:r>
              <a:rPr lang="en-US" sz="1800" dirty="0"/>
              <a:t>Two</a:t>
            </a:r>
            <a:endParaRPr lang="en-US" sz="1800" dirty="0"/>
          </a:p>
          <a:p>
            <a:pPr marL="685800" indent="-177800" lvl="2">
              <a:buFont typeface="+mj-lt"/>
              <a:buAutoNum type="arabicPeriod"/>
            </a:pPr>
            <a:r>
              <a:rPr lang="en-US" sz="1800" dirty="0"/>
              <a:t>Three</a:t>
            </a:r>
            <a:endParaRPr lang="en-US" sz="1800" dirty="0"/>
          </a:p>
          <a:p>
            <a:pPr marL="685800" indent="-177800" lvl="2">
              <a:buFont typeface="+mj-lt"/>
              <a:buAutoNum type="arabicPeriod"/>
            </a:pPr>
            <a:r>
              <a:rPr lang="en-US" sz="1800" dirty="0"/>
              <a:t>Four with a very long line to demonstrate that the hanging indent for the list is working correctly.</a:t>
            </a:r>
            <a:endParaRPr lang="en-US" sz="1800" dirty="0"/>
          </a:p>
          <a:p>
            <a:pPr marL="685800" indent="-177800" lvl="2">
              <a:buFont typeface="+mj-lt"/>
              <a:buAutoNum type="arabicPeriod"/>
            </a:pPr>
            <a:r>
              <a:rPr lang="en-US" sz="1800" dirty="0"/>
              <a:t>Five</a:t>
            </a:r>
            <a:endParaRPr lang="en-US" sz="1800" dirty="0"/>
          </a:p>
          <a:p>
            <a:pPr marL="228600" indent="-177800">
              <a:buFont typeface="+mj-lt"/>
              <a:buAutoNum type="arabicPeriod"/>
            </a:pPr>
            <a:r>
              <a:rPr lang="en-US" sz="1800" dirty="0"/>
              <a:t>Six</a:t>
            </a:r>
            <a:endParaRPr lang="en-US" sz="1800" dirty="0"/>
          </a:p>
          <a:p>
            <a:pPr>
              <a:buNone/>
            </a:pPr>
            <a:r>
              <a:rPr lang="en-US" sz="1800" dirty="0"/>
              <a:t>A Multi-level list with bullets:</a:t>
            </a:r>
            <a:endParaRPr lang="en-US" sz="1800" dirty="0"/>
          </a:p>
          <a:p>
            <a:pPr marL="228600" indent="-177800">
              <a:buFont typeface="Arial"/>
              <a:buChar char="•"/>
            </a:pPr>
            <a:r>
              <a:rPr lang="en-US" sz="1800" dirty="0"/>
              <a:t>One</a:t>
            </a:r>
            <a:endParaRPr lang="en-US" sz="1800" dirty="0"/>
          </a:p>
          <a:p>
            <a:pPr marL="457200" indent="-177800" lvl="1">
              <a:buFont typeface="Arial"/>
              <a:buChar char="•"/>
            </a:pPr>
            <a:r>
              <a:rPr lang="en-US" sz="1800" dirty="0"/>
              <a:t>Two</a:t>
            </a:r>
            <a:endParaRPr lang="en-US" sz="1800" dirty="0"/>
          </a:p>
          <a:p>
            <a:pPr marL="685800" indent="-177800" lvl="2">
              <a:buFont typeface="Arial"/>
              <a:buChar char="•"/>
            </a:pPr>
            <a:r>
              <a:rPr lang="en-US" sz="1800" dirty="0"/>
              <a:t>This bullet uses an image as the bullet item</a:t>
            </a:r>
            <a:endParaRPr lang="en-US" sz="1800" dirty="0"/>
          </a:p>
          <a:p>
            <a:pPr marL="914400" indent="-177800" lvl="3">
              <a:buFont typeface="Arial"/>
              <a:buChar char="•"/>
            </a:pPr>
            <a:r>
              <a:rPr lang="en-US" sz="1800" dirty="0"/>
              <a:t>Four</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800" dirty="0"/>
              <a:t>Five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rPr>
              <a:t>Continued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800" dirty="0"/>
              <a:t>One</a:t>
            </a:r>
            <a:endParaRPr lang="en-US" sz="1800" dirty="0"/>
          </a:p>
          <a:p>
            <a:pPr marL="228600" indent="-177800">
              <a:buFont typeface="+mj-lt"/>
              <a:buAutoNum type="arabicPeriod"/>
            </a:pPr>
            <a:r>
              <a:rPr lang="en-US" sz="1800" dirty="0"/>
              <a:t>Two</a:t>
            </a:r>
            <a:endParaRPr lang="en-US" sz="1800" dirty="0"/>
          </a:p>
          <a:p>
            <a:pPr>
              <a:buNone/>
            </a:pPr>
            <a:r>
              <a:rPr lang="en-US" sz="1800" dirty="0"/>
              <a:t>An interruption in our regularly scheduled listing, for this essential and very relevant public service announcement.</a:t>
            </a:r>
            <a:endParaRPr lang="en-US" sz="1800" dirty="0"/>
          </a:p>
          <a:p>
            <a:pPr marL="228600" indent="-177800">
              <a:buFont typeface="+mj-lt"/>
              <a:buAutoNum type="arabicPeriod"/>
            </a:pPr>
            <a:r>
              <a:rPr lang="en-US" sz="1800" dirty="0"/>
              <a:t>We now resume our normal programming</a:t>
            </a:r>
            <a:endParaRPr lang="en-US" sz="1800" dirty="0"/>
          </a:p>
          <a:p>
            <a:pPr marL="228600" indent="-177800">
              <a:buFont typeface="+mj-lt"/>
              <a:buAutoNum type="arabicPeriod"/>
            </a:pPr>
            <a:r>
              <a:rPr lang="en-US" sz="1800" dirty="0"/>
              <a:t>Four</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57175"/>
            <a:ext cx="8229600" cy="720090"/>
          </a:xfrm>
          <a:prstGeom prst="rect">
            <a:avLst/>
          </a:prstGeom>
          <a:noFill/>
          <a:ln>
            <a:noFill/>
          </a:ln>
        </p:spPr>
        <p:txBody>
          <a:bodyPr wrap="square" anchor="t" rtlCol="0">
            <a:normAutofit/>
          </a:bodyPr>
          <a:lstStyle/>
          <a:p>
            <a:pPr>
              <a:buNone/>
            </a:pPr>
            <a:r>
              <a:rPr lang="en-US" sz="2800" b="1" dirty="0"/>
              <a:t>Notes</a:t>
            </a:r>
            <a:endParaRPr lang="en-US" sz="2800" dirty="0"/>
          </a:p>
        </p:txBody>
      </p:sp>
      <p:sp>
        <p:nvSpPr>
          <p:cNvPr id="3" name="Text 3"/>
          <p:cNvSpPr txBox="1"/>
          <p:nvPr/>
        </p:nvSpPr>
        <p:spPr>
          <a:xfrm>
            <a:off x="457200" y="1131570"/>
            <a:ext cx="8229600" cy="3703320"/>
          </a:xfrm>
          <a:prstGeom prst="rect">
            <a:avLst/>
          </a:prstGeom>
          <a:noFill/>
          <a:ln>
            <a:noFill/>
          </a:ln>
        </p:spPr>
        <p:txBody>
          <a:bodyPr wrap="square" anchor="t" rtlCol="0">
            <a:normAutofit/>
          </a:bodyPr>
          <a:lstStyle/>
          <a:p>
            <a:pPr>
              <a:buNone/>
            </a:pPr>
            <a:r>
              <a:rPr lang="en-US" sz="1400" dirty="0"/>
              <a:t>1. In paged media, footnotes are usually displayed at the bottom of the text. However, in ebooks, a better paradigm is to make them clickable endnotes that the user can browse at her pleasure. This conversion is handled automatically by calibre.</a:t>
            </a:r>
            <a:endParaRPr lang="en-US" sz="1400" dirty="0"/>
          </a:p>
          <a:p>
            <a:pPr>
              <a:buNone/>
            </a:pPr>
            <a:r>
              <a:rPr lang="en-US" sz="1400" dirty="0"/>
              <a:t>2. Endnotes are typically used for longer notes, they remain endnotes when converted into ebook form, except that they have an additional backlink to make it easy to return to the current position after reading the note.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31</Slides>
</Properties>
</file>

<file path=docProps/core.xml><?xml version="1.0" encoding="utf-8"?>
<cp:coreProperties xmlns:cp="http://schemas.openxmlformats.org/package/2006/metadata/core-properties" xmlns:dc="http://purl.org/dc/elements/1.1/" xmlns:dcterms="http://purl.org/dc/terms/" xmlns:xsi="http://www.w3.org/2001/XMLSchema-instance">
  <dc:title>DOCX Demo</dc:title>
  <dc:creator>Kovid Goyal</dc:creator>
  <dc:description>Demonstration of DOCX support in calibre</dc:description>
  <cp:keywords>calibre, docs, ebook, conversion</cp:keywords>
  <cp:lastModifiedBy>Harsh Ankur</cp:lastModifiedBy>
  <dcterms:created xsi:type="dcterms:W3CDTF">2013-06-05T07:56:00Z</dcterms:created>
  <dcterms:modified xsi:type="dcterms:W3CDTF">2024-01-01T00:00:00Z</dcterms:modified>
</cp:coreProperties>
</file>