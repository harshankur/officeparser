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theme" Target="theme/theme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lgn="ctr">
              <a:buNone/>
            </a:pPr>
            <a:r>
              <a:rPr lang="en-US" sz="2800" b="1" dirty="0">
                <a:solidFill>
                  <a:srgbClr val="17365D"/>
                </a:solidFill>
              </a:rPr>
              <a:t>Demonstration of DOCX support in calibre</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Text Formatting</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Inline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Here, we demonstrate various types of inline text formatting and the use of embedded fonts.</a:t>
            </a:r>
            <a:endParaRPr lang="en-US" sz="1800" dirty="0"/>
          </a:p>
          <a:p>
            <a:pPr>
              <a:buNone/>
            </a:pPr>
            <a:r>
              <a:rPr lang="en-US" sz="1800" dirty="0"/>
              <a:t>Here is some </a:t>
            </a:r>
            <a:r>
              <a:rPr lang="en-US" sz="1800" b="1" dirty="0"/>
              <a:t>bold, </a:t>
            </a:r>
            <a:r>
              <a:rPr lang="en-US" sz="1800" i="1" dirty="0"/>
              <a:t>italic, </a:t>
            </a:r>
            <a:r>
              <a:rPr lang="en-US" sz="1800" b="1" i="1" dirty="0"/>
              <a:t>bold-italic, </a:t>
            </a:r>
            <a:r>
              <a:rPr lang="en-US" sz="1800" u="sng" dirty="0"/>
              <a:t>underlined </a:t>
            </a:r>
            <a:r>
              <a:rPr lang="en-US" sz="1800" dirty="0"/>
              <a:t>and </a:t>
            </a:r>
            <a:r>
              <a:rPr lang="en-US" sz="1800" strike="sngStrike"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solidFill>
                  <a:srgbClr val="FF0000"/>
                </a:solidFill>
              </a:rPr>
              <a:t>red</a:t>
            </a:r>
            <a:r>
              <a:rPr lang="en-US" sz="1800" dirty="0"/>
              <a:t>, </a:t>
            </a:r>
            <a:r>
              <a:rPr lang="en-US" sz="1800" dirty="0">
                <a:solidFill>
                  <a:srgbClr val="92D050"/>
                </a:solidFill>
              </a:rPr>
              <a:t>green</a:t>
            </a:r>
            <a:r>
              <a:rPr lang="en-US" sz="1800" dirty="0"/>
              <a:t> and </a:t>
            </a:r>
            <a:r>
              <a:rPr lang="en-US" sz="1800" dirty="0">
                <a:solidFill>
                  <a:srgbClr val="0070C0"/>
                </a:solidFill>
              </a:rPr>
              <a:t>blue</a:t>
            </a:r>
            <a:r>
              <a:rPr lang="en-US" sz="1800" dirty="0"/>
              <a:t> text. Some text with a </a:t>
            </a:r>
            <a:r>
              <a:rPr lang="en-US" sz="1800" dirty="0"/>
              <a:t>yellow highlight</a:t>
            </a:r>
            <a:r>
              <a:rPr lang="en-US" sz="1800" dirty="0"/>
              <a:t>. Some text in a box. Some text in </a:t>
            </a:r>
            <a:r>
              <a:rPr lang="en-US" sz="1800" dirty="0">
                <a:solidFill>
                  <a:srgbClr val="FFFFFF"/>
                </a:solidFill>
              </a:rPr>
              <a:t>inverse video</a:t>
            </a:r>
            <a:r>
              <a:rPr lang="en-US" sz="1800" dirty="0"/>
              <a:t>.</a:t>
            </a:r>
            <a:endParaRPr lang="en-US" sz="1800" dirty="0"/>
          </a:p>
          <a:p>
            <a:pPr>
              <a:buNone/>
            </a:pPr>
            <a:r>
              <a:rPr lang="en-US" sz="1800" dirty="0"/>
              <a:t>A paragraph with styled text: </a:t>
            </a:r>
            <a:r>
              <a:rPr lang="en-US" sz="1800" i="1" dirty="0">
                <a:solidFill>
                  <a:srgbClr val="808080"/>
                </a:solidFill>
              </a:rPr>
              <a:t>subtle emphasis </a:t>
            </a:r>
            <a:r>
              <a:rPr lang="en-US" sz="1800" dirty="0"/>
              <a:t>followed by </a:t>
            </a:r>
            <a:r>
              <a:rPr lang="en-US" sz="1800" b="1" dirty="0"/>
              <a:t>strong text </a:t>
            </a:r>
            <a:r>
              <a:rPr lang="en-US" sz="1800" dirty="0"/>
              <a:t>and </a:t>
            </a:r>
            <a:r>
              <a:rPr lang="en-US" sz="1800" b="1" i="1" dirty="0">
                <a:solidFill>
                  <a:srgbClr val="4F81BD"/>
                </a:solidFill>
              </a:rPr>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latin typeface="monospace"/>
              </a:rPr>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lgn="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lgn="ct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rPr>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dirty="0">
                <a:solidFill>
                  <a:srgbClr val="808080"/>
                </a:solidFill>
              </a:rPr>
              <a:t>Source:</a:t>
            </a:r>
            <a:r>
              <a:rPr lang="en-US" sz="1000" dirty="0"/>
              <a:t>Fictitious data, for illustration purposes only</a:t>
            </a:r>
            <a:endParaRPr lang="en-US" sz="10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44436"/>
                <a:gridCol w="5985164"/>
              </a:tblGrid>
              <a:tr h="3683000">
                <a:tc>
                  <a:txBody>
                    <a:bodyPr/>
                    <a:lstStyle/>
                    <a:p>
                      <a:pPr>
                        <a:buNone/>
                      </a:pPr>
                      <a:r>
                        <a:rPr lang="en-US" sz="1200" dirty="0"/>
                        <a:t>One</a:t>
                      </a:r>
                      <a:r>
                        <a:rPr lang="en-US" sz="1200" dirty="0"/>
                        <a:t>Three</a:t>
                      </a:r>
                      <a:r>
                        <a:rPr lang="en-US" sz="1200" dirty="0"/>
                        <a:t>Two</a:t>
                      </a:r>
                      <a:r>
                        <a:rPr lang="en-US" sz="1200" dirty="0"/>
                        <a:t>Four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5850" dirty="0"/>
              <a:t>D</a:t>
            </a:r>
            <a:endParaRPr lang="en-US" sz="585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u="sng" dirty="0">
                <a:solidFill>
                  <a:srgbClr val="0000FF"/>
                </a:solidFill>
                <a:hlinkClick r:id="rId2"/>
              </a:rPr>
              <a:t>calibre download page</a:t>
            </a:r>
            <a:r>
              <a:rPr lang="en-US" sz="1800" dirty="0"/>
              <a:t>. Then we have a link that points back to the section on </a:t>
            </a:r>
            <a:r>
              <a:rPr lang="en-US" sz="1800" u="sng" dirty="0">
                <a:solidFill>
                  <a:srgbClr val="0000FF"/>
                </a:solidFill>
              </a:rPr>
              <a:t>paragraph level formatting</a:t>
            </a:r>
            <a:r>
              <a:rPr lang="en-US" sz="1800" dirty="0"/>
              <a:t> in this document.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000" b="1" u="sng" dirty="0">
                <a:solidFill>
                  <a:srgbClr val="0000FF"/>
                </a:solidFill>
              </a:rPr>
              <a:t>Demonstration of DOCX support in calibre1</a:t>
            </a:r>
            <a:endParaRPr lang="en-US" sz="1000" dirty="0"/>
          </a:p>
          <a:p>
            <a:pPr>
              <a:buNone/>
            </a:pPr>
            <a:r>
              <a:rPr lang="en-US" sz="1000" b="1" u="sng" dirty="0">
                <a:solidFill>
                  <a:srgbClr val="0000FF"/>
                </a:solidFill>
              </a:rPr>
              <a:t>Text Formatting1</a:t>
            </a:r>
            <a:endParaRPr lang="en-US" sz="1000" dirty="0"/>
          </a:p>
          <a:p>
            <a:pPr>
              <a:buNone/>
            </a:pPr>
            <a:r>
              <a:rPr lang="en-US" sz="1000" i="1" u="sng" dirty="0">
                <a:solidFill>
                  <a:srgbClr val="0000FF"/>
                </a:solidFill>
              </a:rPr>
              <a:t>Inline formatting2</a:t>
            </a:r>
            <a:endParaRPr lang="en-US" sz="1000" dirty="0"/>
          </a:p>
          <a:p>
            <a:pPr>
              <a:buNone/>
            </a:pPr>
            <a:r>
              <a:rPr lang="en-US" sz="1000" i="1" u="sng" dirty="0">
                <a:solidFill>
                  <a:srgbClr val="0000FF"/>
                </a:solidFill>
              </a:rPr>
              <a:t>Fun with fonts2</a:t>
            </a:r>
            <a:endParaRPr lang="en-US" sz="1000" dirty="0"/>
          </a:p>
          <a:p>
            <a:pPr>
              <a:buNone/>
            </a:pPr>
            <a:r>
              <a:rPr lang="en-US" sz="1000" i="1" u="sng" dirty="0">
                <a:solidFill>
                  <a:srgbClr val="0000FF"/>
                </a:solidFill>
              </a:rPr>
              <a:t>Paragraph level formatting2</a:t>
            </a:r>
            <a:endParaRPr lang="en-US" sz="1000" dirty="0"/>
          </a:p>
          <a:p>
            <a:pPr>
              <a:buNone/>
            </a:pPr>
            <a:r>
              <a:rPr lang="en-US" sz="1000" b="1" u="sng" dirty="0">
                <a:solidFill>
                  <a:srgbClr val="0000FF"/>
                </a:solidFill>
              </a:rPr>
              <a:t>Tables2</a:t>
            </a:r>
            <a:endParaRPr lang="en-US" sz="1000" dirty="0"/>
          </a:p>
          <a:p>
            <a:pPr>
              <a:buNone/>
            </a:pPr>
            <a:r>
              <a:rPr lang="en-US" sz="1000" b="1" u="sng" dirty="0">
                <a:solidFill>
                  <a:srgbClr val="0000FF"/>
                </a:solidFill>
              </a:rPr>
              <a:t>Structural Elements4</a:t>
            </a:r>
            <a:endParaRPr lang="en-US" sz="1000" dirty="0"/>
          </a:p>
          <a:p>
            <a:pPr>
              <a:buNone/>
            </a:pPr>
            <a:r>
              <a:rPr lang="en-US" sz="1000" i="1" u="sng" dirty="0">
                <a:solidFill>
                  <a:srgbClr val="0000FF"/>
                </a:solidFill>
              </a:rPr>
              <a:t>Footnotes &amp; Endnotes5</a:t>
            </a:r>
            <a:endParaRPr lang="en-US" sz="1000" dirty="0"/>
          </a:p>
          <a:p>
            <a:pPr>
              <a:buNone/>
            </a:pPr>
            <a:r>
              <a:rPr lang="en-US" sz="1000" i="1" u="sng" dirty="0">
                <a:solidFill>
                  <a:srgbClr val="0000FF"/>
                </a:solidFill>
              </a:rPr>
              <a:t>Dropcaps5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000" i="1" u="sng" dirty="0">
                <a:solidFill>
                  <a:srgbClr val="0000FF"/>
                </a:solidFill>
              </a:rPr>
              <a:t>Links5</a:t>
            </a:r>
            <a:endParaRPr lang="en-US" sz="1000" dirty="0"/>
          </a:p>
          <a:p>
            <a:pPr>
              <a:buNone/>
            </a:pPr>
            <a:r>
              <a:rPr lang="en-US" sz="1000" i="1" u="sng" dirty="0">
                <a:solidFill>
                  <a:srgbClr val="0000FF"/>
                </a:solidFill>
              </a:rPr>
              <a:t>Table of Contents5</a:t>
            </a:r>
            <a:endParaRPr lang="en-US" sz="1000" dirty="0"/>
          </a:p>
          <a:p>
            <a:pPr>
              <a:buNone/>
            </a:pPr>
            <a:r>
              <a:rPr lang="en-US" sz="1000" b="1" u="sng" dirty="0">
                <a:solidFill>
                  <a:srgbClr val="0000FF"/>
                </a:solidFill>
              </a:rPr>
              <a:t>Images6</a:t>
            </a:r>
            <a:endParaRPr lang="en-US" sz="1000" dirty="0"/>
          </a:p>
          <a:p>
            <a:pPr>
              <a:buNone/>
            </a:pPr>
            <a:r>
              <a:rPr lang="en-US" sz="1000" b="1" u="sng" dirty="0">
                <a:solidFill>
                  <a:srgbClr val="0000FF"/>
                </a:solidFill>
              </a:rPr>
              <a:t>Lists7</a:t>
            </a:r>
            <a:endParaRPr lang="en-US" sz="1000" dirty="0"/>
          </a:p>
          <a:p>
            <a:pPr>
              <a:buNone/>
            </a:pPr>
            <a:r>
              <a:rPr lang="en-US" sz="1000" i="1" u="sng" dirty="0">
                <a:solidFill>
                  <a:srgbClr val="0000FF"/>
                </a:solidFill>
              </a:rPr>
              <a:t>Bulleted List8</a:t>
            </a:r>
            <a:endParaRPr lang="en-US" sz="1000" dirty="0"/>
          </a:p>
          <a:p>
            <a:pPr>
              <a:buNone/>
            </a:pPr>
            <a:r>
              <a:rPr lang="en-US" sz="1000" i="1" u="sng" dirty="0">
                <a:solidFill>
                  <a:srgbClr val="0000FF"/>
                </a:solidFill>
              </a:rPr>
              <a:t>Numbered List8</a:t>
            </a:r>
            <a:endParaRPr lang="en-US" sz="1000" dirty="0"/>
          </a:p>
          <a:p>
            <a:pPr>
              <a:buNone/>
            </a:pPr>
            <a:r>
              <a:rPr lang="en-US" sz="1000" i="1" u="sng" dirty="0">
                <a:solidFill>
                  <a:srgbClr val="0000FF"/>
                </a:solidFill>
              </a:rPr>
              <a:t>Multi-level Lists8</a:t>
            </a:r>
            <a:endParaRPr lang="en-US" sz="1000" dirty="0"/>
          </a:p>
          <a:p>
            <a:pPr>
              <a:buNone/>
            </a:pPr>
            <a:r>
              <a:rPr lang="en-US" sz="1000" i="1" u="sng" dirty="0">
                <a:solidFill>
                  <a:srgbClr val="0000FF"/>
                </a:solidFill>
              </a:rPr>
              <a:t>Continued Lists8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pic>
        <p:nvPicPr>
          <p:cNvPr id="3" name="Picture 3"/>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200" dirty="0"/>
              <a:t>There is no analogous technology in ebooks, so the conversion will usually end up placing the image either centered or floating close to the point in the text where it was </a:t>
            </a:r>
            <a:r>
              <a:rPr lang="en-US" sz="1200" i="1" dirty="0">
                <a:solidFill>
                  <a:srgbClr val="808080"/>
                </a:solidFill>
              </a:rPr>
              <a:t>inserted</a:t>
            </a:r>
            <a:r>
              <a:rPr lang="en-US" sz="1200" dirty="0"/>
              <a:t>, not necessarily where it appears on the page in Word.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365F91"/>
                </a:solidFill>
              </a:rPr>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 with a very long line to demonstrate that the hanging indent for the list is working correctly</a:t>
            </a:r>
            <a:endParaRPr lang="en-US" sz="1800" dirty="0"/>
          </a:p>
          <a:p>
            <a:pPr marL="228600" indent="-177800">
              <a:buFont typeface="+mj-lt"/>
              <a:buAutoNum type="arabicPeriod"/>
            </a:pPr>
            <a:r>
              <a:rPr lang="en-US" sz="1800" dirty="0"/>
              <a:t>Two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457200" indent="-177800" lvl="1">
              <a:buFont typeface="+mj-lt"/>
              <a:buAutoNum type="arabicPeriod"/>
            </a:pPr>
            <a:r>
              <a:rPr lang="en-US" sz="1800" dirty="0"/>
              <a:t>Two</a:t>
            </a:r>
            <a:endParaRPr lang="en-US" sz="1800" dirty="0"/>
          </a:p>
          <a:p>
            <a:pPr marL="685800" indent="-177800" lvl="2">
              <a:buFont typeface="+mj-lt"/>
              <a:buAutoNum type="arabicPeriod"/>
            </a:pPr>
            <a:r>
              <a:rPr lang="en-US" sz="1800" dirty="0"/>
              <a:t>Three</a:t>
            </a:r>
            <a:endParaRPr lang="en-US" sz="1800" dirty="0"/>
          </a:p>
          <a:p>
            <a:pPr marL="685800" indent="-177800" lvl="2">
              <a:buFont typeface="+mj-lt"/>
              <a:buAutoNum type="arabicPeriod"/>
            </a:pPr>
            <a:r>
              <a:rPr lang="en-US" sz="1800" dirty="0"/>
              <a:t>Four with a very long line to demonstrate that the hanging indent for the list is working correctly.</a:t>
            </a:r>
            <a:endParaRPr lang="en-US" sz="1800" dirty="0"/>
          </a:p>
          <a:p>
            <a:pPr marL="685800" indent="-177800" lvl="2">
              <a:buFont typeface="+mj-lt"/>
              <a:buAutoNum type="arabicPeriod"/>
            </a:pPr>
            <a:r>
              <a:rPr lang="en-US" sz="1800" dirty="0"/>
              <a:t>Five</a:t>
            </a:r>
            <a:endParaRPr lang="en-US" sz="1800" dirty="0"/>
          </a:p>
          <a:p>
            <a:pPr marL="228600" indent="-177800">
              <a:buFont typeface="+mj-lt"/>
              <a:buAutoNum type="arabicPeriod"/>
            </a:pP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457200" indent="-177800" lvl="1">
              <a:buFont typeface="Arial"/>
              <a:buChar char="•"/>
            </a:pPr>
            <a:r>
              <a:rPr lang="en-US" sz="1800" dirty="0"/>
              <a:t>Two</a:t>
            </a:r>
            <a:endParaRPr lang="en-US" sz="1800" dirty="0"/>
          </a:p>
          <a:p>
            <a:pPr marL="685800" indent="-177800" lvl="2">
              <a:buFont typeface="Arial"/>
              <a:buChar char="•"/>
            </a:pPr>
            <a:r>
              <a:rPr lang="en-US" sz="1800" dirty="0"/>
              <a:t>This bullet uses an image as the bullet item</a:t>
            </a:r>
            <a:endParaRPr lang="en-US" sz="1800" dirty="0"/>
          </a:p>
          <a:p>
            <a:pPr marL="914400" indent="-177800" lvl="3">
              <a:buFont typeface="Arial"/>
              <a:buChar char="•"/>
            </a:pPr>
            <a:r>
              <a:rPr lang="en-US" sz="1800" dirty="0"/>
              <a:t>Four</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solidFill>
                  <a:srgbClr val="4F81BD"/>
                </a:solidFill>
              </a:rPr>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mj-lt"/>
              <a:buAutoNum type="arabicPeriod"/>
            </a:pPr>
            <a:r>
              <a:rPr lang="en-US" sz="1800" dirty="0"/>
              <a:t>One</a:t>
            </a:r>
            <a:endParaRPr lang="en-US" sz="1800" dirty="0"/>
          </a:p>
          <a:p>
            <a:pPr marL="228600" indent="-177800">
              <a:buFont typeface="+mj-lt"/>
              <a:buAutoNum type="arabicPeriod"/>
            </a:pP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Font typeface="+mj-lt"/>
              <a:buAutoNum type="arabicPeriod"/>
            </a:pPr>
            <a:r>
              <a:rPr lang="en-US" sz="1800" dirty="0"/>
              <a:t>We now resume our normal programming</a:t>
            </a:r>
            <a:endParaRPr lang="en-US" sz="1800" dirty="0"/>
          </a:p>
          <a:p>
            <a:pPr marL="228600" indent="-177800">
              <a:buFont typeface="+mj-lt"/>
              <a:buAutoNum type="arabicPeriod"/>
            </a:pPr>
            <a:r>
              <a:rPr lang="en-US" sz="1800" dirty="0"/>
              <a:t>Four</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57175"/>
            <a:ext cx="8229600" cy="720090"/>
          </a:xfrm>
          <a:prstGeom prst="rect">
            <a:avLst/>
          </a:prstGeom>
          <a:noFill/>
          <a:ln>
            <a:noFill/>
          </a:ln>
        </p:spPr>
        <p:txBody>
          <a:bodyPr wrap="square" anchor="t" rtlCol="0">
            <a:normAutofit/>
          </a:bodyPr>
          <a:lstStyle/>
          <a:p>
            <a:pPr>
              <a:buNone/>
            </a:pPr>
            <a:r>
              <a:rPr lang="en-US" sz="2800" b="1" dirty="0"/>
              <a:t>Notes</a:t>
            </a:r>
            <a:endParaRPr lang="en-US" sz="2800" dirty="0"/>
          </a:p>
        </p:txBody>
      </p:sp>
      <p:sp>
        <p:nvSpPr>
          <p:cNvPr id="3" name="Text 3"/>
          <p:cNvSpPr txBox="1"/>
          <p:nvPr/>
        </p:nvSpPr>
        <p:spPr>
          <a:xfrm>
            <a:off x="457200" y="1131570"/>
            <a:ext cx="8229600" cy="3703320"/>
          </a:xfrm>
          <a:prstGeom prst="rect">
            <a:avLst/>
          </a:prstGeom>
          <a:noFill/>
          <a:ln>
            <a:noFill/>
          </a:ln>
        </p:spPr>
        <p:txBody>
          <a:bodyPr wrap="square" anchor="t" rtlCol="0">
            <a:normAutofit/>
          </a:bodyPr>
          <a:lstStyle/>
          <a:p>
            <a:pPr>
              <a:buNone/>
            </a:pPr>
            <a:r>
              <a:rPr lang="en-US" sz="1400" dirty="0"/>
              <a:t>1. In paged media, footnotes are usually displayed at the bottom of the text. However, in ebooks, a better paradigm is to make them clickable endnotes that the user can browse at her pleasure. This conversion is handled automatically by calibre.</a:t>
            </a:r>
            <a:endParaRPr lang="en-US" sz="1400" dirty="0"/>
          </a:p>
          <a:p>
            <a:pPr>
              <a:buNone/>
            </a:pPr>
            <a:r>
              <a:rPr lang="en-US" sz="1400" dirty="0"/>
              <a:t>2. Endnotes are typically used for longer notes, they remain endnotes when converted into ebook form, except that they have an additional backlink to make it easy to return to the current position after reading the note.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31</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description>Demonstration of DOCX support in calibre</dc:description>
  <cp:keywords>calibre, docs, ebook, conversion</cp:keywords>
  <cp:lastModifiedBy>Harsh Ankur</cp:lastModifiedBy>
  <dcterms:created xsi:type="dcterms:W3CDTF">2013-06-05T07:56:00Z</dcterms:created>
  <dcterms:modified xsi:type="dcterms:W3CDTF">2024-01-01T00:00:00Z</dcterms:modified>
</cp:coreProperties>
</file>