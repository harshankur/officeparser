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17365D"/>
                </a:solidFill>
              </a:rPr>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 box. Some text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 </a:t>
            </a:r>
            <a:r>
              <a:rPr lang="en-US" sz="1800" dirty="0"/>
              <a:t>followed by </a:t>
            </a:r>
            <a:r>
              <a:rPr lang="en-US" sz="1800" b="1" dirty="0"/>
              <a:t>strong text </a:t>
            </a:r>
            <a:r>
              <a:rPr lang="en-US" sz="1800" dirty="0"/>
              <a:t>and </a:t>
            </a:r>
            <a:r>
              <a:rPr lang="en-US" sz="1800" b="1" i="1" dirty="0">
                <a:solidFill>
                  <a:srgbClr val="4F81BD"/>
                </a:solidFill>
              </a:rPr>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monospace"/>
              </a:rPr>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
Three	Two</a:t>
                      </a:r>
                      <a:endParaRPr lang="en-US" sz="1200" dirty="0"/>
                    </a:p>
                    <a:p>
                      <a:pPr>
                        <a:buNone/>
                      </a:pP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solidFill>
                  <a:srgbClr val="0000FF"/>
                </a:solidFill>
                <a:hlinkClick r:id="rId2"/>
              </a:rPr>
              <a:t>calibre download page</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000" b="1" u="sng" dirty="0">
                <a:solidFill>
                  <a:srgbClr val="0000FF"/>
                </a:solidFill>
              </a:rPr>
              <a:t>Demonstration of DOCX support in calibre1</a:t>
            </a:r>
            <a:endParaRPr lang="en-US" sz="1000" dirty="0"/>
          </a:p>
          <a:p>
            <a:pPr>
              <a:buNone/>
            </a:pPr>
            <a:r>
              <a:rPr lang="en-US" sz="1000" b="1" u="sng" dirty="0">
                <a:solidFill>
                  <a:srgbClr val="0000FF"/>
                </a:solidFill>
              </a:rPr>
              <a:t>Text Formatting1</a:t>
            </a:r>
            <a:endParaRPr lang="en-US" sz="1000" dirty="0"/>
          </a:p>
          <a:p>
            <a:pPr>
              <a:buNone/>
            </a:pPr>
            <a:r>
              <a:rPr lang="en-US" sz="1000" i="1" u="sng" dirty="0">
                <a:solidFill>
                  <a:srgbClr val="0000FF"/>
                </a:solidFill>
              </a:rPr>
              <a:t>Inline formatting2</a:t>
            </a:r>
            <a:endParaRPr lang="en-US" sz="1000" dirty="0"/>
          </a:p>
          <a:p>
            <a:pPr>
              <a:buNone/>
            </a:pPr>
            <a:r>
              <a:rPr lang="en-US" sz="1000" i="1" u="sng" dirty="0">
                <a:solidFill>
                  <a:srgbClr val="0000FF"/>
                </a:solidFill>
              </a:rPr>
              <a:t>Fun with fonts2</a:t>
            </a:r>
            <a:endParaRPr lang="en-US" sz="1000" dirty="0"/>
          </a:p>
          <a:p>
            <a:pPr>
              <a:buNone/>
            </a:pPr>
            <a:r>
              <a:rPr lang="en-US" sz="1000" i="1" u="sng" dirty="0">
                <a:solidFill>
                  <a:srgbClr val="0000FF"/>
                </a:solidFill>
              </a:rPr>
              <a:t>Paragraph level formatting2</a:t>
            </a:r>
            <a:endParaRPr lang="en-US" sz="1000" dirty="0"/>
          </a:p>
          <a:p>
            <a:pPr>
              <a:buNone/>
            </a:pPr>
            <a:r>
              <a:rPr lang="en-US" sz="1000" b="1" u="sng" dirty="0">
                <a:solidFill>
                  <a:srgbClr val="0000FF"/>
                </a:solidFill>
              </a:rPr>
              <a:t>Tables2</a:t>
            </a:r>
            <a:endParaRPr lang="en-US" sz="1000" dirty="0"/>
          </a:p>
          <a:p>
            <a:pPr>
              <a:buNone/>
            </a:pPr>
            <a:r>
              <a:rPr lang="en-US" sz="1000" b="1" u="sng" dirty="0">
                <a:solidFill>
                  <a:srgbClr val="0000FF"/>
                </a:solidFill>
              </a:rPr>
              <a:t>Structural Elements4</a:t>
            </a:r>
            <a:endParaRPr lang="en-US" sz="1000" dirty="0"/>
          </a:p>
          <a:p>
            <a:pPr>
              <a:buNone/>
            </a:pPr>
            <a:r>
              <a:rPr lang="en-US" sz="1000" i="1" u="sng" dirty="0">
                <a:solidFill>
                  <a:srgbClr val="0000FF"/>
                </a:solidFill>
              </a:rPr>
              <a:t>Footnotes &amp; Endnotes5</a:t>
            </a:r>
            <a:endParaRPr lang="en-US" sz="1000" dirty="0"/>
          </a:p>
          <a:p>
            <a:pPr>
              <a:buNone/>
            </a:pPr>
            <a:r>
              <a:rPr lang="en-US" sz="1000" i="1" u="sng" dirty="0">
                <a:solidFill>
                  <a:srgbClr val="0000FF"/>
                </a:solidFill>
              </a:rPr>
              <a:t>Dropcaps5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Links5</a:t>
            </a:r>
            <a:endParaRPr lang="en-US" sz="1000" dirty="0"/>
          </a:p>
          <a:p>
            <a:pPr>
              <a:buNone/>
            </a:pPr>
            <a:r>
              <a:rPr lang="en-US" sz="1000" i="1" u="sng" dirty="0">
                <a:solidFill>
                  <a:srgbClr val="0000FF"/>
                </a:solidFill>
              </a:rPr>
              <a:t>Table of Contents5</a:t>
            </a:r>
            <a:endParaRPr lang="en-US" sz="1000" dirty="0"/>
          </a:p>
          <a:p>
            <a:pPr>
              <a:buNone/>
            </a:pPr>
            <a:r>
              <a:rPr lang="en-US" sz="1000" b="1" u="sng" dirty="0">
                <a:solidFill>
                  <a:srgbClr val="0000FF"/>
                </a:solidFill>
              </a:rPr>
              <a:t>Images6</a:t>
            </a:r>
            <a:endParaRPr lang="en-US" sz="1000" dirty="0"/>
          </a:p>
          <a:p>
            <a:pPr>
              <a:buNone/>
            </a:pPr>
            <a:r>
              <a:rPr lang="en-US" sz="1000" b="1" u="sng" dirty="0">
                <a:solidFill>
                  <a:srgbClr val="0000FF"/>
                </a:solidFill>
              </a:rPr>
              <a:t>Lists7</a:t>
            </a:r>
            <a:endParaRPr lang="en-US" sz="1000" dirty="0"/>
          </a:p>
          <a:p>
            <a:pPr>
              <a:buNone/>
            </a:pPr>
            <a:r>
              <a:rPr lang="en-US" sz="1000" i="1" u="sng" dirty="0">
                <a:solidFill>
                  <a:srgbClr val="0000FF"/>
                </a:solidFill>
              </a:rPr>
              <a:t>Bulleted List8</a:t>
            </a:r>
            <a:endParaRPr lang="en-US" sz="1000" dirty="0"/>
          </a:p>
          <a:p>
            <a:pPr>
              <a:buNone/>
            </a:pPr>
            <a:r>
              <a:rPr lang="en-US" sz="1000" i="1" u="sng" dirty="0">
                <a:solidFill>
                  <a:srgbClr val="0000FF"/>
                </a:solidFill>
              </a:rPr>
              <a:t>Numbered List8</a:t>
            </a:r>
            <a:endParaRPr lang="en-US" sz="1000" dirty="0"/>
          </a:p>
          <a:p>
            <a:pPr>
              <a:buNone/>
            </a:pPr>
            <a:r>
              <a:rPr lang="en-US" sz="1000" i="1" u="sng" dirty="0">
                <a:solidFill>
                  <a:srgbClr val="0000FF"/>
                </a:solidFill>
              </a:rPr>
              <a:t>Multi-level Lists8</a:t>
            </a:r>
            <a:endParaRPr lang="en-US" sz="1000" dirty="0"/>
          </a:p>
          <a:p>
            <a:pPr>
              <a:buNone/>
            </a:pPr>
            <a:r>
              <a:rPr lang="en-US" sz="1000" i="1" u="sng" dirty="0">
                <a:solidFill>
                  <a:srgbClr val="0000FF"/>
                </a:solidFill>
              </a:rPr>
              <a:t>Continued Lists8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t>There is no analogous technology in ebooks, so the conversion will usually end up placing the image either centered or floating close to the point in the text where it was </a:t>
            </a:r>
            <a:r>
              <a:rPr lang="en-US" sz="1200" i="1" dirty="0">
                <a:solidFill>
                  <a:srgbClr val="808080"/>
                </a:solidFill>
              </a:rPr>
              <a:t>inserted</a:t>
            </a:r>
            <a:r>
              <a:rPr lang="en-US" sz="1200" dirty="0"/>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457200" indent="-177800" lvl="1">
              <a:buNone/>
            </a:pPr>
            <a:r>
              <a:rPr lang="en-US" sz="1800" dirty="0"/>
              <a:t>1.	</a:t>
            </a:r>
            <a:r>
              <a:rPr lang="en-US" sz="1800" dirty="0"/>
              <a:t>Two</a:t>
            </a:r>
            <a:endParaRPr lang="en-US" sz="1800" dirty="0"/>
          </a:p>
          <a:p>
            <a:pPr marL="685800" indent="-177800" lvl="2">
              <a:buNone/>
            </a:pPr>
            <a:r>
              <a:rPr lang="en-US" sz="1800" dirty="0"/>
              <a:t>1.	</a:t>
            </a:r>
            <a:r>
              <a:rPr lang="en-US" sz="1800" dirty="0"/>
              <a:t>Three</a:t>
            </a:r>
            <a:endParaRPr lang="en-US" sz="1800" dirty="0"/>
          </a:p>
          <a:p>
            <a:pPr marL="685800" indent="-177800" lvl="2">
              <a:buNone/>
            </a:pPr>
            <a:r>
              <a:rPr lang="en-US" sz="1800" dirty="0"/>
              <a:t>2.	</a:t>
            </a:r>
            <a:r>
              <a:rPr lang="en-US" sz="1800" dirty="0"/>
              <a:t>Four with a very long line to demonstrate that the hanging indent for the list is working correctly.</a:t>
            </a:r>
            <a:endParaRPr lang="en-US" sz="1800" dirty="0"/>
          </a:p>
          <a:p>
            <a:pPr marL="685800" indent="-177800" lvl="2">
              <a:buNone/>
            </a:pPr>
            <a:r>
              <a:rPr lang="en-US" sz="1800" dirty="0"/>
              <a:t>3.	</a:t>
            </a:r>
            <a:r>
              <a:rPr lang="en-US" sz="1800" dirty="0"/>
              <a:t>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228600" indent="-177800">
              <a:buNone/>
            </a:pPr>
            <a:r>
              <a:rPr lang="en-US" sz="1800" dirty="0"/>
              <a:t>2.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3.	</a:t>
            </a:r>
            <a:r>
              <a:rPr lang="en-US" sz="1800" dirty="0"/>
              <a:t>We now resume our normal programming</a:t>
            </a:r>
            <a:endParaRPr lang="en-US" sz="1800" dirty="0"/>
          </a:p>
          <a:p>
            <a:pPr marL="228600" indent="-177800">
              <a:buNone/>
            </a:pPr>
            <a:r>
              <a:rPr lang="en-US" sz="1800" dirty="0"/>
              <a:t>4.	</a:t>
            </a: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lpwstr>42</vt:lpwstr>
  </property>
  <property fmtid="{D5CDD505-2E9C-101B-9397-08002B2CF9AE}" pid="4" name="TestBool">
    <vt:lpwstr>true</vt:lpwstr>
  </property>
</Properties>
</file>