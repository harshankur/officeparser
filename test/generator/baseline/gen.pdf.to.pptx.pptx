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7772400" cy="100584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calibre-ebook.com/download" TargetMode="External"/><Relationship Id="rId3" Type="http://schemas.openxmlformats.org/officeDocument/2006/relationships/hyperlink" Target="http://calibre-ebook.com/download" TargetMode="Externa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914781" y="924560"/>
            <a:ext cx="5343906" cy="7482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2600" dirty="0">
                <a:solidFill>
                  <a:srgbClr val="17365D"/>
                </a:solidFill>
                <a:latin typeface="Ubuntu"/>
              </a:rPr>
              <a:t>Demonstration of DOCX support in</a:t>
            </a:r>
            <a:br>
              <a:rPr lang="en-US" dirty="0"/>
            </a:br>
            <a:r>
              <a:rPr lang="en-US" sz="2600" dirty="0">
                <a:solidFill>
                  <a:srgbClr val="17365D"/>
                </a:solidFill>
                <a:latin typeface="Ubuntu"/>
              </a:rPr>
              <a:t>calibre</a:t>
            </a:r>
            <a:endParaRPr lang="en-US" sz="2600" dirty="0"/>
          </a:p>
        </p:txBody>
      </p:sp>
      <p:sp>
        <p:nvSpPr>
          <p:cNvPr id="3" name="Text 3"/>
          <p:cNvSpPr txBox="1"/>
          <p:nvPr/>
        </p:nvSpPr>
        <p:spPr>
          <a:xfrm>
            <a:off x="914781" y="1931924"/>
            <a:ext cx="5477002" cy="7744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304">
              <a:buNone/>
            </a:pPr>
            <a:r>
              <a:rPr lang="en-US" sz="1200" dirty="0">
                <a:latin typeface="Ubuntu"/>
              </a:rPr>
              <a:t>This document demonstrates the ability of the calibre DOCX Input plugin to</a:t>
            </a:r>
            <a:br>
              <a:rPr lang="en-US" dirty="0"/>
            </a:br>
            <a:r>
              <a:rPr lang="en-US" sz="1200" dirty="0">
                <a:latin typeface="Ubuntu"/>
              </a:rPr>
              <a:t>convert the various typographic features in a Microsoft Word (2007 and newer)</a:t>
            </a:r>
            <a:br>
              <a:rPr lang="en-US" dirty="0"/>
            </a:br>
            <a:r>
              <a:rPr lang="en-US" sz="1200" dirty="0">
                <a:latin typeface="Ubuntu"/>
              </a:rPr>
              <a:t>document. Convert this document to a modern ebook format, such as AZW3 for</a:t>
            </a:r>
            <a:br>
              <a:rPr lang="en-US" dirty="0"/>
            </a:br>
            <a:r>
              <a:rPr lang="en-US" sz="1200" dirty="0">
                <a:latin typeface="Ubuntu"/>
              </a:rPr>
              <a:t>Kindles or EPUB for other ebook readers, to see it in action.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914781" y="2738755"/>
            <a:ext cx="5891276" cy="37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304">
              <a:buNone/>
            </a:pPr>
            <a:r>
              <a:rPr lang="en-US" sz="1200" dirty="0">
                <a:latin typeface="Ubuntu"/>
              </a:rPr>
              <a:t>There is support for images, tables, lists, footnotes, endnotes, links, dropcaps and</a:t>
            </a:r>
            <a:br>
              <a:rPr lang="en-US" dirty="0"/>
            </a:br>
            <a:r>
              <a:rPr lang="en-US" sz="1200" dirty="0">
                <a:latin typeface="Ubuntu"/>
              </a:rPr>
              <a:t>various types of text and paragraph level formatting.</a:t>
            </a:r>
            <a:endParaRPr lang="en-US" sz="1200" dirty="0"/>
          </a:p>
        </p:txBody>
      </p:sp>
      <p:sp>
        <p:nvSpPr>
          <p:cNvPr id="5" name="Text 5"/>
          <p:cNvSpPr txBox="1"/>
          <p:nvPr/>
        </p:nvSpPr>
        <p:spPr>
          <a:xfrm>
            <a:off x="914781" y="3141980"/>
            <a:ext cx="5874385" cy="5711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304">
              <a:buNone/>
            </a:pPr>
            <a:r>
              <a:rPr lang="en-US" sz="1200" dirty="0">
                <a:latin typeface="Ubuntu"/>
              </a:rPr>
              <a:t>To see the DOCX conversion in action, simply add this file to calibre using the</a:t>
            </a:r>
            <a:br>
              <a:rPr lang="en-US" dirty="0"/>
            </a:br>
            <a:r>
              <a:rPr lang="en-US" sz="1200" b="1" dirty="0">
                <a:latin typeface="Ubuntu"/>
              </a:rPr>
              <a:t>“Add Books” </a:t>
            </a:r>
            <a:r>
              <a:rPr lang="en-US" sz="1200" dirty="0">
                <a:latin typeface="Ubuntu"/>
              </a:rPr>
              <a:t>button and then click “</a:t>
            </a:r>
            <a:r>
              <a:rPr lang="en-US" sz="1200" b="1" dirty="0">
                <a:latin typeface="Ubuntu"/>
              </a:rPr>
              <a:t>Convert”. </a:t>
            </a:r>
            <a:r>
              <a:rPr lang="en-US" sz="1200" dirty="0">
                <a:latin typeface="Ubuntu"/>
              </a:rPr>
              <a:t>Set the output format in the top right</a:t>
            </a:r>
            <a:br>
              <a:rPr lang="en-US" dirty="0"/>
            </a:br>
            <a:r>
              <a:rPr lang="en-US" sz="1200" dirty="0">
                <a:latin typeface="Ubuntu"/>
              </a:rPr>
              <a:t>corner of the conversion dialog to EPUB or AZW3 and click </a:t>
            </a:r>
            <a:r>
              <a:rPr lang="en-US" sz="1200" b="1" dirty="0">
                <a:latin typeface="Ubuntu"/>
              </a:rPr>
              <a:t>“OK”</a:t>
            </a:r>
            <a:r>
              <a:rPr lang="en-US" sz="1200" dirty="0">
                <a:latin typeface="Ubuntu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192145" y="1225296"/>
            <a:ext cx="1387729" cy="1992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365F91"/>
                </a:solidFill>
                <a:latin typeface="Ubuntu"/>
              </a:rPr>
              <a:t>Text Formatting</a:t>
            </a:r>
            <a:endParaRPr lang="en-US" sz="1400" dirty="0"/>
          </a:p>
        </p:txBody>
      </p:sp>
      <p:sp>
        <p:nvSpPr>
          <p:cNvPr id="3" name="Text 3"/>
          <p:cNvSpPr txBox="1"/>
          <p:nvPr/>
        </p:nvSpPr>
        <p:spPr>
          <a:xfrm>
            <a:off x="914781" y="1586611"/>
            <a:ext cx="1348105" cy="185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4F81BD"/>
                </a:solidFill>
                <a:latin typeface="Ubuntu"/>
              </a:rPr>
              <a:t>Inline formatting</a:t>
            </a:r>
            <a:endParaRPr lang="en-US" sz="1300" dirty="0"/>
          </a:p>
        </p:txBody>
      </p:sp>
      <p:sp>
        <p:nvSpPr>
          <p:cNvPr id="4" name="Text 4"/>
          <p:cNvSpPr txBox="1"/>
          <p:nvPr/>
        </p:nvSpPr>
        <p:spPr>
          <a:xfrm>
            <a:off x="914781" y="1804924"/>
            <a:ext cx="5492750" cy="37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304">
              <a:buNone/>
            </a:pPr>
            <a:r>
              <a:rPr lang="en-US" sz="1200" dirty="0">
                <a:latin typeface="Ubuntu"/>
              </a:rPr>
              <a:t>Here, we demonstrate various types of inline text formatting and the use of</a:t>
            </a:r>
            <a:br>
              <a:rPr lang="en-US" dirty="0"/>
            </a:br>
            <a:r>
              <a:rPr lang="en-US" sz="1200" dirty="0">
                <a:latin typeface="Ubuntu"/>
              </a:rPr>
              <a:t>embedded fonts.</a:t>
            </a:r>
            <a:endParaRPr lang="en-US" sz="1200" dirty="0"/>
          </a:p>
        </p:txBody>
      </p:sp>
      <p:sp>
        <p:nvSpPr>
          <p:cNvPr id="5" name="Text 5"/>
          <p:cNvSpPr txBox="1"/>
          <p:nvPr/>
        </p:nvSpPr>
        <p:spPr>
          <a:xfrm>
            <a:off x="914781" y="2208149"/>
            <a:ext cx="5869305" cy="5775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304">
              <a:buNone/>
            </a:pPr>
            <a:r>
              <a:rPr lang="en-US" sz="1200" dirty="0">
                <a:latin typeface="Ubuntu"/>
              </a:rPr>
              <a:t>Here is some </a:t>
            </a:r>
            <a:r>
              <a:rPr lang="en-US" sz="1200" b="1" dirty="0">
                <a:latin typeface="Ubuntu"/>
              </a:rPr>
              <a:t>bold, </a:t>
            </a:r>
            <a:r>
              <a:rPr lang="en-US" sz="1200" i="1" dirty="0">
                <a:latin typeface="Ubuntu"/>
              </a:rPr>
              <a:t>italic, </a:t>
            </a:r>
            <a:r>
              <a:rPr lang="en-US" sz="1200" b="1" i="1" dirty="0">
                <a:latin typeface="Ubuntu"/>
              </a:rPr>
              <a:t>bold-italic, </a:t>
            </a:r>
            <a:r>
              <a:rPr lang="en-US" sz="1200" dirty="0">
                <a:latin typeface="Ubuntu"/>
              </a:rPr>
              <a:t>underlined and struck out text. Then, we</a:t>
            </a:r>
            <a:br>
              <a:rPr lang="en-US" dirty="0"/>
            </a:br>
            <a:r>
              <a:rPr lang="en-US" sz="1200" dirty="0">
                <a:latin typeface="Ubuntu"/>
              </a:rPr>
              <a:t>have a super</a:t>
            </a:r>
            <a:r>
              <a:rPr lang="en-US" sz="800" baseline="30000" dirty="0">
                <a:latin typeface="Ubuntu"/>
              </a:rPr>
              <a:t>script </a:t>
            </a:r>
            <a:r>
              <a:rPr lang="en-US" sz="1200" dirty="0">
                <a:latin typeface="Ubuntu"/>
              </a:rPr>
              <a:t>and a sub</a:t>
            </a:r>
            <a:r>
              <a:rPr lang="en-US" sz="800" baseline="-25000" dirty="0">
                <a:latin typeface="Ubuntu"/>
              </a:rPr>
              <a:t>script</a:t>
            </a:r>
            <a:r>
              <a:rPr lang="en-US" sz="1200" dirty="0">
                <a:latin typeface="Ubuntu"/>
              </a:rPr>
              <a:t>. Now we see some red, green and blue text. Some text</a:t>
            </a:r>
            <a:br>
              <a:rPr lang="en-US" dirty="0"/>
            </a:br>
            <a:r>
              <a:rPr lang="en-US" sz="1200" dirty="0">
                <a:latin typeface="Ubuntu"/>
              </a:rPr>
              <a:t>with a yellow highlight. Some text in a box. Some text in inverse video.</a:t>
            </a:r>
            <a:endParaRPr lang="en-US" sz="1200" dirty="0"/>
          </a:p>
        </p:txBody>
      </p:sp>
      <p:sp>
        <p:nvSpPr>
          <p:cNvPr id="6" name="Text 6"/>
          <p:cNvSpPr txBox="1"/>
          <p:nvPr/>
        </p:nvSpPr>
        <p:spPr>
          <a:xfrm>
            <a:off x="914781" y="2824480"/>
            <a:ext cx="5935091" cy="777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304">
              <a:buNone/>
            </a:pPr>
            <a:r>
              <a:rPr lang="en-US" sz="1200" dirty="0">
                <a:latin typeface="Ubuntu"/>
              </a:rPr>
              <a:t>A paragraph with styled text:</a:t>
            </a:r>
            <a:r>
              <a:rPr lang="en-US" sz="1200" dirty="0">
                <a:solidFill>
                  <a:srgbClr val="808080"/>
                </a:solidFill>
                <a:latin typeface="Ubuntu"/>
              </a:rPr>
              <a:t> </a:t>
            </a:r>
            <a:r>
              <a:rPr lang="en-US" sz="1200" i="1" dirty="0">
                <a:latin typeface="Ubuntu"/>
              </a:rPr>
              <a:t>subtle emphasis </a:t>
            </a:r>
            <a:r>
              <a:rPr lang="en-US" sz="1200" dirty="0">
                <a:latin typeface="Ubuntu"/>
              </a:rPr>
              <a:t>followed by </a:t>
            </a:r>
            <a:r>
              <a:rPr lang="en-US" sz="1200" b="1" dirty="0">
                <a:latin typeface="Ubuntu"/>
              </a:rPr>
              <a:t>strong text </a:t>
            </a:r>
            <a:r>
              <a:rPr lang="en-US" sz="1200" dirty="0">
                <a:latin typeface="Ubuntu"/>
              </a:rPr>
              <a:t>and</a:t>
            </a:r>
            <a:br>
              <a:rPr lang="en-US" dirty="0"/>
            </a:br>
            <a:r>
              <a:rPr lang="en-US" sz="1200" b="1" i="1" dirty="0">
                <a:latin typeface="Ubuntu"/>
              </a:rPr>
              <a:t>intense emphasis</a:t>
            </a:r>
            <a:r>
              <a:rPr lang="en-US" sz="1200" dirty="0">
                <a:latin typeface="Ubuntu"/>
              </a:rPr>
              <a:t>. This paragraph uses document wide styles for styling rather than</a:t>
            </a:r>
            <a:br>
              <a:rPr lang="en-US" dirty="0"/>
            </a:br>
            <a:r>
              <a:rPr lang="en-US" sz="1200" dirty="0">
                <a:latin typeface="Ubuntu"/>
              </a:rPr>
              <a:t>inline text properties as demonstrated in the previous paragraph — calibre can handle</a:t>
            </a:r>
            <a:br>
              <a:rPr lang="en-US" dirty="0"/>
            </a:br>
            <a:r>
              <a:rPr lang="en-US" sz="1200" dirty="0">
                <a:latin typeface="Ubuntu"/>
              </a:rPr>
              <a:t>both with equal ease.</a:t>
            </a:r>
            <a:endParaRPr lang="en-US" sz="1200" dirty="0"/>
          </a:p>
        </p:txBody>
      </p:sp>
      <p:sp>
        <p:nvSpPr>
          <p:cNvPr id="7" name="Text 7"/>
          <p:cNvSpPr txBox="1"/>
          <p:nvPr/>
        </p:nvSpPr>
        <p:spPr>
          <a:xfrm>
            <a:off x="914781" y="3758946"/>
            <a:ext cx="1139571" cy="185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4F81BD"/>
                </a:solidFill>
                <a:latin typeface="Ubuntu"/>
              </a:rPr>
              <a:t>Fun with fonts</a:t>
            </a:r>
            <a:endParaRPr lang="en-US" sz="1300" dirty="0"/>
          </a:p>
        </p:txBody>
      </p:sp>
      <p:sp>
        <p:nvSpPr>
          <p:cNvPr id="8" name="Text 8"/>
          <p:cNvSpPr txBox="1"/>
          <p:nvPr/>
        </p:nvSpPr>
        <p:spPr>
          <a:xfrm>
            <a:off x="914781" y="3977259"/>
            <a:ext cx="5919978" cy="7743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304">
              <a:buNone/>
            </a:pPr>
            <a:r>
              <a:rPr lang="en-US" sz="1200" dirty="0">
                <a:latin typeface="Ubuntu"/>
              </a:rPr>
              <a:t>This document has embedded the Ubuntu font family. The body text is in the</a:t>
            </a:r>
            <a:br>
              <a:rPr lang="en-US" dirty="0"/>
            </a:br>
            <a:r>
              <a:rPr lang="en-US" sz="1200" dirty="0">
                <a:latin typeface="Ubuntu"/>
              </a:rPr>
              <a:t>Ubuntu typeface, here is </a:t>
            </a:r>
            <a:r>
              <a:rPr lang="en-US" sz="1200" dirty="0">
                <a:latin typeface="Ubuntu Mono"/>
              </a:rPr>
              <a:t>some text in the Ubuntu Mono typeface, notice how every</a:t>
            </a:r>
            <a:br>
              <a:rPr lang="en-US" dirty="0"/>
            </a:br>
            <a:r>
              <a:rPr lang="en-US" sz="1200" dirty="0">
                <a:latin typeface="Ubuntu Mono"/>
              </a:rPr>
              <a:t>letter has the same width, even i and m</a:t>
            </a:r>
            <a:r>
              <a:rPr lang="en-US" sz="1200" dirty="0">
                <a:latin typeface="Ubuntu"/>
              </a:rPr>
              <a:t>. Every embedded font will automatically</a:t>
            </a:r>
            <a:br>
              <a:rPr lang="en-US" dirty="0"/>
            </a:br>
            <a:r>
              <a:rPr lang="en-US" sz="1200" dirty="0">
                <a:latin typeface="Ubuntu"/>
              </a:rPr>
              <a:t>be embedded in the output ebook during conversion.</a:t>
            </a:r>
            <a:endParaRPr lang="en-US" sz="1200" dirty="0"/>
          </a:p>
        </p:txBody>
      </p:sp>
      <p:sp>
        <p:nvSpPr>
          <p:cNvPr id="9" name="Text 9"/>
          <p:cNvSpPr txBox="1"/>
          <p:nvPr/>
        </p:nvSpPr>
        <p:spPr>
          <a:xfrm>
            <a:off x="914781" y="4911725"/>
            <a:ext cx="2144268" cy="185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4F81BD"/>
                </a:solidFill>
                <a:latin typeface="Ubuntu"/>
              </a:rPr>
              <a:t>Paragraph level formatting</a:t>
            </a:r>
            <a:endParaRPr lang="en-US" sz="1300" dirty="0"/>
          </a:p>
        </p:txBody>
      </p:sp>
      <p:sp>
        <p:nvSpPr>
          <p:cNvPr id="10" name="Text 10"/>
          <p:cNvSpPr txBox="1"/>
          <p:nvPr/>
        </p:nvSpPr>
        <p:spPr>
          <a:xfrm>
            <a:off x="1181735" y="5126863"/>
            <a:ext cx="5674233" cy="374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127000">
              <a:buNone/>
            </a:pPr>
            <a:r>
              <a:rPr lang="en-US" sz="1200" dirty="0">
                <a:latin typeface="Ubuntu"/>
              </a:rPr>
              <a:t>You can do crazy things with paragraphs, if the urge strikes you. For instance this</a:t>
            </a:r>
            <a:br>
              <a:rPr lang="en-US" dirty="0"/>
            </a:br>
            <a:r>
              <a:rPr lang="en-US" sz="1200" dirty="0">
                <a:latin typeface="Ubuntu"/>
              </a:rPr>
              <a:t>paragraph is right aligned and has a right border. It has also been given a light gray</a:t>
            </a:r>
            <a:endParaRPr lang="en-US" sz="1200" dirty="0"/>
          </a:p>
        </p:txBody>
      </p:sp>
      <p:sp>
        <p:nvSpPr>
          <p:cNvPr id="11" name="Text 11"/>
          <p:cNvSpPr txBox="1"/>
          <p:nvPr/>
        </p:nvSpPr>
        <p:spPr>
          <a:xfrm>
            <a:off x="6003290" y="5530469"/>
            <a:ext cx="858901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200" dirty="0">
                <a:latin typeface="Ubuntu"/>
              </a:rPr>
              <a:t>background.</a:t>
            </a:r>
            <a:endParaRPr lang="en-US" sz="1200" dirty="0"/>
          </a:p>
        </p:txBody>
      </p:sp>
      <p:sp>
        <p:nvSpPr>
          <p:cNvPr id="12" name="Text 12"/>
          <p:cNvSpPr txBox="1"/>
          <p:nvPr/>
        </p:nvSpPr>
        <p:spPr>
          <a:xfrm>
            <a:off x="914781" y="6114669"/>
            <a:ext cx="5917946" cy="9743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457454" indent="-457454">
              <a:buNone/>
            </a:pPr>
            <a:r>
              <a:rPr lang="en-US" sz="1200" dirty="0">
                <a:latin typeface="Ubuntu"/>
              </a:rPr>
              <a:t>For the lovers of poetry amongst you, paragraphs with hanging indents, like this often</a:t>
            </a:r>
            <a:br>
              <a:rPr lang="en-US" dirty="0"/>
            </a:br>
            <a:r>
              <a:rPr lang="en-US" sz="1200" dirty="0">
                <a:latin typeface="Ubuntu"/>
              </a:rPr>
              <a:t>come in handy. You can use hanging indents to ensure that a line of poetry</a:t>
            </a:r>
            <a:br>
              <a:rPr lang="en-US" dirty="0"/>
            </a:br>
            <a:r>
              <a:rPr lang="en-US" sz="1200" dirty="0">
                <a:latin typeface="Ubuntu"/>
              </a:rPr>
              <a:t>retains its individual identity as a line even when the screen is too narrow to</a:t>
            </a:r>
            <a:br>
              <a:rPr lang="en-US" dirty="0"/>
            </a:br>
            <a:r>
              <a:rPr lang="en-US" sz="1200" dirty="0">
                <a:latin typeface="Ubuntu"/>
              </a:rPr>
              <a:t>display it as a single line. Not only does this paragraph have a hanging indent, it</a:t>
            </a:r>
            <a:br>
              <a:rPr lang="en-US" dirty="0"/>
            </a:br>
            <a:r>
              <a:rPr lang="en-US" sz="1200" dirty="0">
                <a:latin typeface="Ubuntu"/>
              </a:rPr>
              <a:t>is also has an extra top margin, setting it apart from the preceding paragraph.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605276" y="1225296"/>
            <a:ext cx="561848" cy="1992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365F91"/>
                </a:solidFill>
                <a:latin typeface="Ubuntu"/>
              </a:rPr>
              <a:t>Tables</a:t>
            </a:r>
            <a:endParaRPr lang="en-US" sz="1400" dirty="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188085" y="1473835"/>
          <a:ext cx="1722247" cy="959866"/>
        </p:xfrm>
        <a:graphic>
          <a:graphicData uri="http://schemas.openxmlformats.org/drawingml/2006/table">
            <a:tbl>
              <a:tblPr firstRow="1"/>
              <a:tblGrid>
                <a:gridCol w="960563"/>
                <a:gridCol w="761684"/>
              </a:tblGrid>
              <a:tr h="159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Ubuntu"/>
                        </a:rPr>
                        <a:t>ITEM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Ubuntu"/>
                        </a:rPr>
                        <a:t>NEEDED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9BBB59"/>
                    </a:solidFill>
                  </a:tcPr>
                </a:tc>
              </a:tr>
              <a:tr h="159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Books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1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159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Pens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3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159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Pencils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2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159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Highlighter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2 colors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159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Scissors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1 pair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 4"/>
          <p:cNvSpPr txBox="1"/>
          <p:nvPr/>
        </p:nvSpPr>
        <p:spPr>
          <a:xfrm>
            <a:off x="3154045" y="1458849"/>
            <a:ext cx="3577844" cy="11776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431">
              <a:buNone/>
            </a:pPr>
            <a:r>
              <a:rPr lang="en-US" sz="1200" dirty="0">
                <a:latin typeface="Ubuntu"/>
              </a:rPr>
              <a:t>Tables in Word can vary from the extremely</a:t>
            </a:r>
            <a:br>
              <a:rPr lang="en-US" dirty="0"/>
            </a:br>
            <a:r>
              <a:rPr lang="en-US" sz="1200" dirty="0">
                <a:latin typeface="Ubuntu"/>
              </a:rPr>
              <a:t>simple to the extremely complex. calibre tries to do</a:t>
            </a:r>
            <a:br>
              <a:rPr lang="en-US" dirty="0"/>
            </a:br>
            <a:r>
              <a:rPr lang="en-US" sz="1200" dirty="0">
                <a:latin typeface="Ubuntu"/>
              </a:rPr>
              <a:t>its best when converting tables. While you may run</a:t>
            </a:r>
            <a:br>
              <a:rPr lang="en-US" dirty="0"/>
            </a:br>
            <a:r>
              <a:rPr lang="en-US" sz="1200" dirty="0">
                <a:latin typeface="Ubuntu"/>
              </a:rPr>
              <a:t>into trouble with the occasional table, the vast</a:t>
            </a:r>
            <a:br>
              <a:rPr lang="en-US" dirty="0"/>
            </a:br>
            <a:r>
              <a:rPr lang="en-US" sz="1200" dirty="0">
                <a:latin typeface="Ubuntu"/>
              </a:rPr>
              <a:t>majority of common cases should be converted very</a:t>
            </a:r>
            <a:br>
              <a:rPr lang="en-US" dirty="0"/>
            </a:br>
            <a:r>
              <a:rPr lang="en-US" sz="1200" dirty="0">
                <a:latin typeface="Ubuntu"/>
              </a:rPr>
              <a:t>well, as demonstrated in this section. Note that for</a:t>
            </a:r>
            <a:endParaRPr lang="en-US" sz="1200" dirty="0"/>
          </a:p>
        </p:txBody>
      </p:sp>
      <p:sp>
        <p:nvSpPr>
          <p:cNvPr id="5" name="Text 5"/>
          <p:cNvSpPr txBox="1"/>
          <p:nvPr/>
        </p:nvSpPr>
        <p:spPr>
          <a:xfrm>
            <a:off x="914781" y="2668905"/>
            <a:ext cx="5924804" cy="5708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200" dirty="0">
                <a:latin typeface="Ubuntu"/>
              </a:rPr>
              <a:t>optimum results, when creating tables in Word, you should set their widths using</a:t>
            </a:r>
            <a:br>
              <a:rPr lang="en-US" dirty="0"/>
            </a:br>
            <a:r>
              <a:rPr lang="en-US" sz="1200" dirty="0">
                <a:latin typeface="Ubuntu"/>
              </a:rPr>
              <a:t>percentages, rather than absolute units. To the left of this paragraph is a floating two</a:t>
            </a:r>
            <a:br>
              <a:rPr lang="en-US" dirty="0"/>
            </a:br>
            <a:r>
              <a:rPr lang="en-US" sz="1200" dirty="0">
                <a:latin typeface="Ubuntu"/>
              </a:rPr>
              <a:t>column table with a nice green border and header row.</a:t>
            </a:r>
            <a:endParaRPr lang="en-US" sz="1200" dirty="0"/>
          </a:p>
        </p:txBody>
      </p:sp>
      <p:sp>
        <p:nvSpPr>
          <p:cNvPr id="6" name="Text 6"/>
          <p:cNvSpPr txBox="1"/>
          <p:nvPr/>
        </p:nvSpPr>
        <p:spPr>
          <a:xfrm>
            <a:off x="914781" y="3272028"/>
            <a:ext cx="5542788" cy="371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304">
              <a:buNone/>
            </a:pPr>
            <a:r>
              <a:rPr lang="en-US" sz="1200" dirty="0">
                <a:latin typeface="Ubuntu"/>
              </a:rPr>
              <a:t>Now let’s look at a fancier table—one with alternating row colors and partial</a:t>
            </a:r>
            <a:br>
              <a:rPr lang="en-US" dirty="0"/>
            </a:br>
            <a:r>
              <a:rPr lang="en-US" sz="1200" dirty="0">
                <a:latin typeface="Ubuntu"/>
              </a:rPr>
              <a:t>borders. This table is stretched out to take 100% of the available width.</a:t>
            </a:r>
            <a:endParaRPr lang="en-US" sz="1200" dirty="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914781" y="3674745"/>
          <a:ext cx="5898261" cy="1160145"/>
        </p:xfrm>
        <a:graphic>
          <a:graphicData uri="http://schemas.openxmlformats.org/drawingml/2006/table">
            <a:tbl>
              <a:tblPr firstRow="1"/>
              <a:tblGrid>
                <a:gridCol w="1357769"/>
                <a:gridCol w="913854"/>
                <a:gridCol w="908349"/>
                <a:gridCol w="902093"/>
                <a:gridCol w="927617"/>
                <a:gridCol w="888580"/>
              </a:tblGrid>
              <a:tr h="335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Ubuntu"/>
                        </a:rPr>
                        <a:t>City or </a:t>
                      </a:r>
                      <a:r>
                        <a:rPr lang="en-US" sz="1100" b="1" dirty="0">
                          <a:latin typeface="Ubuntu"/>
                        </a:rPr>
                        <a:t>Town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Ubuntu"/>
                        </a:rPr>
                        <a:t>Point A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Ubuntu"/>
                        </a:rPr>
                        <a:t>Point B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Ubuntu"/>
                        </a:rPr>
                        <a:t>Point C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Ubuntu"/>
                        </a:rPr>
                        <a:t>Point D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Ubuntu"/>
                        </a:rPr>
                        <a:t>Point E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164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Ubuntu"/>
                        </a:rPr>
                        <a:t>Point A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—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164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Ubuntu"/>
                        </a:rPr>
                        <a:t>Point B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87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—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164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Ubuntu"/>
                        </a:rPr>
                        <a:t>Point C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64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56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—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164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Ubuntu"/>
                        </a:rPr>
                        <a:t>Point D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37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32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91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—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164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Ubuntu"/>
                        </a:rPr>
                        <a:t>Point E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93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35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54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43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—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3DFEE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914781" y="5190363"/>
            <a:ext cx="5783580" cy="371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304">
              <a:buNone/>
            </a:pPr>
            <a:r>
              <a:rPr lang="en-US" sz="1200" dirty="0">
                <a:latin typeface="Ubuntu"/>
              </a:rPr>
              <a:t>Next, we see a table with special formatting in various locations. Notice how the</a:t>
            </a:r>
            <a:br>
              <a:rPr lang="en-US" dirty="0"/>
            </a:br>
            <a:r>
              <a:rPr lang="en-US" sz="1200" dirty="0">
                <a:latin typeface="Ubuntu"/>
              </a:rPr>
              <a:t>formatting for the header row and sub header rows is preserved.</a:t>
            </a:r>
            <a:endParaRPr lang="en-US" sz="1200" dirty="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188085" y="5774055"/>
          <a:ext cx="5058664" cy="2008251"/>
        </p:xfrm>
        <a:graphic>
          <a:graphicData uri="http://schemas.openxmlformats.org/drawingml/2006/table">
            <a:tbl>
              <a:tblPr firstRow="1"/>
              <a:tblGrid>
                <a:gridCol w="1511529"/>
                <a:gridCol w="1346156"/>
                <a:gridCol w="1480441"/>
                <a:gridCol w="720538"/>
              </a:tblGrid>
              <a:tr h="451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Ubuntu"/>
                        </a:rPr>
                        <a:t>College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Ubuntu"/>
                        </a:rPr>
                        <a:t>New students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Ubuntu"/>
                        </a:rPr>
                        <a:t>Graduating 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Ubuntu"/>
                        </a:rPr>
                        <a:t>students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Ubuntu"/>
                        </a:rPr>
                        <a:t>Change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4BACC6"/>
                    </a:solidFill>
                  </a:tcPr>
                </a:tc>
              </a:tr>
              <a:tr h="2218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i="1" dirty="0">
                          <a:solidFill>
                            <a:srgbClr val="808080"/>
                          </a:solidFill>
                          <a:latin typeface="Ubuntu"/>
                        </a:rPr>
                        <a:t>Undergraduate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226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Cedar University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110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103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+7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22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Oak Institute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202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210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-8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2218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i="1" dirty="0">
                          <a:solidFill>
                            <a:srgbClr val="808080"/>
                          </a:solidFill>
                          <a:latin typeface="Ubuntu"/>
                        </a:rPr>
                        <a:t>Graduate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22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Cedar University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24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20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+4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22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Elm College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43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53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-10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22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Total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998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908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Ubuntu"/>
                        </a:rPr>
                        <a:t>90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 10"/>
          <p:cNvSpPr txBox="1"/>
          <p:nvPr/>
        </p:nvSpPr>
        <p:spPr>
          <a:xfrm>
            <a:off x="914781" y="7939151"/>
            <a:ext cx="2982214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i="1" dirty="0">
                <a:latin typeface="Ubuntu"/>
              </a:rPr>
              <a:t>Source: </a:t>
            </a:r>
            <a:r>
              <a:rPr lang="en-US" sz="1000" dirty="0">
                <a:latin typeface="Ubuntu"/>
              </a:rPr>
              <a:t>Fictitious data, for illustration purposes only</a:t>
            </a:r>
            <a:endParaRPr lang="en-US" sz="1000" dirty="0"/>
          </a:p>
        </p:txBody>
      </p:sp>
      <p:sp>
        <p:nvSpPr>
          <p:cNvPr id="11" name="Text 11"/>
          <p:cNvSpPr txBox="1"/>
          <p:nvPr/>
        </p:nvSpPr>
        <p:spPr>
          <a:xfrm>
            <a:off x="914781" y="8239379"/>
            <a:ext cx="5792978" cy="5742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304">
              <a:buNone/>
            </a:pPr>
            <a:r>
              <a:rPr lang="en-US" sz="1200" dirty="0">
                <a:latin typeface="Ubuntu"/>
              </a:rPr>
              <a:t>Next, we have something a little more complex, a nested table, i.e. a table inside</a:t>
            </a:r>
            <a:br>
              <a:rPr lang="en-US" dirty="0"/>
            </a:br>
            <a:r>
              <a:rPr lang="en-US" sz="1200" dirty="0">
                <a:latin typeface="Ubuntu"/>
              </a:rPr>
              <a:t>another table. Additionally, the inner table has some of its cells merged. The table is</a:t>
            </a:r>
            <a:br>
              <a:rPr lang="en-US" dirty="0"/>
            </a:br>
            <a:r>
              <a:rPr lang="en-US" sz="1200" dirty="0">
                <a:latin typeface="Ubuntu"/>
              </a:rPr>
              <a:t>displayed horizontally centered.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106041" y="1079881"/>
          <a:ext cx="3710432" cy="480695"/>
        </p:xfrm>
        <a:graphic>
          <a:graphicData uri="http://schemas.openxmlformats.org/drawingml/2006/table">
            <a:tbl>
              <a:tblPr firstRow="1"/>
              <a:tblGrid>
                <a:gridCol w="1456828"/>
                <a:gridCol w="2253604"/>
              </a:tblGrid>
              <a:tr h="480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Ubuntu"/>
                        </a:rPr>
                        <a:t>One</a:t>
                      </a:r>
                      <a:r>
                        <a:rPr lang="en-US" sz="1100" b="1" dirty="0">
                          <a:latin typeface="Ubuntu"/>
                        </a:rPr>
                        <a:t>Three</a:t>
                      </a:r>
                      <a:r>
                        <a:rPr lang="en-US" sz="1100" b="1" dirty="0">
                          <a:latin typeface="Ubuntu"/>
                        </a:rPr>
                        <a:t>Two</a:t>
                      </a:r>
                      <a:r>
                        <a:rPr lang="en-US" sz="1100" b="1" dirty="0">
                          <a:latin typeface="Ubuntu"/>
                        </a:rPr>
                        <a:t>Four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Ubuntu"/>
                        </a:rPr>
                        <a:t>To the left is a table inside a </a:t>
                      </a:r>
                      <a:r>
                        <a:rPr lang="en-US" sz="1100" b="1" dirty="0">
                          <a:latin typeface="Ubuntu"/>
                        </a:rPr>
                        <a:t>table, with some cells </a:t>
                      </a:r>
                      <a:r>
                        <a:rPr lang="en-US" sz="1100" b="1" dirty="0">
                          <a:latin typeface="Ubuntu"/>
                        </a:rPr>
                        <a:t>merged.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Text 3"/>
          <p:cNvSpPr txBox="1"/>
          <p:nvPr/>
        </p:nvSpPr>
        <p:spPr>
          <a:xfrm>
            <a:off x="914781" y="2122424"/>
            <a:ext cx="5913247" cy="7744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304">
              <a:buNone/>
            </a:pPr>
            <a:r>
              <a:rPr lang="en-US" sz="1200" dirty="0">
                <a:latin typeface="Ubuntu"/>
              </a:rPr>
              <a:t>We end with a fancy calendar, note how much of the original formatting is</a:t>
            </a:r>
            <a:br>
              <a:rPr lang="en-US" dirty="0"/>
            </a:br>
            <a:r>
              <a:rPr lang="en-US" sz="1200" dirty="0">
                <a:latin typeface="Ubuntu"/>
              </a:rPr>
              <a:t>preserved. Note that this table will only display correctly on relatively wide screens. In</a:t>
            </a:r>
            <a:br>
              <a:rPr lang="en-US" dirty="0"/>
            </a:br>
            <a:r>
              <a:rPr lang="en-US" sz="1200" dirty="0">
                <a:latin typeface="Ubuntu"/>
              </a:rPr>
              <a:t>general, very wide tables or tables whose cells have fixed width requirements don’t</a:t>
            </a:r>
            <a:br>
              <a:rPr lang="en-US" dirty="0"/>
            </a:br>
            <a:r>
              <a:rPr lang="en-US" sz="1200" dirty="0">
                <a:latin typeface="Ubuntu"/>
              </a:rPr>
              <a:t>fare well in ebooks.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4189730" y="2931541"/>
            <a:ext cx="2007235" cy="3131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2200" dirty="0">
                <a:solidFill>
                  <a:srgbClr val="365F91"/>
                </a:solidFill>
                <a:latin typeface="Ubuntu"/>
              </a:rPr>
              <a:t>December 2007</a:t>
            </a:r>
            <a:endParaRPr lang="en-US" sz="22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867535" y="3490595"/>
          <a:ext cx="4379214" cy="3307080"/>
        </p:xfrm>
        <a:graphic>
          <a:graphicData uri="http://schemas.openxmlformats.org/drawingml/2006/table">
            <a:tbl>
              <a:tblPr firstRow="1"/>
              <a:tblGrid>
                <a:gridCol w="514172"/>
                <a:gridCol w="929593"/>
                <a:gridCol w="523339"/>
                <a:gridCol w="683341"/>
                <a:gridCol w="523339"/>
                <a:gridCol w="542089"/>
                <a:gridCol w="663341"/>
              </a:tblGrid>
              <a:tr h="549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Su</a:t>
                      </a: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n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Mon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Tu</a:t>
                      </a: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e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We</a:t>
                      </a: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d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Th</a:t>
                      </a: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u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Fri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Sat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27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1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27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2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3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4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5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6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7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8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54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9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10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1</a:t>
                      </a: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1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1</a:t>
                      </a: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2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1</a:t>
                      </a: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3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1</a:t>
                      </a: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4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1</a:t>
                      </a: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5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54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1</a:t>
                      </a: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6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17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1</a:t>
                      </a: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8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1</a:t>
                      </a: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9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0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1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2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49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3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24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5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6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7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8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2</a:t>
                      </a: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9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54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3</a:t>
                      </a:r>
                      <a:r>
                        <a:rPr lang="en-US" sz="1100" dirty="0">
                          <a:solidFill>
                            <a:srgbClr val="365F91"/>
                          </a:solidFill>
                          <a:latin typeface="Ubuntu"/>
                        </a:rPr>
                        <a:t>0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Ubuntu"/>
                        </a:rPr>
                        <a:t>31</a:t>
                      </a:r>
                      <a:endParaRPr lang="en-US" sz="1100" dirty="0"/>
                    </a:p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38100" marR="38100" marT="0" marB="0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036570" y="1225296"/>
            <a:ext cx="1703451" cy="1992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365F91"/>
                </a:solidFill>
                <a:latin typeface="Ubuntu"/>
              </a:rPr>
              <a:t>Structural Elements</a:t>
            </a:r>
            <a:endParaRPr lang="en-US" sz="1400" dirty="0"/>
          </a:p>
        </p:txBody>
      </p:sp>
      <p:sp>
        <p:nvSpPr>
          <p:cNvPr id="3" name="Text 3"/>
          <p:cNvSpPr txBox="1"/>
          <p:nvPr/>
        </p:nvSpPr>
        <p:spPr>
          <a:xfrm>
            <a:off x="914781" y="1458849"/>
            <a:ext cx="5842762" cy="37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304">
              <a:buNone/>
            </a:pPr>
            <a:r>
              <a:rPr lang="en-US" sz="1200" dirty="0">
                <a:latin typeface="Ubuntu"/>
              </a:rPr>
              <a:t>Miscellaneous structural elements you can add to your document, like footnotes,</a:t>
            </a:r>
            <a:br>
              <a:rPr lang="en-US" dirty="0"/>
            </a:br>
            <a:r>
              <a:rPr lang="en-US" sz="1200" dirty="0">
                <a:latin typeface="Ubuntu"/>
              </a:rPr>
              <a:t>endnotes, dropcaps and the like.</a:t>
            </a:r>
            <a:endParaRPr lang="en-US" sz="1200" dirty="0"/>
          </a:p>
        </p:txBody>
      </p:sp>
      <p:sp>
        <p:nvSpPr>
          <p:cNvPr id="4" name="Text 4"/>
          <p:cNvSpPr txBox="1"/>
          <p:nvPr/>
        </p:nvSpPr>
        <p:spPr>
          <a:xfrm>
            <a:off x="914781" y="1989836"/>
            <a:ext cx="1754886" cy="185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4F81BD"/>
                </a:solidFill>
                <a:latin typeface="Ubuntu"/>
              </a:rPr>
              <a:t>Footnotes &amp; Endnotes</a:t>
            </a:r>
            <a:endParaRPr lang="en-US" sz="1300" dirty="0"/>
          </a:p>
        </p:txBody>
      </p:sp>
      <p:sp>
        <p:nvSpPr>
          <p:cNvPr id="5" name="Text 5"/>
          <p:cNvSpPr txBox="1"/>
          <p:nvPr/>
        </p:nvSpPr>
        <p:spPr>
          <a:xfrm>
            <a:off x="914781" y="2204593"/>
            <a:ext cx="5920232" cy="374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304">
              <a:buNone/>
            </a:pPr>
            <a:r>
              <a:rPr lang="en-US" sz="1200" dirty="0">
                <a:latin typeface="Ubuntu"/>
              </a:rPr>
              <a:t>Footnotes</a:t>
            </a:r>
            <a:r>
              <a:rPr lang="en-US" sz="800" baseline="30000" dirty="0">
                <a:latin typeface="Ubuntu"/>
              </a:rPr>
              <a:t>1 </a:t>
            </a:r>
            <a:r>
              <a:rPr lang="en-US" sz="1200" dirty="0">
                <a:latin typeface="Ubuntu"/>
              </a:rPr>
              <a:t>and endnotes</a:t>
            </a:r>
            <a:r>
              <a:rPr lang="en-US" sz="800" baseline="30000" dirty="0">
                <a:latin typeface="Ubuntu"/>
              </a:rPr>
              <a:t>i </a:t>
            </a:r>
            <a:r>
              <a:rPr lang="en-US" sz="1200" dirty="0">
                <a:latin typeface="Ubuntu"/>
              </a:rPr>
              <a:t>are automatically recognized and both are converted to</a:t>
            </a:r>
            <a:br>
              <a:rPr lang="en-US" dirty="0"/>
            </a:br>
            <a:r>
              <a:rPr lang="en-US" sz="1200" dirty="0">
                <a:latin typeface="Ubuntu"/>
              </a:rPr>
              <a:t>endnotes, with backlinks for maximum ease of use in ebook devices.</a:t>
            </a:r>
            <a:r>
              <a:rPr lang="en-US" baseline="30000" dirty="0"/>
              <a:t>1</a:t>
            </a:r>
            <a:endParaRPr lang="en-US" sz="1200" dirty="0"/>
          </a:p>
        </p:txBody>
      </p:sp>
      <p:sp>
        <p:nvSpPr>
          <p:cNvPr id="6" name="Text 6"/>
          <p:cNvSpPr txBox="1"/>
          <p:nvPr/>
        </p:nvSpPr>
        <p:spPr>
          <a:xfrm>
            <a:off x="914781" y="2736342"/>
            <a:ext cx="743331" cy="185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4F81BD"/>
                </a:solidFill>
                <a:latin typeface="Ubuntu"/>
              </a:rPr>
              <a:t>Dropcaps</a:t>
            </a:r>
            <a:endParaRPr lang="en-US" sz="1300" dirty="0"/>
          </a:p>
        </p:txBody>
      </p:sp>
      <p:sp>
        <p:nvSpPr>
          <p:cNvPr id="7" name="Text 7"/>
          <p:cNvSpPr txBox="1"/>
          <p:nvPr/>
        </p:nvSpPr>
        <p:spPr>
          <a:xfrm>
            <a:off x="1188085" y="2804160"/>
            <a:ext cx="529971" cy="8332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5850" dirty="0">
                <a:latin typeface="Ubuntu"/>
              </a:rPr>
              <a:t>D</a:t>
            </a:r>
            <a:endParaRPr lang="en-US" sz="5850" dirty="0"/>
          </a:p>
        </p:txBody>
      </p:sp>
      <p:sp>
        <p:nvSpPr>
          <p:cNvPr id="8" name="Text 8"/>
          <p:cNvSpPr txBox="1"/>
          <p:nvPr/>
        </p:nvSpPr>
        <p:spPr>
          <a:xfrm>
            <a:off x="1718310" y="2954655"/>
            <a:ext cx="5073650" cy="5742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200" dirty="0">
                <a:latin typeface="Ubuntu"/>
              </a:rPr>
              <a:t>rop caps are used to emphasize the leading paragraph at the start of a</a:t>
            </a:r>
            <a:br>
              <a:rPr lang="en-US" dirty="0"/>
            </a:br>
            <a:r>
              <a:rPr lang="en-US" sz="1200" dirty="0">
                <a:latin typeface="Ubuntu"/>
              </a:rPr>
              <a:t>section. In Word it is possible to specify how many lines of text a drop-cap</a:t>
            </a:r>
            <a:br>
              <a:rPr lang="en-US" dirty="0"/>
            </a:br>
            <a:r>
              <a:rPr lang="en-US" sz="1200" dirty="0">
                <a:latin typeface="Ubuntu"/>
              </a:rPr>
              <a:t>should use.</a:t>
            </a:r>
            <a:endParaRPr lang="en-US" sz="1200" dirty="0"/>
          </a:p>
        </p:txBody>
      </p:sp>
      <p:sp>
        <p:nvSpPr>
          <p:cNvPr id="9" name="Text 9"/>
          <p:cNvSpPr txBox="1"/>
          <p:nvPr/>
        </p:nvSpPr>
        <p:spPr>
          <a:xfrm>
            <a:off x="914781" y="3685921"/>
            <a:ext cx="413766" cy="185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4F81BD"/>
                </a:solidFill>
                <a:latin typeface="Ubuntu"/>
              </a:rPr>
              <a:t>Links</a:t>
            </a:r>
            <a:endParaRPr lang="en-US" sz="1300" dirty="0"/>
          </a:p>
        </p:txBody>
      </p:sp>
      <p:sp>
        <p:nvSpPr>
          <p:cNvPr id="10" name="Text 10"/>
          <p:cNvSpPr txBox="1"/>
          <p:nvPr/>
        </p:nvSpPr>
        <p:spPr>
          <a:xfrm>
            <a:off x="914781" y="3904234"/>
            <a:ext cx="5929630" cy="7743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304">
              <a:buNone/>
            </a:pPr>
            <a:r>
              <a:rPr lang="en-US" sz="1200" dirty="0">
                <a:latin typeface="Ubuntu"/>
              </a:rPr>
              <a:t>Two kinds of links are possible, those that refer to an external website and those</a:t>
            </a:r>
            <a:br>
              <a:rPr lang="en-US" dirty="0"/>
            </a:br>
            <a:r>
              <a:rPr lang="en-US" sz="1200" dirty="0">
                <a:latin typeface="Ubuntu"/>
              </a:rPr>
              <a:t>that refer to locations inside the document itself. Both are supported by calibre. For</a:t>
            </a:r>
            <a:br>
              <a:rPr lang="en-US" dirty="0"/>
            </a:br>
            <a:r>
              <a:rPr lang="en-US" sz="1200" dirty="0">
                <a:latin typeface="Ubuntu"/>
              </a:rPr>
              <a:t>example, here is a link pointing to the</a:t>
            </a:r>
            <a:r>
              <a:rPr lang="en-US" sz="1200" dirty="0">
                <a:solidFill>
                  <a:srgbClr val="0000FF"/>
                </a:solidFill>
                <a:latin typeface="Ubuntu"/>
                <a:hlinkClick r:id="rId2"/>
              </a:rPr>
              <a:t> </a:t>
            </a:r>
            <a:r>
              <a:rPr lang="en-US" sz="1200" dirty="0">
                <a:latin typeface="Ubuntu"/>
                <a:hlinkClick r:id="rId3"/>
              </a:rPr>
              <a:t>calibre download page</a:t>
            </a:r>
            <a:r>
              <a:rPr lang="en-US" sz="1200" dirty="0">
                <a:latin typeface="Ubuntu"/>
              </a:rPr>
              <a:t>. Then we have a link that</a:t>
            </a:r>
            <a:br>
              <a:rPr lang="en-US" dirty="0"/>
            </a:br>
            <a:r>
              <a:rPr lang="en-US" sz="1200" dirty="0">
                <a:latin typeface="Ubuntu"/>
              </a:rPr>
              <a:t>points back to the section on</a:t>
            </a:r>
            <a:r>
              <a:rPr lang="en-US" sz="1200" dirty="0">
                <a:solidFill>
                  <a:srgbClr val="0000FF"/>
                </a:solidFill>
                <a:latin typeface="Ubuntu"/>
              </a:rPr>
              <a:t> </a:t>
            </a:r>
            <a:r>
              <a:rPr lang="en-US" sz="1200" dirty="0">
                <a:latin typeface="Ubuntu"/>
              </a:rPr>
              <a:t>paragraph level formatting </a:t>
            </a:r>
            <a:r>
              <a:rPr lang="en-US" sz="1200" dirty="0">
                <a:latin typeface="Ubuntu"/>
              </a:rPr>
              <a:t>in this document.</a:t>
            </a:r>
            <a:endParaRPr lang="en-US" sz="1200" dirty="0"/>
          </a:p>
        </p:txBody>
      </p:sp>
      <p:sp>
        <p:nvSpPr>
          <p:cNvPr id="11" name="Text 11"/>
          <p:cNvSpPr txBox="1"/>
          <p:nvPr/>
        </p:nvSpPr>
        <p:spPr>
          <a:xfrm>
            <a:off x="914781" y="4838700"/>
            <a:ext cx="1415796" cy="185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4F81BD"/>
                </a:solidFill>
                <a:latin typeface="Ubuntu"/>
              </a:rPr>
              <a:t>Table of Contents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914781" y="5057013"/>
            <a:ext cx="5545963" cy="37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308229">
              <a:buNone/>
            </a:pPr>
            <a:r>
              <a:rPr lang="en-US" sz="1200" dirty="0">
                <a:latin typeface="Ubuntu"/>
              </a:rPr>
              <a:t>You can see the Table of Contents created by calibre by clicking the Table of</a:t>
            </a:r>
            <a:br>
              <a:rPr lang="en-US" dirty="0"/>
            </a:br>
            <a:r>
              <a:rPr lang="en-US" sz="1200" dirty="0">
                <a:latin typeface="Ubuntu"/>
              </a:rPr>
              <a:t>Contents button in whatever viewer you are using to view the converted ebook.</a:t>
            </a:r>
            <a:endParaRPr lang="en-US" sz="1200" dirty="0"/>
          </a:p>
        </p:txBody>
      </p:sp>
      <p:sp>
        <p:nvSpPr>
          <p:cNvPr id="13" name="Text 13"/>
          <p:cNvSpPr txBox="1"/>
          <p:nvPr/>
        </p:nvSpPr>
        <p:spPr>
          <a:xfrm>
            <a:off x="1188085" y="5608066"/>
            <a:ext cx="5662295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b="1" dirty="0">
                <a:latin typeface="Ubuntu"/>
              </a:rPr>
              <a:t>Demonstration of DOCX support in calibre 1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1188085" y="5928741"/>
            <a:ext cx="5662295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b="1" dirty="0">
                <a:latin typeface="Ubuntu"/>
              </a:rPr>
              <a:t>Text Formatting 1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340485" y="6173216"/>
            <a:ext cx="5509387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i="1" dirty="0">
                <a:latin typeface="Ubuntu"/>
              </a:rPr>
              <a:t>Inline formatting 2</a:t>
            </a:r>
            <a:endParaRPr lang="en-US" sz="1000" dirty="0"/>
          </a:p>
        </p:txBody>
      </p:sp>
      <p:sp>
        <p:nvSpPr>
          <p:cNvPr id="16" name="Text 16"/>
          <p:cNvSpPr txBox="1"/>
          <p:nvPr/>
        </p:nvSpPr>
        <p:spPr>
          <a:xfrm>
            <a:off x="1340485" y="6417945"/>
            <a:ext cx="5509387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i="1" dirty="0">
                <a:latin typeface="Ubuntu"/>
              </a:rPr>
              <a:t>Fun with fonts 2</a:t>
            </a:r>
            <a:endParaRPr lang="en-US" sz="1000" dirty="0"/>
          </a:p>
        </p:txBody>
      </p:sp>
      <p:sp>
        <p:nvSpPr>
          <p:cNvPr id="17" name="Text 17"/>
          <p:cNvSpPr txBox="1"/>
          <p:nvPr/>
        </p:nvSpPr>
        <p:spPr>
          <a:xfrm>
            <a:off x="1340485" y="6662420"/>
            <a:ext cx="5509387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i="1" dirty="0">
                <a:latin typeface="Ubuntu"/>
              </a:rPr>
              <a:t>Paragraph level formatting 2</a:t>
            </a:r>
            <a:endParaRPr lang="en-US" sz="1000" dirty="0"/>
          </a:p>
        </p:txBody>
      </p:sp>
      <p:sp>
        <p:nvSpPr>
          <p:cNvPr id="18" name="Text 18"/>
          <p:cNvSpPr txBox="1"/>
          <p:nvPr/>
        </p:nvSpPr>
        <p:spPr>
          <a:xfrm>
            <a:off x="1188085" y="6983095"/>
            <a:ext cx="5662295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b="1" dirty="0">
                <a:latin typeface="Ubuntu"/>
              </a:rPr>
              <a:t>Tables 2</a:t>
            </a:r>
            <a:endParaRPr lang="en-US" sz="1000" dirty="0"/>
          </a:p>
        </p:txBody>
      </p:sp>
      <p:sp>
        <p:nvSpPr>
          <p:cNvPr id="19" name="Text 19"/>
          <p:cNvSpPr txBox="1"/>
          <p:nvPr/>
        </p:nvSpPr>
        <p:spPr>
          <a:xfrm>
            <a:off x="1188085" y="7300595"/>
            <a:ext cx="5662295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b="1" dirty="0">
                <a:latin typeface="Ubuntu"/>
              </a:rPr>
              <a:t>Structural Elements 4</a:t>
            </a:r>
            <a:endParaRPr lang="en-US" sz="1000" dirty="0"/>
          </a:p>
        </p:txBody>
      </p:sp>
      <p:sp>
        <p:nvSpPr>
          <p:cNvPr id="20" name="Text 20"/>
          <p:cNvSpPr txBox="1"/>
          <p:nvPr/>
        </p:nvSpPr>
        <p:spPr>
          <a:xfrm>
            <a:off x="1340485" y="7545451"/>
            <a:ext cx="5509387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i="1" dirty="0">
                <a:latin typeface="Ubuntu"/>
              </a:rPr>
              <a:t>Footnotes &amp; Endnotes 5</a:t>
            </a:r>
            <a:endParaRPr lang="en-US" sz="1000" dirty="0"/>
          </a:p>
        </p:txBody>
      </p:sp>
      <p:sp>
        <p:nvSpPr>
          <p:cNvPr id="21" name="Text 21"/>
          <p:cNvSpPr txBox="1"/>
          <p:nvPr/>
        </p:nvSpPr>
        <p:spPr>
          <a:xfrm>
            <a:off x="1340485" y="7789926"/>
            <a:ext cx="5509387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i="1" dirty="0">
                <a:latin typeface="Ubuntu"/>
              </a:rPr>
              <a:t>Dropcaps 5</a:t>
            </a:r>
            <a:endParaRPr lang="en-US" sz="1000" dirty="0"/>
          </a:p>
        </p:txBody>
      </p:sp>
      <p:sp>
        <p:nvSpPr>
          <p:cNvPr id="22" name="Text 22"/>
          <p:cNvSpPr txBox="1"/>
          <p:nvPr/>
        </p:nvSpPr>
        <p:spPr>
          <a:xfrm>
            <a:off x="1340485" y="8034401"/>
            <a:ext cx="5509387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i="1" dirty="0">
                <a:latin typeface="Ubuntu"/>
              </a:rPr>
              <a:t>Links 5</a:t>
            </a:r>
            <a:endParaRPr lang="en-US" sz="1000" dirty="0"/>
          </a:p>
        </p:txBody>
      </p:sp>
      <p:sp>
        <p:nvSpPr>
          <p:cNvPr id="23" name="Text 23"/>
          <p:cNvSpPr txBox="1"/>
          <p:nvPr/>
        </p:nvSpPr>
        <p:spPr>
          <a:xfrm>
            <a:off x="1340485" y="8278876"/>
            <a:ext cx="5509387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i="1" dirty="0">
                <a:latin typeface="Ubuntu"/>
              </a:rPr>
              <a:t>Table of Contents 5</a:t>
            </a:r>
            <a:endParaRPr lang="en-US" sz="1000" dirty="0"/>
          </a:p>
        </p:txBody>
      </p:sp>
      <p:sp>
        <p:nvSpPr>
          <p:cNvPr id="24" name="Text 24"/>
          <p:cNvSpPr txBox="1"/>
          <p:nvPr/>
        </p:nvSpPr>
        <p:spPr>
          <a:xfrm>
            <a:off x="914781" y="8707882"/>
            <a:ext cx="5631942" cy="4375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baseline="30000" dirty="0"/>
              <a:t>1</a:t>
            </a:r>
            <a:r>
              <a:rPr lang="en-US" dirty="0"/>
              <a:t> </a:t>
            </a:r>
            <a:r>
              <a:rPr lang="en-US" sz="1000" dirty="0">
                <a:latin typeface="Ubuntu"/>
              </a:rPr>
              <a:t>In paged media, footnotes are usually displayed at the bottom of the text. However, in ebooks, a</a:t>
            </a:r>
            <a:br>
              <a:rPr lang="en-US" dirty="0"/>
            </a:br>
            <a:r>
              <a:rPr lang="en-US" sz="1000" dirty="0">
                <a:latin typeface="Ubuntu"/>
              </a:rPr>
              <a:t>better paradigm is to make them clickable endnotes that the user can browse at her pleasure. This</a:t>
            </a:r>
            <a:br>
              <a:rPr lang="en-US" dirty="0"/>
            </a:br>
            <a:r>
              <a:rPr lang="en-US" sz="1000" dirty="0">
                <a:latin typeface="Ubuntu"/>
              </a:rPr>
              <a:t>conversion is handled automatically by calibre.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1188085" y="917067"/>
            <a:ext cx="5662295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b="1" dirty="0">
                <a:latin typeface="Ubuntu"/>
              </a:rPr>
              <a:t>Images 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1188085" y="1237742"/>
            <a:ext cx="5662295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b="1" dirty="0">
                <a:latin typeface="Ubuntu"/>
              </a:rPr>
              <a:t>Lists 7</a:t>
            </a:r>
            <a:endParaRPr lang="en-US" sz="1000" dirty="0"/>
          </a:p>
        </p:txBody>
      </p:sp>
      <p:sp>
        <p:nvSpPr>
          <p:cNvPr id="4" name="Text 4"/>
          <p:cNvSpPr txBox="1"/>
          <p:nvPr/>
        </p:nvSpPr>
        <p:spPr>
          <a:xfrm>
            <a:off x="1340485" y="1482471"/>
            <a:ext cx="5509387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i="1" dirty="0">
                <a:latin typeface="Ubuntu"/>
              </a:rPr>
              <a:t>Bulleted List 8</a:t>
            </a:r>
            <a:endParaRPr lang="en-US" sz="1000" dirty="0"/>
          </a:p>
        </p:txBody>
      </p:sp>
      <p:sp>
        <p:nvSpPr>
          <p:cNvPr id="5" name="Text 5"/>
          <p:cNvSpPr txBox="1"/>
          <p:nvPr/>
        </p:nvSpPr>
        <p:spPr>
          <a:xfrm>
            <a:off x="1340485" y="1726946"/>
            <a:ext cx="5509387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i="1" dirty="0">
                <a:latin typeface="Ubuntu"/>
              </a:rPr>
              <a:t>Numbered List 8</a:t>
            </a:r>
            <a:endParaRPr lang="en-US" sz="1000" dirty="0"/>
          </a:p>
        </p:txBody>
      </p:sp>
      <p:sp>
        <p:nvSpPr>
          <p:cNvPr id="6" name="Text 6"/>
          <p:cNvSpPr txBox="1"/>
          <p:nvPr/>
        </p:nvSpPr>
        <p:spPr>
          <a:xfrm>
            <a:off x="1340485" y="1968246"/>
            <a:ext cx="5509387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i="1" dirty="0">
                <a:latin typeface="Ubuntu"/>
              </a:rPr>
              <a:t>Multi-level Lists 8</a:t>
            </a:r>
            <a:endParaRPr lang="en-US" sz="1000" dirty="0"/>
          </a:p>
        </p:txBody>
      </p:sp>
      <p:sp>
        <p:nvSpPr>
          <p:cNvPr id="7" name="Text 7"/>
          <p:cNvSpPr txBox="1"/>
          <p:nvPr/>
        </p:nvSpPr>
        <p:spPr>
          <a:xfrm>
            <a:off x="1340485" y="2212721"/>
            <a:ext cx="5509387" cy="14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000" i="1" dirty="0">
                <a:latin typeface="Ubuntu"/>
              </a:rPr>
              <a:t>Continued Lists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586226" y="1225296"/>
            <a:ext cx="603250" cy="1992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365F91"/>
                </a:solidFill>
                <a:latin typeface="Ubuntu"/>
              </a:rPr>
              <a:t>Images</a:t>
            </a:r>
            <a:endParaRPr lang="en-US" sz="1400" dirty="0"/>
          </a:p>
        </p:txBody>
      </p:sp>
      <p:sp>
        <p:nvSpPr>
          <p:cNvPr id="3" name="Text 3"/>
          <p:cNvSpPr txBox="1"/>
          <p:nvPr/>
        </p:nvSpPr>
        <p:spPr>
          <a:xfrm>
            <a:off x="914781" y="1458849"/>
            <a:ext cx="5698617" cy="37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304">
              <a:buNone/>
            </a:pPr>
            <a:r>
              <a:rPr lang="en-US" sz="1200" dirty="0">
                <a:latin typeface="Ubuntu"/>
              </a:rPr>
              <a:t>Centered images like this are useful for large pictures that should be a focus of</a:t>
            </a:r>
            <a:br>
              <a:rPr lang="en-US" dirty="0"/>
            </a:br>
            <a:r>
              <a:rPr lang="en-US" sz="1200" dirty="0">
                <a:latin typeface="Ubuntu"/>
              </a:rPr>
              <a:t>attention.</a:t>
            </a:r>
            <a:endParaRPr lang="en-US" sz="12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856867"/>
            <a:ext cx="4010025" cy="4010025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914781" y="6101969"/>
            <a:ext cx="5876925" cy="5711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304">
              <a:buNone/>
            </a:pPr>
            <a:r>
              <a:rPr lang="en-US" sz="1200" dirty="0">
                <a:latin typeface="Ubuntu"/>
              </a:rPr>
              <a:t>There is no analogous technology in ebooks, so the conversion will usually end up</a:t>
            </a:r>
            <a:br>
              <a:rPr lang="en-US" dirty="0"/>
            </a:br>
            <a:r>
              <a:rPr lang="en-US" sz="1200" dirty="0">
                <a:latin typeface="Ubuntu"/>
              </a:rPr>
              <a:t>placing the image either centered or floating close to the point in the text where it</a:t>
            </a:r>
            <a:br>
              <a:rPr lang="en-US" dirty="0"/>
            </a:br>
            <a:r>
              <a:rPr lang="en-US" sz="1200" dirty="0">
                <a:latin typeface="Ubuntu"/>
              </a:rPr>
              <a:t>was</a:t>
            </a:r>
            <a:r>
              <a:rPr lang="en-US" sz="1200" dirty="0">
                <a:solidFill>
                  <a:srgbClr val="808080"/>
                </a:solidFill>
                <a:latin typeface="Ubuntu"/>
              </a:rPr>
              <a:t> </a:t>
            </a:r>
            <a:r>
              <a:rPr lang="en-US" sz="1200" i="1" dirty="0">
                <a:latin typeface="Ubuntu"/>
              </a:rPr>
              <a:t>inserted</a:t>
            </a:r>
            <a:r>
              <a:rPr lang="en-US" sz="1200" dirty="0">
                <a:latin typeface="Ubuntu"/>
              </a:rPr>
              <a:t>, not necessarily where it appears on the page in Word.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5953125"/>
            <a:ext cx="127000" cy="127000"/>
          </a:xfrm>
          <a:prstGeom prst="rect">
            <a:avLst/>
          </a:prstGeom>
        </p:spPr>
      </p:pic>
      <p:sp>
        <p:nvSpPr>
          <p:cNvPr id="3" name="Text 3"/>
          <p:cNvSpPr txBox="1"/>
          <p:nvPr/>
        </p:nvSpPr>
        <p:spPr>
          <a:xfrm>
            <a:off x="3684651" y="1225296"/>
            <a:ext cx="403606" cy="1992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365F91"/>
                </a:solidFill>
                <a:latin typeface="Ubuntu"/>
              </a:rPr>
              <a:t>Lists</a:t>
            </a:r>
            <a:endParaRPr lang="en-US" sz="1400" dirty="0"/>
          </a:p>
        </p:txBody>
      </p:sp>
      <p:sp>
        <p:nvSpPr>
          <p:cNvPr id="4" name="Text 4"/>
          <p:cNvSpPr txBox="1"/>
          <p:nvPr/>
        </p:nvSpPr>
        <p:spPr>
          <a:xfrm>
            <a:off x="914781" y="1458849"/>
            <a:ext cx="5823585" cy="37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273304">
              <a:buNone/>
            </a:pPr>
            <a:r>
              <a:rPr lang="en-US" sz="1200" dirty="0">
                <a:latin typeface="Ubuntu"/>
              </a:rPr>
              <a:t>All types of lists are supported by the conversion, with the exception of lists that</a:t>
            </a:r>
            <a:br>
              <a:rPr lang="en-US" dirty="0"/>
            </a:br>
            <a:r>
              <a:rPr lang="en-US" sz="1200" dirty="0">
                <a:latin typeface="Ubuntu"/>
              </a:rPr>
              <a:t>use fancy bullets, these get converted to regular bullets.</a:t>
            </a:r>
            <a:endParaRPr lang="en-US" sz="1200" dirty="0"/>
          </a:p>
        </p:txBody>
      </p:sp>
      <p:sp>
        <p:nvSpPr>
          <p:cNvPr id="5" name="Text 5"/>
          <p:cNvSpPr txBox="1"/>
          <p:nvPr/>
        </p:nvSpPr>
        <p:spPr>
          <a:xfrm>
            <a:off x="914781" y="1989836"/>
            <a:ext cx="1009396" cy="185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4F81BD"/>
                </a:solidFill>
                <a:latin typeface="Ubuntu"/>
              </a:rPr>
              <a:t>Bulleted List</a:t>
            </a:r>
            <a:endParaRPr lang="en-US" sz="1300" dirty="0"/>
          </a:p>
        </p:txBody>
      </p:sp>
      <p:sp>
        <p:nvSpPr>
          <p:cNvPr id="6" name="Text 6"/>
          <p:cNvSpPr txBox="1"/>
          <p:nvPr/>
        </p:nvSpPr>
        <p:spPr>
          <a:xfrm>
            <a:off x="1645285" y="2217674"/>
            <a:ext cx="291338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228600" indent="-177800">
              <a:buFont typeface="Arial"/>
              <a:buChar char="•"/>
            </a:pPr>
            <a:r>
              <a:rPr lang="en-US" sz="1200" dirty="0">
                <a:latin typeface="Ubuntu"/>
              </a:rPr>
              <a:t>One</a:t>
            </a:r>
            <a:endParaRPr lang="en-US" sz="1200" dirty="0"/>
          </a:p>
        </p:txBody>
      </p:sp>
      <p:sp>
        <p:nvSpPr>
          <p:cNvPr id="7" name="Text 7"/>
          <p:cNvSpPr txBox="1"/>
          <p:nvPr/>
        </p:nvSpPr>
        <p:spPr>
          <a:xfrm>
            <a:off x="1645285" y="2424430"/>
            <a:ext cx="293116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228600" indent="-177800">
              <a:buFont typeface="Arial"/>
              <a:buChar char="•"/>
            </a:pPr>
            <a:r>
              <a:rPr lang="en-US" sz="1200" dirty="0">
                <a:latin typeface="Ubuntu"/>
              </a:rPr>
              <a:t>Two</a:t>
            </a:r>
            <a:endParaRPr lang="en-US" sz="1200" dirty="0"/>
          </a:p>
        </p:txBody>
      </p:sp>
      <p:sp>
        <p:nvSpPr>
          <p:cNvPr id="8" name="Text 8"/>
          <p:cNvSpPr txBox="1"/>
          <p:nvPr/>
        </p:nvSpPr>
        <p:spPr>
          <a:xfrm>
            <a:off x="914781" y="2752217"/>
            <a:ext cx="1155319" cy="185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4F81BD"/>
                </a:solidFill>
                <a:latin typeface="Ubuntu"/>
              </a:rPr>
              <a:t>Numbered List</a:t>
            </a:r>
            <a:endParaRPr lang="en-US" sz="1300" dirty="0"/>
          </a:p>
        </p:txBody>
      </p:sp>
      <p:sp>
        <p:nvSpPr>
          <p:cNvPr id="9" name="Text 9"/>
          <p:cNvSpPr txBox="1"/>
          <p:nvPr/>
        </p:nvSpPr>
        <p:spPr>
          <a:xfrm>
            <a:off x="1539875" y="2967355"/>
            <a:ext cx="5148326" cy="374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228600" indent="-177800">
              <a:buFont typeface="+mj-lt"/>
              <a:buAutoNum type="arabicPeriod"/>
            </a:pPr>
            <a:r>
              <a:rPr lang="en-US" sz="1200" dirty="0">
                <a:latin typeface="Ubuntu"/>
              </a:rPr>
              <a:t>One, with a very long line to demonstrate that the hanging indent for the</a:t>
            </a:r>
            <a:br>
              <a:rPr lang="en-US" dirty="0"/>
            </a:br>
            <a:r>
              <a:rPr lang="en-US" sz="1200" dirty="0">
                <a:latin typeface="Ubuntu"/>
              </a:rPr>
              <a:t>list is working correctly</a:t>
            </a:r>
            <a:endParaRPr lang="en-US" sz="1200" dirty="0"/>
          </a:p>
        </p:txBody>
      </p:sp>
      <p:sp>
        <p:nvSpPr>
          <p:cNvPr id="10" name="Text 10"/>
          <p:cNvSpPr txBox="1"/>
          <p:nvPr/>
        </p:nvSpPr>
        <p:spPr>
          <a:xfrm>
            <a:off x="1539875" y="3370834"/>
            <a:ext cx="398399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228600" indent="-177800">
              <a:buFont typeface="+mj-lt"/>
              <a:buAutoNum type="arabicPeriod"/>
            </a:pPr>
            <a:r>
              <a:rPr lang="en-US" sz="1200" dirty="0">
                <a:latin typeface="Ubuntu"/>
              </a:rPr>
              <a:t>Two</a:t>
            </a:r>
            <a:endParaRPr lang="en-US" sz="1200" dirty="0"/>
          </a:p>
        </p:txBody>
      </p:sp>
      <p:sp>
        <p:nvSpPr>
          <p:cNvPr id="11" name="Text 11"/>
          <p:cNvSpPr txBox="1"/>
          <p:nvPr/>
        </p:nvSpPr>
        <p:spPr>
          <a:xfrm>
            <a:off x="914781" y="3701796"/>
            <a:ext cx="1274572" cy="185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4F81BD"/>
                </a:solidFill>
                <a:latin typeface="Ubuntu"/>
              </a:rPr>
              <a:t>Multi-level Lists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1266825" y="3916934"/>
            <a:ext cx="396748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228600" indent="-177800">
              <a:buFont typeface="+mj-lt"/>
              <a:buAutoNum type="arabicPeriod"/>
            </a:pPr>
            <a:r>
              <a:rPr lang="en-US" sz="1200" dirty="0">
                <a:latin typeface="Ubuntu"/>
              </a:rPr>
              <a:t>One</a:t>
            </a:r>
            <a:endParaRPr lang="en-US" sz="1200" dirty="0"/>
          </a:p>
        </p:txBody>
      </p:sp>
      <p:sp>
        <p:nvSpPr>
          <p:cNvPr id="13" name="Text 13"/>
          <p:cNvSpPr txBox="1"/>
          <p:nvPr/>
        </p:nvSpPr>
        <p:spPr>
          <a:xfrm>
            <a:off x="1619123" y="4120134"/>
            <a:ext cx="319278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457200" indent="-177800" lvl="1">
              <a:buFont typeface="+mj-lt"/>
              <a:buAutoNum type="arabicPeriod"/>
            </a:pPr>
            <a:r>
              <a:rPr lang="en-US" sz="1200" dirty="0">
                <a:latin typeface="Ubuntu"/>
              </a:rPr>
              <a:t>Two</a:t>
            </a:r>
            <a:endParaRPr lang="en-US" sz="1200" dirty="0"/>
          </a:p>
        </p:txBody>
      </p:sp>
      <p:sp>
        <p:nvSpPr>
          <p:cNvPr id="14" name="Text 14"/>
          <p:cNvSpPr txBox="1"/>
          <p:nvPr/>
        </p:nvSpPr>
        <p:spPr>
          <a:xfrm>
            <a:off x="2287016" y="4320159"/>
            <a:ext cx="402336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685800" indent="-177800" lvl="2">
              <a:buFont typeface="+mj-lt"/>
              <a:buAutoNum type="arabicPeriod"/>
            </a:pPr>
            <a:r>
              <a:rPr lang="en-US" sz="1200" dirty="0">
                <a:latin typeface="Ubuntu"/>
              </a:rPr>
              <a:t>Three</a:t>
            </a:r>
            <a:endParaRPr lang="en-US" sz="1200" dirty="0"/>
          </a:p>
        </p:txBody>
      </p:sp>
      <p:sp>
        <p:nvSpPr>
          <p:cNvPr id="15" name="Text 15"/>
          <p:cNvSpPr txBox="1"/>
          <p:nvPr/>
        </p:nvSpPr>
        <p:spPr>
          <a:xfrm>
            <a:off x="1921891" y="4523613"/>
            <a:ext cx="4886198" cy="37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685800" indent="-177800" lvl="2">
              <a:buFont typeface="+mj-lt"/>
              <a:buAutoNum type="arabicPeriod"/>
            </a:pPr>
            <a:r>
              <a:rPr lang="en-US" sz="1200" dirty="0">
                <a:latin typeface="Ubuntu"/>
              </a:rPr>
              <a:t>Four with a very long line to demonstrate that the hanging indent</a:t>
            </a:r>
            <a:br>
              <a:rPr lang="en-US" dirty="0"/>
            </a:br>
            <a:r>
              <a:rPr lang="en-US" sz="1200" dirty="0">
                <a:latin typeface="Ubuntu"/>
              </a:rPr>
              <a:t>for the list is working correctly.</a:t>
            </a:r>
            <a:endParaRPr lang="en-US" sz="1200" dirty="0"/>
          </a:p>
        </p:txBody>
      </p:sp>
      <p:sp>
        <p:nvSpPr>
          <p:cNvPr id="16" name="Text 16"/>
          <p:cNvSpPr txBox="1"/>
          <p:nvPr/>
        </p:nvSpPr>
        <p:spPr>
          <a:xfrm>
            <a:off x="2287016" y="4926838"/>
            <a:ext cx="281940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685800" indent="-177800" lvl="2">
              <a:buFont typeface="+mj-lt"/>
              <a:buAutoNum type="arabicPeriod"/>
            </a:pPr>
            <a:r>
              <a:rPr lang="en-US" sz="1200" dirty="0">
                <a:latin typeface="Ubuntu"/>
              </a:rPr>
              <a:t>Five</a:t>
            </a:r>
            <a:endParaRPr lang="en-US" sz="1200" dirty="0"/>
          </a:p>
        </p:txBody>
      </p:sp>
      <p:sp>
        <p:nvSpPr>
          <p:cNvPr id="17" name="Text 17"/>
          <p:cNvSpPr txBox="1"/>
          <p:nvPr/>
        </p:nvSpPr>
        <p:spPr>
          <a:xfrm>
            <a:off x="1266825" y="5126863"/>
            <a:ext cx="304292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228600" indent="-177800">
              <a:buFont typeface="+mj-lt"/>
              <a:buAutoNum type="arabicPeriod"/>
            </a:pPr>
            <a:r>
              <a:rPr lang="en-US" sz="1200" dirty="0">
                <a:latin typeface="Ubuntu"/>
              </a:rPr>
              <a:t>Six</a:t>
            </a:r>
            <a:endParaRPr lang="en-US" sz="1200" dirty="0"/>
          </a:p>
        </p:txBody>
      </p:sp>
      <p:sp>
        <p:nvSpPr>
          <p:cNvPr id="18" name="Text 18"/>
          <p:cNvSpPr txBox="1"/>
          <p:nvPr/>
        </p:nvSpPr>
        <p:spPr>
          <a:xfrm>
            <a:off x="1143635" y="5326888"/>
            <a:ext cx="2002155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200" dirty="0">
                <a:latin typeface="Ubuntu"/>
              </a:rPr>
              <a:t>A Multi-level list with bullets:</a:t>
            </a:r>
            <a:endParaRPr lang="en-US" sz="1200" dirty="0"/>
          </a:p>
        </p:txBody>
      </p:sp>
      <p:sp>
        <p:nvSpPr>
          <p:cNvPr id="19" name="Text 19"/>
          <p:cNvSpPr txBox="1"/>
          <p:nvPr/>
        </p:nvSpPr>
        <p:spPr>
          <a:xfrm>
            <a:off x="1372235" y="5530469"/>
            <a:ext cx="291338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228600" indent="-177800">
              <a:buFont typeface="Arial"/>
              <a:buChar char="▪"/>
            </a:pPr>
            <a:r>
              <a:rPr lang="en-US" sz="1200" dirty="0">
                <a:latin typeface="Ubuntu"/>
              </a:rPr>
              <a:t>One</a:t>
            </a:r>
            <a:endParaRPr lang="en-US" sz="1200" dirty="0"/>
          </a:p>
        </p:txBody>
      </p:sp>
      <p:sp>
        <p:nvSpPr>
          <p:cNvPr id="20" name="Text 20"/>
          <p:cNvSpPr txBox="1"/>
          <p:nvPr/>
        </p:nvSpPr>
        <p:spPr>
          <a:xfrm>
            <a:off x="1600835" y="5740019"/>
            <a:ext cx="293116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457200" indent="-177800" lvl="1">
              <a:buFont typeface="Arial"/>
              <a:buChar char="•"/>
            </a:pPr>
            <a:r>
              <a:rPr lang="en-US" sz="1200" dirty="0">
                <a:latin typeface="Ubuntu"/>
              </a:rPr>
              <a:t>Two</a:t>
            </a:r>
            <a:endParaRPr lang="en-US" sz="1200" dirty="0"/>
          </a:p>
        </p:txBody>
      </p:sp>
      <p:sp>
        <p:nvSpPr>
          <p:cNvPr id="21" name="Text 21"/>
          <p:cNvSpPr txBox="1"/>
          <p:nvPr/>
        </p:nvSpPr>
        <p:spPr>
          <a:xfrm>
            <a:off x="1829435" y="5940044"/>
            <a:ext cx="2967228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685800" indent="-177800" lvl="2">
              <a:buFont typeface="Arial"/>
              <a:buChar char="•"/>
            </a:pPr>
            <a:r>
              <a:rPr lang="en-US" sz="1200" dirty="0">
                <a:latin typeface="Ubuntu"/>
              </a:rPr>
              <a:t>This bullet uses an image as the bullet item</a:t>
            </a:r>
            <a:endParaRPr lang="en-US" sz="1200" dirty="0"/>
          </a:p>
        </p:txBody>
      </p:sp>
      <p:sp>
        <p:nvSpPr>
          <p:cNvPr id="22" name="Text 22"/>
          <p:cNvSpPr txBox="1"/>
          <p:nvPr/>
        </p:nvSpPr>
        <p:spPr>
          <a:xfrm>
            <a:off x="2058416" y="6140069"/>
            <a:ext cx="318770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914400" indent="-177800" lvl="3">
              <a:buFont typeface="Arial"/>
              <a:buChar char="o"/>
            </a:pPr>
            <a:r>
              <a:rPr lang="en-US" sz="1200" dirty="0">
                <a:latin typeface="Ubuntu"/>
              </a:rPr>
              <a:t>Four</a:t>
            </a:r>
            <a:endParaRPr lang="en-US" sz="1200" dirty="0"/>
          </a:p>
        </p:txBody>
      </p:sp>
      <p:sp>
        <p:nvSpPr>
          <p:cNvPr id="23" name="Text 23"/>
          <p:cNvSpPr txBox="1"/>
          <p:nvPr/>
        </p:nvSpPr>
        <p:spPr>
          <a:xfrm>
            <a:off x="1372235" y="6343269"/>
            <a:ext cx="281940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228600" indent="-177800">
              <a:buFont typeface="Arial"/>
              <a:buChar char="▪"/>
            </a:pPr>
            <a:r>
              <a:rPr lang="en-US" sz="1200" dirty="0">
                <a:latin typeface="Ubuntu"/>
              </a:rPr>
              <a:t>Five</a:t>
            </a:r>
            <a:endParaRPr lang="en-US" sz="1200" dirty="0"/>
          </a:p>
        </p:txBody>
      </p:sp>
      <p:sp>
        <p:nvSpPr>
          <p:cNvPr id="24" name="Text 24"/>
          <p:cNvSpPr txBox="1"/>
          <p:nvPr/>
        </p:nvSpPr>
        <p:spPr>
          <a:xfrm>
            <a:off x="914781" y="6671310"/>
            <a:ext cx="1228852" cy="185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4F81BD"/>
                </a:solidFill>
                <a:latin typeface="Ubuntu"/>
              </a:rPr>
              <a:t>Continued Lists</a:t>
            </a:r>
            <a:endParaRPr lang="en-US" sz="1300" dirty="0"/>
          </a:p>
        </p:txBody>
      </p:sp>
      <p:sp>
        <p:nvSpPr>
          <p:cNvPr id="25" name="Text 25"/>
          <p:cNvSpPr txBox="1"/>
          <p:nvPr/>
        </p:nvSpPr>
        <p:spPr>
          <a:xfrm>
            <a:off x="1645285" y="6889623"/>
            <a:ext cx="291338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228600" indent="-177800">
              <a:buFont typeface="+mj-lt"/>
              <a:buAutoNum type="arabicPeriod"/>
            </a:pPr>
            <a:r>
              <a:rPr lang="en-US" sz="1200" dirty="0">
                <a:latin typeface="Ubuntu"/>
              </a:rPr>
              <a:t>One</a:t>
            </a:r>
            <a:endParaRPr lang="en-US" sz="1200" dirty="0"/>
          </a:p>
        </p:txBody>
      </p:sp>
      <p:sp>
        <p:nvSpPr>
          <p:cNvPr id="26" name="Text 26"/>
          <p:cNvSpPr txBox="1"/>
          <p:nvPr/>
        </p:nvSpPr>
        <p:spPr>
          <a:xfrm>
            <a:off x="1645285" y="7089648"/>
            <a:ext cx="293116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228600" indent="-177800">
              <a:buFont typeface="+mj-lt"/>
              <a:buAutoNum type="arabicPeriod"/>
            </a:pPr>
            <a:r>
              <a:rPr lang="en-US" sz="1200" dirty="0">
                <a:latin typeface="Ubuntu"/>
              </a:rPr>
              <a:t>Two</a:t>
            </a:r>
            <a:endParaRPr lang="en-US" sz="1200" dirty="0"/>
          </a:p>
        </p:txBody>
      </p:sp>
      <p:sp>
        <p:nvSpPr>
          <p:cNvPr id="27" name="Text 27"/>
          <p:cNvSpPr txBox="1"/>
          <p:nvPr/>
        </p:nvSpPr>
        <p:spPr>
          <a:xfrm>
            <a:off x="1372235" y="7292975"/>
            <a:ext cx="5188712" cy="3710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en-US" sz="1200" dirty="0">
                <a:latin typeface="Ubuntu"/>
              </a:rPr>
              <a:t>An interruption in our regularly scheduled listing, for this essential and very</a:t>
            </a:r>
            <a:br>
              <a:rPr lang="en-US" dirty="0"/>
            </a:br>
            <a:r>
              <a:rPr lang="en-US" sz="1200" dirty="0">
                <a:latin typeface="Ubuntu"/>
              </a:rPr>
              <a:t>relevant public service announcement.</a:t>
            </a:r>
            <a:endParaRPr lang="en-US" sz="1200" dirty="0"/>
          </a:p>
        </p:txBody>
      </p:sp>
      <p:sp>
        <p:nvSpPr>
          <p:cNvPr id="28" name="Text 28"/>
          <p:cNvSpPr txBox="1"/>
          <p:nvPr/>
        </p:nvSpPr>
        <p:spPr>
          <a:xfrm>
            <a:off x="1645285" y="7696454"/>
            <a:ext cx="2879090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228600" indent="-177800">
              <a:buFont typeface="+mj-lt"/>
              <a:buAutoNum type="arabicPeriod"/>
            </a:pPr>
            <a:r>
              <a:rPr lang="en-US" sz="1200" dirty="0">
                <a:latin typeface="Ubuntu"/>
              </a:rPr>
              <a:t>We now resume our normal programming</a:t>
            </a:r>
            <a:endParaRPr lang="en-US" sz="1200" dirty="0"/>
          </a:p>
        </p:txBody>
      </p:sp>
      <p:sp>
        <p:nvSpPr>
          <p:cNvPr id="29" name="Text 29"/>
          <p:cNvSpPr txBox="1"/>
          <p:nvPr/>
        </p:nvSpPr>
        <p:spPr>
          <a:xfrm>
            <a:off x="1645285" y="7896479"/>
            <a:ext cx="318770" cy="1708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228600" indent="-177800">
              <a:buFont typeface="+mj-lt"/>
              <a:buAutoNum type="arabicPeriod"/>
            </a:pPr>
            <a:r>
              <a:rPr lang="en-US" sz="1200" dirty="0">
                <a:latin typeface="Ubuntu"/>
              </a:rPr>
              <a:t>Four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officeParser</Application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DOCX Demo</dc:title>
  <dc:creator>Kovid Goyal</dc:creator>
  <cp:keywords>calibre, docs, ebook, conversion</cp:keywords>
  <dcterms:created xsi:type="dcterms:W3CDTF">2025-11-29T07:48:48Z</dcterms:created>
  <dcterms:modified xsi:type="dcterms:W3CDTF">2024-01-01T00:00:00Z</dcterms:modified>
</cp:coreProperties>
</file>