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theme" Target="theme/theme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ableStyles" Target="tableStyles.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buNone/>
            </a:pPr>
            <a:r>
              <a:rPr lang="en-US" dirty="0"/>
              <a:t>Slide Note 1.</a:t>
            </a:r>
            <a:endParaRPr lang="en-US" dirty="0"/>
          </a:p>
          <a:p>
            <a:pPr>
              <a:buNone/>
            </a:pPr>
            <a:r>
              <a:rPr lang="en-US" dirty="0"/>
              <a:t>1</a:t>
            </a:r>
            <a:endParaRPr lang="en-US" dirty="0"/>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buNone/>
            </a:pPr>
            <a:r>
              <a:rPr lang="en-US" dirty="0"/>
              <a:t>Slide Note 2. This is a </a:t>
            </a:r>
            <a:r>
              <a:rPr lang="en-US" b="1" dirty="0"/>
              <a:t>bold</a:t>
            </a:r>
            <a:r>
              <a:rPr lang="en-US" dirty="0"/>
              <a:t> text, but no </a:t>
            </a:r>
            <a:r>
              <a:rPr lang="en-US" i="1" dirty="0"/>
              <a:t>italic</a:t>
            </a:r>
            <a:r>
              <a:rPr lang="en-US" dirty="0"/>
              <a:t>. Let's strike </a:t>
            </a:r>
            <a:r>
              <a:rPr lang="en-US" strike="sngStrike" dirty="0"/>
              <a:t>that</a:t>
            </a:r>
            <a:r>
              <a:rPr lang="en-US" dirty="0"/>
              <a:t> out.</a:t>
            </a:r>
            <a:endParaRPr lang="en-US" dirty="0"/>
          </a:p>
          <a:p>
            <a:pPr>
              <a:buNone/>
            </a:pPr>
            <a:r>
              <a:rPr lang="en-US" dirty="0"/>
              <a:t>2</a:t>
            </a:r>
            <a:endParaRPr lang="en-US" dirty="0"/>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buNone/>
            </a:pPr>
            <a:r>
              <a:rPr lang="en-US" dirty="0"/>
              <a:t>And then about tables</a:t>
            </a:r>
            <a:endParaRPr lang="en-US" dirty="0"/>
          </a:p>
          <a:p>
            <a:pPr>
              <a:buNone/>
            </a:pPr>
            <a:r>
              <a:rPr lang="en-US" dirty="0"/>
              <a:t>3</a:t>
            </a:r>
            <a:endParaRPr lang="en-US" dirty="0"/>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pPr>
              <a:buNone/>
            </a:pPr>
            <a:r>
              <a:rPr lang="en-US" dirty="0"/>
              <a:t>Now calendars</a:t>
            </a:r>
            <a:endParaRPr lang="en-US" dirty="0"/>
          </a:p>
          <a:p>
            <a:pPr marL="228600" indent="-177800">
              <a:buFont typeface="+mj-lt"/>
              <a:buAutoNum type="arabicPeriod"/>
            </a:pPr>
            <a:r>
              <a:rPr lang="en-US" dirty="0"/>
              <a:t>Sun</a:t>
            </a:r>
            <a:endParaRPr lang="en-US" dirty="0"/>
          </a:p>
          <a:p>
            <a:pPr marL="228600" indent="-177800">
              <a:buFont typeface="+mj-lt"/>
              <a:buAutoNum type="arabicPeriod"/>
            </a:pPr>
            <a:r>
              <a:rPr lang="en-US" dirty="0"/>
              <a:t>Mon</a:t>
            </a:r>
            <a:endParaRPr lang="en-US" dirty="0"/>
          </a:p>
          <a:p>
            <a:pPr>
              <a:buNone/>
            </a:pPr>
            <a:r>
              <a:rPr lang="en-US" dirty="0"/>
              <a:t>7. Sat</a:t>
            </a:r>
            <a:endParaRPr lang="en-US" dirty="0"/>
          </a:p>
          <a:p>
            <a:pPr>
              <a:buNone/>
            </a:pPr>
            <a:r>
              <a:rPr lang="en-US" dirty="0"/>
              <a:t>5</a:t>
            </a:r>
            <a:endParaRPr lang="en-US" dirty="0"/>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calibre-ebook.com/downloa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0" y="0"/>
            <a:ext cx="12192000" cy="6857365"/>
          </a:xfrm>
          <a:prstGeom prst="rect">
            <a:avLst/>
          </a:prstGeom>
          <a:solidFill>
            <a:srgbClr val="156082"/>
          </a:solidFill>
          <a:ln>
            <a:noFill/>
          </a:ln>
        </p:spPr>
      </p:sp>
      <p:sp>
        <p:nvSpPr>
          <p:cNvPr id="3" name="Shape 3"/>
          <p:cNvSpPr/>
          <p:nvPr/>
        </p:nvSpPr>
        <p:spPr>
          <a:xfrm>
            <a:off x="0" y="1216660"/>
            <a:ext cx="195834" cy="673481"/>
          </a:xfrm>
          <a:prstGeom prst="rect">
            <a:avLst/>
          </a:prstGeom>
          <a:solidFill>
            <a:srgbClr val="156082"/>
          </a:solidFill>
          <a:ln>
            <a:noFill/>
          </a:ln>
        </p:spPr>
      </p:sp>
      <p:sp>
        <p:nvSpPr>
          <p:cNvPr id="4" name="Shape 4"/>
          <p:cNvSpPr/>
          <p:nvPr/>
        </p:nvSpPr>
        <p:spPr>
          <a:xfrm>
            <a:off x="267843" y="1216660"/>
            <a:ext cx="195834" cy="673481"/>
          </a:xfrm>
          <a:prstGeom prst="rect">
            <a:avLst/>
          </a:prstGeom>
          <a:solidFill>
            <a:srgbClr val="156082"/>
          </a:solidFill>
          <a:ln>
            <a:noFill/>
          </a:ln>
        </p:spPr>
      </p:sp>
      <p:sp>
        <p:nvSpPr>
          <p:cNvPr id="5" name="Shape 5"/>
          <p:cNvSpPr/>
          <p:nvPr/>
        </p:nvSpPr>
        <p:spPr>
          <a:xfrm>
            <a:off x="535686" y="1216660"/>
            <a:ext cx="195834" cy="673481"/>
          </a:xfrm>
          <a:prstGeom prst="rect">
            <a:avLst/>
          </a:prstGeom>
          <a:solidFill>
            <a:srgbClr val="156082"/>
          </a:solidFill>
          <a:ln>
            <a:noFill/>
          </a:ln>
        </p:spPr>
      </p:sp>
      <p:sp>
        <p:nvSpPr>
          <p:cNvPr id="6" name="Shape 6"/>
          <p:cNvSpPr/>
          <p:nvPr/>
        </p:nvSpPr>
        <p:spPr>
          <a:xfrm>
            <a:off x="640080" y="613918"/>
            <a:ext cx="10907522" cy="1894078"/>
          </a:xfrm>
          <a:prstGeom prst="rect">
            <a:avLst/>
          </a:prstGeom>
          <a:solidFill>
            <a:srgbClr val="FFFFFF"/>
          </a:solidFill>
          <a:ln>
            <a:noFill/>
          </a:ln>
        </p:spPr>
      </p:sp>
      <p:sp>
        <p:nvSpPr>
          <p:cNvPr id="7" name="Text 7"/>
          <p:cNvSpPr/>
          <p:nvPr/>
        </p:nvSpPr>
        <p:spPr>
          <a:xfrm>
            <a:off x="1043686" y="809879"/>
            <a:ext cx="9942703" cy="1554480"/>
          </a:xfrm>
          <a:prstGeom prst="rect">
            <a:avLst/>
          </a:prstGeom>
          <a:noFill/>
          <a:ln>
            <a:noFill/>
          </a:ln>
        </p:spPr>
        <p:txBody>
          <a:bodyPr wrap="square" lIns="91440" tIns="45720" rIns="91440" bIns="45720" anchor="ctr" rtlCol="0">
            <a:normAutofit/>
          </a:bodyPr>
          <a:lstStyle/>
          <a:p>
            <a:pPr>
              <a:buNone/>
            </a:pPr>
            <a:r>
              <a:rPr lang="en-US" sz="2600" dirty="0">
                <a:solidFill>
                  <a:srgbClr val="17365D"/>
                </a:solidFill>
                <a:latin typeface="Ubuntu"/>
              </a:rPr>
              <a:t>Demonstration of DOCX support in </a:t>
            </a:r>
            <a:r>
              <a:rPr lang="en-US" sz="2600" dirty="0">
                <a:solidFill>
                  <a:srgbClr val="17365D"/>
                </a:solidFill>
                <a:latin typeface="Ubuntu"/>
              </a:rPr>
              <a:t>calibre</a:t>
            </a:r>
            <a:endParaRPr lang="en-US" sz="2600" dirty="0"/>
          </a:p>
        </p:txBody>
      </p:sp>
      <p:sp>
        <p:nvSpPr>
          <p:cNvPr id="8" name="Text 8"/>
          <p:cNvSpPr/>
          <p:nvPr/>
        </p:nvSpPr>
        <p:spPr>
          <a:xfrm>
            <a:off x="1045083" y="3017520"/>
            <a:ext cx="9941306" cy="3124708"/>
          </a:xfrm>
          <a:prstGeom prst="rect">
            <a:avLst/>
          </a:prstGeom>
          <a:noFill/>
          <a:ln>
            <a:noFill/>
          </a:ln>
        </p:spPr>
        <p:txBody>
          <a:bodyPr wrap="square" lIns="91440" tIns="45720" rIns="91440" bIns="45720" anchor="ctr" rtlCol="0">
            <a:normAutofit/>
          </a:bodyPr>
          <a:lstStyle/>
          <a:p>
            <a:pPr>
              <a:buNone/>
            </a:pPr>
            <a:r>
              <a:rPr lang="en-US" sz="1200" dirty="0">
                <a:solidFill>
                  <a:srgbClr val="000000"/>
                </a:solidFill>
                <a:latin typeface="Ubuntu"/>
              </a:rPr>
              <a:t>This document demonstrates the ability of the </a:t>
            </a:r>
            <a:r>
              <a:rPr lang="en-US" sz="1200" dirty="0">
                <a:solidFill>
                  <a:srgbClr val="000000"/>
                </a:solidFill>
                <a:latin typeface="Ubuntu"/>
              </a:rPr>
              <a:t>calibre</a:t>
            </a:r>
            <a:r>
              <a:rPr lang="en-US" sz="1200" dirty="0">
                <a:solidFill>
                  <a:srgbClr val="000000"/>
                </a:solidFill>
                <a:latin typeface="Ubuntu"/>
              </a:rPr>
              <a:t> DOCX Input plugin to convert the various typographic features in a Microsoft Word (2007 and newer) document. Convert this document to a modern </a:t>
            </a:r>
            <a:r>
              <a:rPr lang="en-US" sz="1200" dirty="0">
                <a:solidFill>
                  <a:srgbClr val="000000"/>
                </a:solidFill>
                <a:latin typeface="Ubuntu"/>
              </a:rPr>
              <a:t>ebook</a:t>
            </a:r>
            <a:r>
              <a:rPr lang="en-US" sz="1200" dirty="0">
                <a:solidFill>
                  <a:srgbClr val="000000"/>
                </a:solidFill>
                <a:latin typeface="Ubuntu"/>
              </a:rPr>
              <a:t> format, such as AZW3 for Kindles or EPUB for other </a:t>
            </a:r>
            <a:r>
              <a:rPr lang="en-US" sz="1200" dirty="0">
                <a:solidFill>
                  <a:srgbClr val="000000"/>
                </a:solidFill>
                <a:latin typeface="Ubuntu"/>
              </a:rPr>
              <a:t>ebook</a:t>
            </a:r>
            <a:r>
              <a:rPr lang="en-US" sz="1200" dirty="0">
                <a:solidFill>
                  <a:srgbClr val="000000"/>
                </a:solidFill>
                <a:latin typeface="Ubuntu"/>
              </a:rPr>
              <a:t> readers, to see it in action.</a:t>
            </a:r>
            <a:endParaRPr lang="en-US" sz="1200" dirty="0"/>
          </a:p>
          <a:p>
            <a:pPr>
              <a:buNone/>
            </a:pPr>
            <a:r>
              <a:rPr lang="en-US" sz="1200" dirty="0">
                <a:solidFill>
                  <a:srgbClr val="000000"/>
                </a:solidFill>
                <a:latin typeface="Ubuntu"/>
              </a:rPr>
              <a:t>There is support for images, tables, lists, footnotes, endnotes, links, </a:t>
            </a:r>
            <a:r>
              <a:rPr lang="en-US" sz="1200" dirty="0">
                <a:solidFill>
                  <a:srgbClr val="000000"/>
                </a:solidFill>
                <a:latin typeface="Ubuntu"/>
              </a:rPr>
              <a:t>dropcaps</a:t>
            </a:r>
            <a:r>
              <a:rPr lang="en-US" sz="1200" dirty="0">
                <a:solidFill>
                  <a:srgbClr val="000000"/>
                </a:solidFill>
                <a:latin typeface="Ubuntu"/>
              </a:rPr>
              <a:t> and various types of text and paragraph level formatting.</a:t>
            </a:r>
            <a:endParaRPr lang="en-US" sz="1200" dirty="0"/>
          </a:p>
          <a:p>
            <a:pPr>
              <a:buNone/>
            </a:pPr>
            <a:r>
              <a:rPr lang="en-US" sz="1200" dirty="0">
                <a:solidFill>
                  <a:srgbClr val="000000"/>
                </a:solidFill>
                <a:latin typeface="Ubuntu"/>
              </a:rPr>
              <a:t>To see the DOCX conversion in action, simply add this file to </a:t>
            </a:r>
            <a:r>
              <a:rPr lang="en-US" sz="1200" dirty="0">
                <a:solidFill>
                  <a:srgbClr val="000000"/>
                </a:solidFill>
                <a:latin typeface="Ubuntu"/>
              </a:rPr>
              <a:t>calibre</a:t>
            </a:r>
            <a:r>
              <a:rPr lang="en-US" sz="1200" dirty="0">
                <a:solidFill>
                  <a:srgbClr val="000000"/>
                </a:solidFill>
                <a:latin typeface="Ubuntu"/>
              </a:rPr>
              <a:t> using the </a:t>
            </a:r>
            <a:r>
              <a:rPr lang="en-US" sz="1200" b="1" dirty="0">
                <a:solidFill>
                  <a:srgbClr val="000000"/>
                </a:solidFill>
                <a:latin typeface="Ubuntu"/>
              </a:rPr>
              <a:t>“Add Books” </a:t>
            </a:r>
            <a:r>
              <a:rPr lang="en-US" sz="1200" dirty="0">
                <a:solidFill>
                  <a:srgbClr val="000000"/>
                </a:solidFill>
                <a:latin typeface="Ubuntu"/>
              </a:rPr>
              <a:t>button and then click “</a:t>
            </a:r>
            <a:r>
              <a:rPr lang="en-US" sz="1200" b="1" dirty="0">
                <a:solidFill>
                  <a:srgbClr val="000000"/>
                </a:solidFill>
                <a:latin typeface="Ubuntu"/>
              </a:rPr>
              <a:t>Convert”. </a:t>
            </a:r>
            <a:r>
              <a:rPr lang="en-US" sz="1200" dirty="0">
                <a:solidFill>
                  <a:srgbClr val="000000"/>
                </a:solidFill>
                <a:latin typeface="Ubuntu"/>
              </a:rPr>
              <a:t> Set the output format in the top right corner of the conversion dialog to EPUB or AZW3 and click </a:t>
            </a:r>
            <a:r>
              <a:rPr lang="en-US" sz="1200" b="1" dirty="0">
                <a:solidFill>
                  <a:srgbClr val="000000"/>
                </a:solidFill>
                <a:latin typeface="Ubuntu"/>
              </a:rPr>
              <a:t>“OK”</a:t>
            </a:r>
            <a:r>
              <a:rPr lang="en-US" sz="1200" dirty="0">
                <a:solidFill>
                  <a:srgbClr val="000000"/>
                </a:solidFill>
                <a:latin typeface="Ubuntu"/>
              </a:rPr>
              <a: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838200" y="365125"/>
            <a:ext cx="10515600" cy="1325626"/>
          </a:xfrm>
          <a:prstGeom prst="rect">
            <a:avLst/>
          </a:prstGeom>
          <a:noFill/>
          <a:ln>
            <a:noFill/>
          </a:ln>
        </p:spPr>
        <p:txBody>
          <a:bodyPr wrap="square" lIns="91440" tIns="45720" rIns="91440" bIns="45720" anchor="ctr" rtlCol="0">
            <a:normAutofit/>
          </a:bodyPr>
          <a:lstStyle/>
          <a:p>
            <a:pPr>
              <a:buNone/>
            </a:pPr>
            <a:r>
              <a:rPr lang="en-US" sz="1400" b="1" dirty="0">
                <a:solidFill>
                  <a:srgbClr val="365F91"/>
                </a:solidFill>
                <a:latin typeface="Ubuntu"/>
              </a:rPr>
              <a:t>Text Formatting</a:t>
            </a:r>
            <a:endParaRPr lang="en-US" sz="1400" dirty="0"/>
          </a:p>
        </p:txBody>
      </p:sp>
      <p:sp>
        <p:nvSpPr>
          <p:cNvPr id="3" name="Text 3"/>
          <p:cNvSpPr txBox="1"/>
          <p:nvPr/>
        </p:nvSpPr>
        <p:spPr>
          <a:xfrm>
            <a:off x="838200" y="1342517"/>
            <a:ext cx="10515600" cy="4834382"/>
          </a:xfrm>
          <a:prstGeom prst="rect">
            <a:avLst/>
          </a:prstGeom>
          <a:noFill/>
          <a:ln>
            <a:noFill/>
          </a:ln>
        </p:spPr>
        <p:txBody>
          <a:bodyPr wrap="square" anchor="t" rtlCol="0">
            <a:normAutofit/>
          </a:bodyPr>
          <a:lstStyle/>
          <a:p>
            <a:pPr>
              <a:buNone/>
            </a:pPr>
            <a:r>
              <a:rPr lang="en-US" sz="1300" b="1" dirty="0">
                <a:solidFill>
                  <a:srgbClr val="4F81BD"/>
                </a:solidFill>
                <a:latin typeface="Ubuntu"/>
              </a:rPr>
              <a:t>Inline formatting</a:t>
            </a:r>
            <a:endParaRPr lang="en-US" sz="1300" dirty="0"/>
          </a:p>
          <a:p>
            <a:pPr>
              <a:buNone/>
            </a:pPr>
            <a:r>
              <a:rPr lang="en-US" sz="1200" dirty="0">
                <a:solidFill>
                  <a:srgbClr val="000000"/>
                </a:solidFill>
                <a:latin typeface="Ubuntu"/>
              </a:rPr>
              <a:t>Here, we demonstrate various types of inline text formatting and the use of embedded fonts.</a:t>
            </a:r>
            <a:endParaRPr lang="en-US" sz="1200" dirty="0"/>
          </a:p>
          <a:p>
            <a:pPr>
              <a:buNone/>
            </a:pPr>
            <a:r>
              <a:rPr lang="en-US" sz="1200" dirty="0">
                <a:solidFill>
                  <a:srgbClr val="000000"/>
                </a:solidFill>
                <a:latin typeface="Ubuntu"/>
              </a:rPr>
              <a:t>Here is some </a:t>
            </a:r>
            <a:r>
              <a:rPr lang="en-US" sz="1200" b="1" dirty="0">
                <a:solidFill>
                  <a:srgbClr val="000000"/>
                </a:solidFill>
                <a:latin typeface="Ubuntu"/>
              </a:rPr>
              <a:t>bold, </a:t>
            </a:r>
            <a:r>
              <a:rPr lang="en-US" sz="1200" i="1" dirty="0">
                <a:solidFill>
                  <a:srgbClr val="000000"/>
                </a:solidFill>
                <a:latin typeface="Ubuntu"/>
              </a:rPr>
              <a:t>italic, </a:t>
            </a:r>
            <a:r>
              <a:rPr lang="en-US" sz="1200" b="1" i="1" dirty="0">
                <a:solidFill>
                  <a:srgbClr val="000000"/>
                </a:solidFill>
                <a:latin typeface="Ubuntu"/>
              </a:rPr>
              <a:t>bold-italic, </a:t>
            </a:r>
            <a:r>
              <a:rPr lang="en-US" sz="1200" u="sng" dirty="0">
                <a:solidFill>
                  <a:srgbClr val="000000"/>
                </a:solidFill>
                <a:latin typeface="Ubuntu"/>
              </a:rPr>
              <a:t>underlined </a:t>
            </a:r>
            <a:r>
              <a:rPr lang="en-US" sz="1200" dirty="0">
                <a:solidFill>
                  <a:srgbClr val="000000"/>
                </a:solidFill>
                <a:latin typeface="Ubuntu"/>
              </a:rPr>
              <a:t>and </a:t>
            </a:r>
            <a:r>
              <a:rPr lang="en-US" sz="1200" strike="sngStrike" dirty="0">
                <a:solidFill>
                  <a:srgbClr val="000000"/>
                </a:solidFill>
                <a:latin typeface="Ubuntu"/>
              </a:rPr>
              <a:t>struck out </a:t>
            </a:r>
            <a:r>
              <a:rPr lang="en-US" sz="1200" dirty="0">
                <a:solidFill>
                  <a:srgbClr val="000000"/>
                </a:solidFill>
                <a:latin typeface="Ubuntu"/>
              </a:rPr>
              <a:t> text. Then, we have a super</a:t>
            </a:r>
            <a:r>
              <a:rPr lang="en-US" sz="1200" baseline="30000" dirty="0">
                <a:solidFill>
                  <a:srgbClr val="000000"/>
                </a:solidFill>
                <a:latin typeface="Ubuntu"/>
              </a:rPr>
              <a:t>script</a:t>
            </a:r>
            <a:r>
              <a:rPr lang="en-US" sz="1200" dirty="0">
                <a:solidFill>
                  <a:srgbClr val="000000"/>
                </a:solidFill>
                <a:latin typeface="Ubuntu"/>
              </a:rPr>
              <a:t> and a sub</a:t>
            </a:r>
            <a:r>
              <a:rPr lang="en-US" sz="1200" baseline="-25000" dirty="0">
                <a:solidFill>
                  <a:srgbClr val="000000"/>
                </a:solidFill>
                <a:latin typeface="Ubuntu"/>
              </a:rPr>
              <a:t>script</a:t>
            </a:r>
            <a:r>
              <a:rPr lang="en-US" sz="1200" dirty="0">
                <a:solidFill>
                  <a:srgbClr val="000000"/>
                </a:solidFill>
                <a:latin typeface="Ubuntu"/>
              </a:rPr>
              <a:t>. Now we see some </a:t>
            </a:r>
            <a:r>
              <a:rPr lang="en-US" sz="1200" dirty="0">
                <a:solidFill>
                  <a:srgbClr val="FF0000"/>
                </a:solidFill>
                <a:latin typeface="Ubuntu"/>
              </a:rPr>
              <a:t>red</a:t>
            </a:r>
            <a:r>
              <a:rPr lang="en-US" sz="1200" dirty="0">
                <a:solidFill>
                  <a:srgbClr val="000000"/>
                </a:solidFill>
                <a:latin typeface="Ubuntu"/>
              </a:rPr>
              <a:t>, </a:t>
            </a:r>
            <a:r>
              <a:rPr lang="en-US" sz="1200" dirty="0">
                <a:solidFill>
                  <a:srgbClr val="92D050"/>
                </a:solidFill>
                <a:latin typeface="Ubuntu"/>
              </a:rPr>
              <a:t>green</a:t>
            </a:r>
            <a:r>
              <a:rPr lang="en-US" sz="1200" dirty="0">
                <a:solidFill>
                  <a:srgbClr val="000000"/>
                </a:solidFill>
                <a:latin typeface="Ubuntu"/>
              </a:rPr>
              <a:t> and </a:t>
            </a:r>
            <a:r>
              <a:rPr lang="en-US" sz="1200" dirty="0">
                <a:solidFill>
                  <a:srgbClr val="0070C0"/>
                </a:solidFill>
                <a:latin typeface="Ubuntu"/>
              </a:rPr>
              <a:t>blue</a:t>
            </a:r>
            <a:r>
              <a:rPr lang="en-US" sz="1200" dirty="0">
                <a:solidFill>
                  <a:srgbClr val="000000"/>
                </a:solidFill>
                <a:latin typeface="Ubuntu"/>
              </a:rPr>
              <a:t> text. Some text with a </a:t>
            </a:r>
            <a:r>
              <a:rPr lang="en-US" sz="1200" dirty="0">
                <a:solidFill>
                  <a:srgbClr val="000000"/>
                </a:solidFill>
                <a:latin typeface="Ubuntu"/>
              </a:rPr>
              <a:t>yellow highlight.</a:t>
            </a:r>
            <a:r>
              <a:rPr lang="en-US" sz="1200" dirty="0">
                <a:solidFill>
                  <a:srgbClr val="000000"/>
                </a:solidFill>
                <a:latin typeface="Ubuntu"/>
              </a:rPr>
              <a:t> Some text in a box. Some text in </a:t>
            </a:r>
            <a:r>
              <a:rPr lang="en-US" sz="1200" dirty="0">
                <a:solidFill>
                  <a:srgbClr val="FFFFFF"/>
                </a:solidFill>
                <a:latin typeface="Ubuntu"/>
              </a:rPr>
              <a:t>inverse video</a:t>
            </a:r>
            <a:r>
              <a:rPr lang="en-US" sz="1200" dirty="0">
                <a:solidFill>
                  <a:srgbClr val="000000"/>
                </a:solidFill>
                <a:latin typeface="Ubuntu"/>
              </a:rPr>
              <a:t>.</a:t>
            </a:r>
            <a:endParaRPr lang="en-US" sz="1200" dirty="0"/>
          </a:p>
          <a:p>
            <a:pPr>
              <a:buNone/>
            </a:pPr>
            <a:r>
              <a:rPr lang="en-US" sz="1200" dirty="0">
                <a:solidFill>
                  <a:srgbClr val="000000"/>
                </a:solidFill>
                <a:latin typeface="Ubuntu"/>
              </a:rPr>
              <a:t>A paragraph with styled text: </a:t>
            </a:r>
            <a:r>
              <a:rPr lang="en-US" sz="1200" i="1" dirty="0">
                <a:solidFill>
                  <a:srgbClr val="808080"/>
                </a:solidFill>
                <a:latin typeface="Ubuntu"/>
              </a:rPr>
              <a:t>subtle emphasis  </a:t>
            </a:r>
            <a:r>
              <a:rPr lang="en-US" sz="1200" dirty="0">
                <a:solidFill>
                  <a:srgbClr val="000000"/>
                </a:solidFill>
                <a:latin typeface="Ubuntu"/>
              </a:rPr>
              <a:t>followed by </a:t>
            </a:r>
            <a:r>
              <a:rPr lang="en-US" sz="1200" b="1" dirty="0">
                <a:solidFill>
                  <a:srgbClr val="000000"/>
                </a:solidFill>
                <a:latin typeface="Ubuntu"/>
              </a:rPr>
              <a:t>strong text </a:t>
            </a:r>
            <a:r>
              <a:rPr lang="en-US" sz="1200" dirty="0">
                <a:solidFill>
                  <a:srgbClr val="000000"/>
                </a:solidFill>
                <a:latin typeface="Ubuntu"/>
              </a:rPr>
              <a:t>and </a:t>
            </a:r>
            <a:r>
              <a:rPr lang="en-US" sz="1200" b="1" i="1" dirty="0">
                <a:solidFill>
                  <a:srgbClr val="4F81BD"/>
                </a:solidFill>
                <a:latin typeface="Ubuntu"/>
              </a:rPr>
              <a:t>intense emphasis</a:t>
            </a:r>
            <a:r>
              <a:rPr lang="en-US" sz="1200" dirty="0">
                <a:solidFill>
                  <a:srgbClr val="000000"/>
                </a:solidFill>
                <a:latin typeface="Ubuntu"/>
              </a:rPr>
              <a:t>. This paragraph uses document wide styles for styling rather than inline text properties as demonstrated in the previous paragraph — </a:t>
            </a:r>
            <a:r>
              <a:rPr lang="en-US" sz="1200" dirty="0">
                <a:solidFill>
                  <a:srgbClr val="000000"/>
                </a:solidFill>
                <a:latin typeface="Ubuntu"/>
              </a:rPr>
              <a:t>calibre</a:t>
            </a:r>
            <a:r>
              <a:rPr lang="en-US" sz="1200" dirty="0">
                <a:solidFill>
                  <a:srgbClr val="000000"/>
                </a:solidFill>
                <a:latin typeface="Ubuntu"/>
              </a:rPr>
              <a:t> can handle both with equal ease.</a:t>
            </a:r>
            <a:endParaRPr lang="en-US" sz="1200" dirty="0"/>
          </a:p>
          <a:p>
            <a:pPr>
              <a:buNone/>
            </a:pPr>
            <a:r>
              <a:rPr lang="en-US" sz="1300" b="1" dirty="0">
                <a:solidFill>
                  <a:srgbClr val="4F81BD"/>
                </a:solidFill>
                <a:latin typeface="Ubuntu"/>
              </a:rPr>
              <a:t>Fun with fonts</a:t>
            </a:r>
            <a:endParaRPr lang="en-US" sz="1300" dirty="0"/>
          </a:p>
          <a:p>
            <a:pPr>
              <a:buNone/>
            </a:pPr>
            <a:r>
              <a:rPr lang="en-US" sz="1200" dirty="0">
                <a:solidFill>
                  <a:srgbClr val="000000"/>
                </a:solidFill>
                <a:latin typeface="Ubuntu"/>
              </a:rPr>
              <a:t>This document has embedded the Ubuntu font family. The body text is in the Ubuntu typeface, here is </a:t>
            </a:r>
            <a:r>
              <a:rPr lang="en-US" sz="1200" dirty="0">
                <a:solidFill>
                  <a:srgbClr val="000000"/>
                </a:solidFill>
                <a:latin typeface="Ubuntu Mono"/>
              </a:rPr>
              <a:t>some text in the Ubuntu Mono typeface, notice how every letter has the same width, even </a:t>
            </a:r>
            <a:r>
              <a:rPr lang="en-US" sz="1200" dirty="0">
                <a:solidFill>
                  <a:srgbClr val="000000"/>
                </a:solidFill>
                <a:latin typeface="Ubuntu Mono"/>
              </a:rPr>
              <a:t>i</a:t>
            </a:r>
            <a:r>
              <a:rPr lang="en-US" sz="1200" dirty="0">
                <a:solidFill>
                  <a:srgbClr val="000000"/>
                </a:solidFill>
                <a:latin typeface="Ubuntu Mono"/>
              </a:rPr>
              <a:t> and m</a:t>
            </a:r>
            <a:r>
              <a:rPr lang="en-US" sz="1200" dirty="0">
                <a:solidFill>
                  <a:srgbClr val="000000"/>
                </a:solidFill>
                <a:latin typeface="Ubuntu"/>
              </a:rPr>
              <a:t>. Every embedded font will automatically be embedded in the output </a:t>
            </a:r>
            <a:r>
              <a:rPr lang="en-US" sz="1200" dirty="0">
                <a:solidFill>
                  <a:srgbClr val="000000"/>
                </a:solidFill>
                <a:latin typeface="Ubuntu"/>
              </a:rPr>
              <a:t>ebook</a:t>
            </a:r>
            <a:r>
              <a:rPr lang="en-US" sz="1200" dirty="0">
                <a:solidFill>
                  <a:srgbClr val="000000"/>
                </a:solidFill>
                <a:latin typeface="Ubuntu"/>
              </a:rPr>
              <a:t> during conversion. </a:t>
            </a:r>
            <a:endParaRPr lang="en-US" sz="1200" dirty="0"/>
          </a:p>
          <a:p>
            <a:pPr>
              <a:buNone/>
            </a:pPr>
            <a:r>
              <a:rPr lang="en-US" sz="1300" b="1" dirty="0">
                <a:solidFill>
                  <a:srgbClr val="4F81BD"/>
                </a:solidFill>
                <a:latin typeface="Ubuntu"/>
              </a:rPr>
              <a:t>Paragraph level formatting</a:t>
            </a:r>
            <a:endParaRPr lang="en-US" sz="1300" dirty="0"/>
          </a:p>
          <a:p>
            <a:pPr algn="r">
              <a:buNone/>
            </a:pPr>
            <a:r>
              <a:rPr lang="en-US" sz="1200" dirty="0">
                <a:solidFill>
                  <a:srgbClr val="000000"/>
                </a:solidFill>
                <a:latin typeface="Ubuntu"/>
              </a:rPr>
              <a:t>You can do crazy things with paragraphs, if the urge strikes you. For instance this paragraph is right aligned and has a right border. It has also been given a light gray background.</a:t>
            </a:r>
            <a:endParaRPr lang="en-US" sz="1200" dirty="0"/>
          </a:p>
          <a:p>
            <a:pPr>
              <a:buNone/>
            </a:pPr>
            <a:r>
              <a:rPr lang="en-US" sz="1200" dirty="0">
                <a:solidFill>
                  <a:srgbClr val="000000"/>
                </a:solidFill>
                <a:latin typeface="Ubuntu"/>
              </a:rPr>
              <a:t>For the lovers of poetry amongst you, paragraphs with hanging indents, like this often come in handy. You can use hanging indents to ensure that a line of poetry retains its individual identity as a line even when the screen is  too narrow to display it as a single line. Not only does this paragraph have a hanging indent, it is also has an extra top margin, setting it apart from the preceding paragraph.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838200" y="365125"/>
            <a:ext cx="10515600" cy="1325626"/>
          </a:xfrm>
          <a:prstGeom prst="rect">
            <a:avLst/>
          </a:prstGeom>
          <a:noFill/>
          <a:ln>
            <a:noFill/>
          </a:ln>
        </p:spPr>
        <p:txBody>
          <a:bodyPr wrap="square" lIns="91440" tIns="45720" rIns="91440" bIns="45720" anchor="ctr" rtlCol="0">
            <a:normAutofit/>
          </a:bodyPr>
          <a:lstStyle/>
          <a:p>
            <a:pPr>
              <a:buNone/>
            </a:pPr>
            <a:r>
              <a:rPr lang="en-US" sz="1400" b="1" dirty="0">
                <a:solidFill>
                  <a:srgbClr val="365F91"/>
                </a:solidFill>
                <a:latin typeface="Ubuntu"/>
              </a:rPr>
              <a:t>Tables</a:t>
            </a:r>
            <a:endParaRPr lang="en-US" sz="1400" dirty="0"/>
          </a:p>
        </p:txBody>
      </p:sp>
      <p:graphicFrame>
        <p:nvGraphicFramePr>
          <p:cNvPr id="3" name="Table 3"/>
          <p:cNvGraphicFramePr>
            <a:graphicFrameLocks noGrp="1"/>
          </p:cNvGraphicFramePr>
          <p:nvPr/>
        </p:nvGraphicFramePr>
        <p:xfrm>
          <a:off x="838200" y="1825625"/>
          <a:ext cx="10515600" cy="1615440"/>
        </p:xfrm>
        <a:graphic>
          <a:graphicData uri="http://schemas.openxmlformats.org/drawingml/2006/table">
            <a:tbl>
              <a:tblPr firstRow="1"/>
              <a:tblGrid>
                <a:gridCol w="6008914"/>
                <a:gridCol w="4506686"/>
              </a:tblGrid>
              <a:tr h="269240">
                <a:tc>
                  <a:txBody>
                    <a:bodyPr/>
                    <a:lstStyle/>
                    <a:p>
                      <a:pPr>
                        <a:buNone/>
                      </a:pPr>
                      <a:r>
                        <a:rPr lang="en-US" sz="1200" b="1" dirty="0">
                          <a:solidFill>
                            <a:srgbClr val="FFFFFF"/>
                          </a:solidFill>
                          <a:latin typeface="Ubuntu"/>
                        </a:rPr>
                        <a:t>ITEM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9BBB59"/>
                    </a:solidFill>
                  </a:tcPr>
                </a:tc>
                <a:tc>
                  <a:txBody>
                    <a:bodyPr/>
                    <a:lstStyle/>
                    <a:p>
                      <a:pPr>
                        <a:buNone/>
                      </a:pPr>
                      <a:r>
                        <a:rPr lang="en-US" sz="1200" b="1" dirty="0">
                          <a:solidFill>
                            <a:srgbClr val="FFFFFF"/>
                          </a:solidFill>
                          <a:latin typeface="Ubuntu"/>
                        </a:rPr>
                        <a:t>NEEDED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9BBB59"/>
                    </a:solidFill>
                  </a:tcPr>
                </a:tc>
              </a:tr>
              <a:tr h="269240">
                <a:tc>
                  <a:txBody>
                    <a:bodyPr/>
                    <a:lstStyle/>
                    <a:p>
                      <a:pPr>
                        <a:buNone/>
                      </a:pPr>
                      <a:r>
                        <a:rPr lang="en-US" sz="1200" dirty="0">
                          <a:latin typeface="Ubuntu"/>
                        </a:rPr>
                        <a:t>Books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Pens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Pencils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Highlighter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2 colors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Scissors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1 pair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
        <p:nvSpPr>
          <p:cNvPr id="4" name="Text 4"/>
          <p:cNvSpPr txBox="1"/>
          <p:nvPr/>
        </p:nvSpPr>
        <p:spPr>
          <a:xfrm>
            <a:off x="775589" y="3456178"/>
            <a:ext cx="10797286" cy="1292606"/>
          </a:xfrm>
          <a:prstGeom prst="rect">
            <a:avLst/>
          </a:prstGeom>
          <a:noFill/>
          <a:ln>
            <a:noFill/>
          </a:ln>
        </p:spPr>
        <p:txBody>
          <a:bodyPr wrap="square" anchor="t" rtlCol="0">
            <a:normAutofit/>
          </a:bodyPr>
          <a:lstStyle/>
          <a:p>
            <a:pPr>
              <a:buNone/>
            </a:pPr>
            <a:r>
              <a:rPr lang="en-US" sz="1200" dirty="0">
                <a:solidFill>
                  <a:srgbClr val="000000"/>
                </a:solidFill>
                <a:latin typeface="Ubuntu"/>
              </a:rPr>
              <a:t> Tables in Word can vary from the extremely simple to the extremely complex. </a:t>
            </a:r>
            <a:r>
              <a:rPr lang="en-US" sz="1200" dirty="0">
                <a:solidFill>
                  <a:srgbClr val="000000"/>
                </a:solidFill>
                <a:latin typeface="Ubuntu"/>
              </a:rPr>
              <a:t>calibre</a:t>
            </a:r>
            <a:r>
              <a:rPr lang="en-US" sz="1200" dirty="0">
                <a:solidFill>
                  <a:srgbClr val="000000"/>
                </a:solidFill>
                <a:latin typeface="Ubuntu"/>
              </a:rPr>
              <a:t> tries to do its best when converting tables. While you may run into trouble with the occasional table, the vast majority of common cases should be converted very well, as demonstrated in this section. Note that for optimum results, when creating tables in Word, you should set their widths using percentages, rather than absolute units.  To the left of this paragraph is a floating two column table with a nice green border and header row.</a:t>
            </a:r>
            <a:r>
              <a:rPr lang="en-US" sz="1200" dirty="0">
                <a:solidFill>
                  <a:srgbClr val="000000"/>
                </a:solidFill>
                <a:latin typeface="Ubuntu"/>
              </a:rPr>
              <a:t> </a:t>
            </a:r>
            <a:endParaRPr lang="en-US" sz="1200" dirty="0"/>
          </a:p>
          <a:p>
            <a:pPr>
              <a:buNone/>
            </a:pPr>
            <a:r>
              <a:rPr lang="en-US" sz="1200" dirty="0">
                <a:solidFill>
                  <a:srgbClr val="000000"/>
                </a:solidFill>
                <a:latin typeface="Ubuntu"/>
              </a:rPr>
              <a:t> Now let’s look at a fancier table—one with alternating row colors and partial borders. This table is stretched out to take 100% of the available width.</a:t>
            </a:r>
            <a:endParaRPr lang="en-US" sz="1200" dirty="0"/>
          </a:p>
        </p:txBody>
      </p:sp>
      <p:graphicFrame>
        <p:nvGraphicFramePr>
          <p:cNvPr id="5" name="Table 5"/>
          <p:cNvGraphicFramePr>
            <a:graphicFrameLocks noGrp="1"/>
          </p:cNvGraphicFramePr>
          <p:nvPr/>
        </p:nvGraphicFramePr>
        <p:xfrm>
          <a:off x="3051429" y="4634738"/>
          <a:ext cx="6048375" cy="1602740"/>
        </p:xfrm>
        <a:graphic>
          <a:graphicData uri="http://schemas.openxmlformats.org/drawingml/2006/table">
            <a:tbl>
              <a:tblPr firstRow="1"/>
              <a:tblGrid>
                <a:gridCol w="1483564"/>
                <a:gridCol w="912962"/>
                <a:gridCol w="912962"/>
                <a:gridCol w="912962"/>
                <a:gridCol w="912962"/>
                <a:gridCol w="912962"/>
              </a:tblGrid>
              <a:tr h="267123">
                <a:tc>
                  <a:txBody>
                    <a:bodyPr/>
                    <a:lstStyle/>
                    <a:p>
                      <a:pPr>
                        <a:buNone/>
                      </a:pPr>
                      <a:r>
                        <a:rPr lang="en-US" sz="1100" dirty="0">
                          <a:latin typeface="Ubuntu"/>
                        </a:rPr>
                        <a:t>City or Town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100" dirty="0">
                          <a:latin typeface="Ubuntu"/>
                        </a:rPr>
                        <a:t>Point A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100" dirty="0">
                          <a:latin typeface="Ubuntu"/>
                        </a:rPr>
                        <a:t>Point B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100" dirty="0">
                          <a:latin typeface="Ubuntu"/>
                        </a:rPr>
                        <a:t>Point C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100" dirty="0">
                          <a:latin typeface="Ubuntu"/>
                        </a:rPr>
                        <a:t>Point D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100" dirty="0">
                          <a:latin typeface="Ubuntu"/>
                        </a:rPr>
                        <a:t>Point E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267123">
                <a:tc>
                  <a:txBody>
                    <a:bodyPr/>
                    <a:lstStyle/>
                    <a:p>
                      <a:pPr>
                        <a:buNone/>
                      </a:pPr>
                      <a:r>
                        <a:rPr lang="en-US" sz="1200" dirty="0">
                          <a:latin typeface="Ubuntu"/>
                        </a:rPr>
                        <a:t>Point A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r>
              <a:tr h="267123">
                <a:tc>
                  <a:txBody>
                    <a:bodyPr/>
                    <a:lstStyle/>
                    <a:p>
                      <a:pPr>
                        <a:buNone/>
                      </a:pPr>
                      <a:r>
                        <a:rPr lang="en-US" sz="1200" dirty="0">
                          <a:latin typeface="Ubuntu"/>
                        </a:rPr>
                        <a:t>Point B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200" dirty="0">
                          <a:latin typeface="Ubuntu"/>
                        </a:rPr>
                        <a:t>87 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67123">
                <a:tc>
                  <a:txBody>
                    <a:bodyPr/>
                    <a:lstStyle/>
                    <a:p>
                      <a:pPr>
                        <a:buNone/>
                      </a:pPr>
                      <a:r>
                        <a:rPr lang="en-US" sz="1200" dirty="0">
                          <a:latin typeface="Ubuntu"/>
                        </a:rPr>
                        <a:t>Point C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200" dirty="0">
                          <a:latin typeface="Ubuntu"/>
                        </a:rPr>
                        <a:t>64 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buNone/>
                      </a:pPr>
                      <a:r>
                        <a:rPr lang="en-US" sz="1200" dirty="0">
                          <a:latin typeface="Ubuntu"/>
                        </a:rPr>
                        <a:t>56 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r>
              <a:tr h="267123">
                <a:tc>
                  <a:txBody>
                    <a:bodyPr/>
                    <a:lstStyle/>
                    <a:p>
                      <a:pPr>
                        <a:buNone/>
                      </a:pPr>
                      <a:r>
                        <a:rPr lang="en-US" sz="1200" dirty="0">
                          <a:latin typeface="Ubuntu"/>
                        </a:rPr>
                        <a:t>Point 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200" dirty="0">
                          <a:latin typeface="Ubuntu"/>
                        </a:rPr>
                        <a:t>37 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32 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91 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67123">
                <a:tc>
                  <a:txBody>
                    <a:bodyPr/>
                    <a:lstStyle/>
                    <a:p>
                      <a:pPr>
                        <a:buNone/>
                      </a:pPr>
                      <a:r>
                        <a:rPr lang="en-US" sz="1200" dirty="0">
                          <a:latin typeface="Ubuntu"/>
                        </a:rPr>
                        <a:t>Point 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200" dirty="0">
                          <a:latin typeface="Ubuntu"/>
                        </a:rPr>
                        <a:t>93 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buNone/>
                      </a:pPr>
                      <a:r>
                        <a:rPr lang="en-US" sz="1200" dirty="0">
                          <a:latin typeface="Ubuntu"/>
                        </a:rPr>
                        <a:t>35 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buNone/>
                      </a:pPr>
                      <a:r>
                        <a:rPr lang="en-US" sz="1200" dirty="0">
                          <a:latin typeface="Ubuntu"/>
                        </a:rPr>
                        <a:t>54 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buNone/>
                      </a:pPr>
                      <a:r>
                        <a:rPr lang="en-US" sz="1200" dirty="0">
                          <a:latin typeface="Ubuntu"/>
                        </a:rPr>
                        <a:t>43 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D3DFEE"/>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776986" y="478536"/>
            <a:ext cx="10515600" cy="323596"/>
          </a:xfrm>
          <a:prstGeom prst="rect">
            <a:avLst/>
          </a:prstGeom>
          <a:noFill/>
          <a:ln>
            <a:noFill/>
          </a:ln>
        </p:spPr>
        <p:txBody>
          <a:bodyPr wrap="square" anchor="t" rtlCol="0">
            <a:normAutofit/>
          </a:bodyPr>
          <a:lstStyle/>
          <a:p>
            <a:pPr>
              <a:buNone/>
            </a:pPr>
            <a:r>
              <a:rPr lang="en-US" sz="1200" dirty="0">
                <a:solidFill>
                  <a:srgbClr val="000000"/>
                </a:solidFill>
                <a:latin typeface="Ubuntu"/>
              </a:rPr>
              <a:t>Next, we see a table with special formatting in various locations. Notice how the formatting for the header row and sub header rows is preserved.</a:t>
            </a:r>
            <a:endParaRPr lang="en-US" sz="1200" dirty="0"/>
          </a:p>
        </p:txBody>
      </p:sp>
      <p:graphicFrame>
        <p:nvGraphicFramePr>
          <p:cNvPr id="3" name="Table 3"/>
          <p:cNvGraphicFramePr>
            <a:graphicFrameLocks noGrp="1"/>
          </p:cNvGraphicFramePr>
          <p:nvPr/>
        </p:nvGraphicFramePr>
        <p:xfrm>
          <a:off x="898017" y="918464"/>
          <a:ext cx="9936099" cy="2153920"/>
        </p:xfrm>
        <a:graphic>
          <a:graphicData uri="http://schemas.openxmlformats.org/drawingml/2006/table">
            <a:tbl>
              <a:tblPr firstRow="1"/>
              <a:tblGrid>
                <a:gridCol w="2912305"/>
                <a:gridCol w="2398369"/>
                <a:gridCol w="3426241"/>
                <a:gridCol w="1199184"/>
              </a:tblGrid>
              <a:tr h="269240">
                <a:tc>
                  <a:txBody>
                    <a:bodyPr/>
                    <a:lstStyle/>
                    <a:p>
                      <a:pPr>
                        <a:buNone/>
                      </a:pPr>
                      <a:r>
                        <a:rPr lang="en-US" sz="1200" b="1" dirty="0">
                          <a:solidFill>
                            <a:srgbClr val="FFFFFF"/>
                          </a:solidFill>
                          <a:latin typeface="Ubuntu"/>
                        </a:rPr>
                        <a:t>College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4BACC6"/>
                    </a:solidFill>
                  </a:tcPr>
                </a:tc>
                <a:tc>
                  <a:txBody>
                    <a:bodyPr/>
                    <a:lstStyle/>
                    <a:p>
                      <a:pPr>
                        <a:buNone/>
                      </a:pPr>
                      <a:r>
                        <a:rPr lang="en-US" sz="1200" b="1" dirty="0">
                          <a:solidFill>
                            <a:srgbClr val="FFFFFF"/>
                          </a:solidFill>
                          <a:latin typeface="Ubuntu"/>
                        </a:rPr>
                        <a:t>New students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4BACC6"/>
                    </a:solidFill>
                  </a:tcPr>
                </a:tc>
                <a:tc>
                  <a:txBody>
                    <a:bodyPr/>
                    <a:lstStyle/>
                    <a:p>
                      <a:pPr>
                        <a:buNone/>
                      </a:pPr>
                      <a:r>
                        <a:rPr lang="en-US" sz="1200" b="1" dirty="0">
                          <a:solidFill>
                            <a:srgbClr val="FFFFFF"/>
                          </a:solidFill>
                          <a:latin typeface="Ubuntu"/>
                        </a:rPr>
                        <a:t>Graduating students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4BACC6"/>
                    </a:solidFill>
                  </a:tcPr>
                </a:tc>
                <a:tc>
                  <a:txBody>
                    <a:bodyPr/>
                    <a:lstStyle/>
                    <a:p>
                      <a:pPr>
                        <a:buNone/>
                      </a:pPr>
                      <a:r>
                        <a:rPr lang="en-US" sz="1200" b="1" dirty="0">
                          <a:solidFill>
                            <a:srgbClr val="FFFFFF"/>
                          </a:solidFill>
                          <a:latin typeface="Ubuntu"/>
                        </a:rPr>
                        <a:t>Change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4BACC6"/>
                    </a:solidFill>
                  </a:tcPr>
                </a:tc>
              </a:tr>
              <a:tr h="269240">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i="1" dirty="0">
                          <a:solidFill>
                            <a:srgbClr val="808080"/>
                          </a:solidFill>
                          <a:latin typeface="Ubuntu"/>
                        </a:rPr>
                        <a:t>Undergraduate</a:t>
                      </a:r>
                      <a:r>
                        <a:rPr lang="en-US" sz="1200" dirty="0">
                          <a:solidFill>
                            <a:srgbClr val="808080"/>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Cedar University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110 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103 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+7 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Oak Institute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202 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210 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-8 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i="1" dirty="0">
                          <a:solidFill>
                            <a:srgbClr val="808080"/>
                          </a:solidFill>
                          <a:latin typeface="Ubuntu"/>
                        </a:rPr>
                        <a:t>Graduate</a:t>
                      </a:r>
                      <a:r>
                        <a:rPr lang="en-US" sz="1200" dirty="0">
                          <a:solidFill>
                            <a:srgbClr val="808080"/>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Cedar University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24 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20 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+4 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Elm College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43 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53 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-10 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269240">
                <a:tc>
                  <a:txBody>
                    <a:bodyPr/>
                    <a:lstStyle/>
                    <a:p>
                      <a:pPr>
                        <a:buNone/>
                      </a:pPr>
                      <a:r>
                        <a:rPr lang="en-US" sz="1200" dirty="0">
                          <a:latin typeface="Ubuntu"/>
                        </a:rPr>
                        <a:t>Total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100" dirty="0">
                          <a:latin typeface="Ubuntu"/>
                        </a:rPr>
                        <a:t>998 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100" dirty="0">
                          <a:latin typeface="Ubuntu"/>
                        </a:rPr>
                        <a:t>908 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a:buNone/>
                      </a:pPr>
                      <a:r>
                        <a:rPr lang="en-US" sz="1100" dirty="0">
                          <a:latin typeface="Ubuntu"/>
                        </a:rPr>
                        <a:t>90 </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4" name="Text 4"/>
          <p:cNvSpPr txBox="1"/>
          <p:nvPr/>
        </p:nvSpPr>
        <p:spPr>
          <a:xfrm>
            <a:off x="775589" y="3184017"/>
            <a:ext cx="6096000" cy="246253"/>
          </a:xfrm>
          <a:prstGeom prst="rect">
            <a:avLst/>
          </a:prstGeom>
          <a:noFill/>
          <a:ln>
            <a:noFill/>
          </a:ln>
        </p:spPr>
        <p:txBody>
          <a:bodyPr wrap="square" anchor="t" rtlCol="0">
            <a:normAutofit/>
          </a:bodyPr>
          <a:lstStyle/>
          <a:p>
            <a:pPr>
              <a:buNone/>
            </a:pPr>
            <a:r>
              <a:rPr lang="en-US" sz="1000" i="1" dirty="0">
                <a:solidFill>
                  <a:srgbClr val="808080"/>
                </a:solidFill>
                <a:latin typeface="Ubuntu"/>
              </a:rPr>
              <a:t>Source:</a:t>
            </a:r>
            <a:r>
              <a:rPr lang="en-US" sz="1000" dirty="0">
                <a:solidFill>
                  <a:srgbClr val="000000"/>
                </a:solidFill>
                <a:latin typeface="Ubuntu"/>
              </a:rPr>
              <a:t> Fictitious data, for illustration purposes only</a:t>
            </a:r>
            <a:r>
              <a:rPr lang="en-US" sz="1000" dirty="0">
                <a:solidFill>
                  <a:srgbClr val="000000"/>
                </a:solidFill>
                <a:latin typeface="Ubuntu"/>
              </a:rPr>
              <a:t> </a:t>
            </a:r>
            <a:endParaRPr lang="en-US" sz="1000" dirty="0"/>
          </a:p>
        </p:txBody>
      </p:sp>
      <p:sp>
        <p:nvSpPr>
          <p:cNvPr id="5" name="Text 5"/>
          <p:cNvSpPr txBox="1"/>
          <p:nvPr/>
        </p:nvSpPr>
        <p:spPr>
          <a:xfrm>
            <a:off x="830072" y="3429000"/>
            <a:ext cx="10001250" cy="461645"/>
          </a:xfrm>
          <a:prstGeom prst="rect">
            <a:avLst/>
          </a:prstGeom>
          <a:noFill/>
          <a:ln>
            <a:noFill/>
          </a:ln>
        </p:spPr>
        <p:txBody>
          <a:bodyPr wrap="square" anchor="t" rtlCol="0">
            <a:normAutofit/>
          </a:bodyPr>
          <a:lstStyle/>
          <a:p>
            <a:pPr>
              <a:buNone/>
            </a:pPr>
            <a:r>
              <a:rPr lang="en-US" sz="1200" dirty="0">
                <a:solidFill>
                  <a:srgbClr val="000000"/>
                </a:solidFill>
                <a:latin typeface="Ubuntu"/>
              </a:rPr>
              <a:t>Next, we have something a little more complex, a nested table, i.e. a table inside another table. Additionally, the inner table has some of its cells merged. The table is displayed horizontally centered.</a:t>
            </a:r>
            <a:r>
              <a:rPr lang="en-US" sz="1200" dirty="0">
                <a:solidFill>
                  <a:srgbClr val="000000"/>
                </a:solidFill>
                <a:latin typeface="Ubuntu"/>
              </a:rPr>
              <a:t> </a:t>
            </a:r>
            <a:endParaRPr lang="en-US" sz="1200" dirty="0"/>
          </a:p>
        </p:txBody>
      </p:sp>
      <p:graphicFrame>
        <p:nvGraphicFramePr>
          <p:cNvPr id="6" name="Table 6"/>
          <p:cNvGraphicFramePr>
            <a:graphicFrameLocks noGrp="1"/>
          </p:cNvGraphicFramePr>
          <p:nvPr/>
        </p:nvGraphicFramePr>
        <p:xfrm>
          <a:off x="4183507" y="4333494"/>
          <a:ext cx="1647825" cy="599440"/>
        </p:xfrm>
        <a:graphic>
          <a:graphicData uri="http://schemas.openxmlformats.org/drawingml/2006/table">
            <a:tbl>
              <a:tblPr firstRow="1"/>
              <a:tblGrid>
                <a:gridCol w="1132880"/>
                <a:gridCol w="514945"/>
              </a:tblGrid>
              <a:tr h="299720">
                <a:tc rowSpan="2">
                  <a:txBody>
                    <a:bodyPr/>
                    <a:lstStyle/>
                    <a:p>
                      <a:pPr>
                        <a:buNone/>
                      </a:pPr>
                      <a:r>
                        <a:rPr lang="en-US" sz="1200" dirty="0">
                          <a:latin typeface="Ubuntu"/>
                        </a:rPr>
                        <a:t>One </a:t>
                      </a:r>
                      <a:endParaRPr lang="en-US" sz="1200" dirty="0"/>
                    </a:p>
                    <a:p>
                      <a:pPr>
                        <a:buNone/>
                      </a:pPr>
                      <a:r>
                        <a:rPr lang="en-US" sz="1200" dirty="0">
                          <a:latin typeface="Ubuntu"/>
                        </a:rPr>
                        <a:t>Three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299720">
                <a:tc v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Four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graphicFrame>
        <p:nvGraphicFramePr>
          <p:cNvPr id="7" name="Table 7"/>
          <p:cNvGraphicFramePr>
            <a:graphicFrameLocks noGrp="1"/>
          </p:cNvGraphicFramePr>
          <p:nvPr/>
        </p:nvGraphicFramePr>
        <p:xfrm>
          <a:off x="3910711" y="4301871"/>
          <a:ext cx="4248150" cy="910717"/>
        </p:xfrm>
        <a:graphic>
          <a:graphicData uri="http://schemas.openxmlformats.org/drawingml/2006/table">
            <a:tbl>
              <a:tblPr firstRow="1"/>
              <a:tblGrid>
                <a:gridCol w="386195"/>
                <a:gridCol w="3861955"/>
              </a:tblGrid>
              <a:tr h="910717">
                <a:tc>
                  <a:txBody>
                    <a:bodyPr/>
                    <a:lstStyle/>
                    <a:p>
                      <a:pPr>
                        <a:buNone/>
                      </a:pPr>
                      <a:r>
                        <a:rPr lang="en-US" sz="1200" dirty="0">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latin typeface="Ubuntu"/>
                        </a:rPr>
                        <a:t>To the left is a table inside a table, with some cells merged.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838200" y="281178"/>
            <a:ext cx="10515600" cy="5895721"/>
          </a:xfrm>
          <a:prstGeom prst="rect">
            <a:avLst/>
          </a:prstGeom>
          <a:noFill/>
          <a:ln>
            <a:noFill/>
          </a:ln>
        </p:spPr>
        <p:txBody>
          <a:bodyPr wrap="square" anchor="t" rtlCol="0">
            <a:normAutofit/>
          </a:bodyPr>
          <a:lstStyle/>
          <a:p>
            <a:pPr>
              <a:buNone/>
            </a:pPr>
            <a:r>
              <a:rPr lang="en-US" sz="1200" dirty="0">
                <a:solidFill>
                  <a:srgbClr val="000000"/>
                </a:solidFill>
                <a:latin typeface="Ubuntu"/>
              </a:rPr>
              <a:t> We end with a fancy calendar, note how much of the original formatting is preserved. Note that this table will only display correctly on relatively wide screens. In general, very wide tables or tables whose cells have fixed width requirements don’t fare well in </a:t>
            </a:r>
            <a:r>
              <a:rPr lang="en-US" sz="1200" dirty="0">
                <a:solidFill>
                  <a:srgbClr val="000000"/>
                </a:solidFill>
                <a:latin typeface="Ubuntu"/>
              </a:rPr>
              <a:t>ebooks</a:t>
            </a:r>
            <a:r>
              <a:rPr lang="en-US" sz="1200" dirty="0">
                <a:solidFill>
                  <a:srgbClr val="000000"/>
                </a:solidFill>
                <a:latin typeface="Ubuntu"/>
              </a:rPr>
              <a:t>.</a:t>
            </a:r>
            <a:endParaRPr lang="en-US" sz="1200" dirty="0"/>
          </a:p>
        </p:txBody>
      </p:sp>
      <p:graphicFrame>
        <p:nvGraphicFramePr>
          <p:cNvPr id="3" name="Table 3"/>
          <p:cNvGraphicFramePr>
            <a:graphicFrameLocks noGrp="1"/>
          </p:cNvGraphicFramePr>
          <p:nvPr/>
        </p:nvGraphicFramePr>
        <p:xfrm>
          <a:off x="2764028" y="1231900"/>
          <a:ext cx="6664071" cy="4394200"/>
        </p:xfrm>
        <a:graphic>
          <a:graphicData uri="http://schemas.openxmlformats.org/drawingml/2006/table">
            <a:tbl>
              <a:tblPr firstRow="1"/>
              <a:tblGrid>
                <a:gridCol w="476005"/>
                <a:gridCol w="476005"/>
                <a:gridCol w="476005"/>
                <a:gridCol w="476005"/>
                <a:gridCol w="476005"/>
                <a:gridCol w="476005"/>
                <a:gridCol w="476005"/>
                <a:gridCol w="476005"/>
                <a:gridCol w="476005"/>
                <a:gridCol w="476005"/>
                <a:gridCol w="476005"/>
                <a:gridCol w="476005"/>
                <a:gridCol w="476005"/>
                <a:gridCol w="476005"/>
              </a:tblGrid>
              <a:tr h="338015">
                <a:tc gridSpan="13">
                  <a:txBody>
                    <a:bodyPr/>
                    <a:lstStyle/>
                    <a:p>
                      <a:pPr>
                        <a:buNone/>
                      </a:pPr>
                      <a:r>
                        <a:rPr lang="en-US" sz="1200" dirty="0">
                          <a:solidFill>
                            <a:srgbClr val="365F91"/>
                          </a:solidFill>
                          <a:latin typeface="Ubuntu"/>
                        </a:rPr>
                        <a:t>December 2007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buNone/>
                      </a:pPr>
                      <a:r>
                        <a:rPr lang="en-US" sz="1200" dirty="0">
                          <a:solidFill>
                            <a:srgbClr val="365F91"/>
                          </a:solidFill>
                          <a:latin typeface="Ubuntu"/>
                        </a:rPr>
                        <a:t>Sun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Mon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Tue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Wed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Thu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Fri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Sat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buNone/>
                      </a:pPr>
                      <a:r>
                        <a:rPr lang="en-US" sz="1200" dirty="0">
                          <a:solidFill>
                            <a:srgbClr val="365F91"/>
                          </a:solidFill>
                          <a:latin typeface="Ubuntu"/>
                        </a:rPr>
                        <a:t>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buNone/>
                      </a:pPr>
                      <a:r>
                        <a:rPr lang="en-US" sz="1200" dirty="0">
                          <a:solidFill>
                            <a:srgbClr val="365F91"/>
                          </a:solidFill>
                          <a:latin typeface="Ubuntu"/>
                        </a:rPr>
                        <a:t>9 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10 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11 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12 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13 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14 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15 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buNone/>
                      </a:pPr>
                      <a:r>
                        <a:rPr lang="en-US" sz="1200" dirty="0">
                          <a:solidFill>
                            <a:srgbClr val="365F91"/>
                          </a:solidFill>
                          <a:latin typeface="Ubuntu"/>
                        </a:rPr>
                        <a:t>16 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17 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18 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19 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20 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21 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22 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buNone/>
                      </a:pPr>
                      <a:r>
                        <a:rPr lang="en-US" sz="1200" dirty="0">
                          <a:solidFill>
                            <a:srgbClr val="365F91"/>
                          </a:solidFill>
                          <a:latin typeface="Ubuntu"/>
                        </a:rPr>
                        <a:t>23 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24 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25 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26 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27 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28 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29 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buNone/>
                      </a:pPr>
                      <a:r>
                        <a:rPr lang="en-US" sz="1200" dirty="0">
                          <a:solidFill>
                            <a:srgbClr val="365F91"/>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8015">
                <a:tc>
                  <a:txBody>
                    <a:bodyPr/>
                    <a:lstStyle/>
                    <a:p>
                      <a:pPr>
                        <a:buNone/>
                      </a:pPr>
                      <a:r>
                        <a:rPr lang="en-US" sz="1200" dirty="0">
                          <a:solidFill>
                            <a:srgbClr val="365F91"/>
                          </a:solidFill>
                          <a:latin typeface="Ubuntu"/>
                        </a:rPr>
                        <a:t>30 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31 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solidFill>
                            <a:srgbClr val="7F7F7F"/>
                          </a:solidFill>
                          <a:latin typeface="Ubuntu"/>
                        </a:rPr>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838200" y="365125"/>
            <a:ext cx="10515600" cy="1325626"/>
          </a:xfrm>
          <a:prstGeom prst="rect">
            <a:avLst/>
          </a:prstGeom>
          <a:noFill/>
          <a:ln>
            <a:noFill/>
          </a:ln>
        </p:spPr>
        <p:txBody>
          <a:bodyPr wrap="square" lIns="91440" tIns="45720" rIns="91440" bIns="45720" anchor="ctr" rtlCol="0">
            <a:normAutofit/>
          </a:bodyPr>
          <a:lstStyle/>
          <a:p>
            <a:pPr>
              <a:buNone/>
            </a:pPr>
            <a:r>
              <a:rPr lang="en-US" sz="1400" b="1" dirty="0">
                <a:solidFill>
                  <a:srgbClr val="365F91"/>
                </a:solidFill>
                <a:latin typeface="Ubuntu"/>
              </a:rPr>
              <a:t>Structural Elements</a:t>
            </a:r>
            <a:endParaRPr lang="en-US" sz="1400" dirty="0"/>
          </a:p>
        </p:txBody>
      </p:sp>
      <p:sp>
        <p:nvSpPr>
          <p:cNvPr id="3" name="Text 3"/>
          <p:cNvSpPr txBox="1"/>
          <p:nvPr/>
        </p:nvSpPr>
        <p:spPr>
          <a:xfrm>
            <a:off x="838200" y="1825625"/>
            <a:ext cx="10515600" cy="4351401"/>
          </a:xfrm>
          <a:prstGeom prst="rect">
            <a:avLst/>
          </a:prstGeom>
          <a:noFill/>
          <a:ln>
            <a:noFill/>
          </a:ln>
        </p:spPr>
        <p:txBody>
          <a:bodyPr wrap="square" anchor="t" rtlCol="0">
            <a:normAutofit/>
          </a:bodyPr>
          <a:lstStyle/>
          <a:p>
            <a:pPr>
              <a:buNone/>
            </a:pPr>
            <a:r>
              <a:rPr lang="en-US" sz="1200" dirty="0">
                <a:solidFill>
                  <a:srgbClr val="000000"/>
                </a:solidFill>
                <a:latin typeface="Ubuntu"/>
              </a:rPr>
              <a:t>Miscellaneous structural elements you can add to your document, like footnotes, endnotes, </a:t>
            </a:r>
            <a:r>
              <a:rPr lang="en-US" sz="1200" dirty="0">
                <a:solidFill>
                  <a:srgbClr val="000000"/>
                </a:solidFill>
                <a:latin typeface="Ubuntu"/>
              </a:rPr>
              <a:t>dropcaps</a:t>
            </a:r>
            <a:r>
              <a:rPr lang="en-US" sz="1200" dirty="0">
                <a:solidFill>
                  <a:srgbClr val="000000"/>
                </a:solidFill>
                <a:latin typeface="Ubuntu"/>
              </a:rPr>
              <a:t> and the like. </a:t>
            </a:r>
            <a:endParaRPr lang="en-US" sz="1200" dirty="0"/>
          </a:p>
          <a:p>
            <a:pPr>
              <a:buNone/>
            </a:pPr>
            <a:r>
              <a:rPr lang="en-US" sz="1300" b="1" dirty="0">
                <a:solidFill>
                  <a:srgbClr val="4F81BD"/>
                </a:solidFill>
                <a:latin typeface="Ubuntu"/>
              </a:rPr>
              <a:t>Footnotes &amp; Endnotes</a:t>
            </a:r>
            <a:endParaRPr lang="en-US" sz="1300" dirty="0"/>
          </a:p>
          <a:p>
            <a:pPr>
              <a:buNone/>
            </a:pPr>
            <a:r>
              <a:rPr lang="en-US" sz="1200" dirty="0">
                <a:solidFill>
                  <a:srgbClr val="000000"/>
                </a:solidFill>
                <a:latin typeface="Ubuntu"/>
              </a:rPr>
              <a:t>Footnotes</a:t>
            </a:r>
            <a:r>
              <a:rPr lang="en-US" sz="1200" baseline="30000" dirty="0">
                <a:solidFill>
                  <a:srgbClr val="000000"/>
                </a:solidFill>
                <a:latin typeface="Ubuntu"/>
              </a:rPr>
              <a:t>1</a:t>
            </a:r>
            <a:r>
              <a:rPr lang="en-US" sz="1200" dirty="0">
                <a:solidFill>
                  <a:srgbClr val="000000"/>
                </a:solidFill>
                <a:latin typeface="Ubuntu"/>
              </a:rPr>
              <a:t> and </a:t>
            </a:r>
            <a:r>
              <a:rPr lang="en-US" sz="1200" dirty="0">
                <a:solidFill>
                  <a:srgbClr val="000000"/>
                </a:solidFill>
                <a:latin typeface="Ubuntu"/>
              </a:rPr>
              <a:t>endnotes</a:t>
            </a:r>
            <a:r>
              <a:rPr lang="en-US" sz="1200" baseline="30000" dirty="0">
                <a:solidFill>
                  <a:srgbClr val="000000"/>
                </a:solidFill>
                <a:latin typeface="Ubuntu"/>
              </a:rPr>
              <a:t>i</a:t>
            </a:r>
            <a:r>
              <a:rPr lang="en-US" sz="1200" dirty="0">
                <a:solidFill>
                  <a:srgbClr val="000000"/>
                </a:solidFill>
                <a:latin typeface="Ubuntu"/>
              </a:rPr>
              <a:t> are automatically recognized and both are converted to endnotes, with backlinks for maximum ease of use in </a:t>
            </a:r>
            <a:r>
              <a:rPr lang="en-US" sz="1200" dirty="0">
                <a:solidFill>
                  <a:srgbClr val="000000"/>
                </a:solidFill>
                <a:latin typeface="Ubuntu"/>
              </a:rPr>
              <a:t>ebook</a:t>
            </a:r>
            <a:r>
              <a:rPr lang="en-US" sz="1200" dirty="0">
                <a:solidFill>
                  <a:srgbClr val="000000"/>
                </a:solidFill>
                <a:latin typeface="Ubuntu"/>
              </a:rPr>
              <a:t> devices.</a:t>
            </a:r>
            <a:endParaRPr lang="en-US" sz="1200" dirty="0"/>
          </a:p>
          <a:p>
            <a:pPr>
              <a:buNone/>
            </a:pPr>
            <a:r>
              <a:rPr lang="en-US" sz="1300" b="1" dirty="0">
                <a:solidFill>
                  <a:srgbClr val="4F81BD"/>
                </a:solidFill>
                <a:latin typeface="Ubuntu"/>
              </a:rPr>
              <a:t>Dropcaps</a:t>
            </a:r>
            <a:endParaRPr lang="en-US" sz="1300" dirty="0"/>
          </a:p>
          <a:p>
            <a:pPr>
              <a:buNone/>
            </a:pPr>
            <a:r>
              <a:rPr lang="en-US" sz="5900" dirty="0">
                <a:solidFill>
                  <a:srgbClr val="000000"/>
                </a:solidFill>
                <a:latin typeface="Ubuntu"/>
              </a:rPr>
              <a:t>D</a:t>
            </a:r>
            <a:endParaRPr lang="en-US" sz="5900" dirty="0"/>
          </a:p>
          <a:p>
            <a:pPr>
              <a:buNone/>
            </a:pPr>
            <a:r>
              <a:rPr lang="en-US" sz="1200" dirty="0">
                <a:solidFill>
                  <a:srgbClr val="000000"/>
                </a:solidFill>
                <a:latin typeface="Ubuntu"/>
              </a:rPr>
              <a:t>rop</a:t>
            </a:r>
            <a:r>
              <a:rPr lang="en-US" sz="1200" dirty="0">
                <a:solidFill>
                  <a:srgbClr val="000000"/>
                </a:solidFill>
                <a:latin typeface="Ubuntu"/>
              </a:rPr>
              <a:t> caps are used to emphasize the leading paragraph at the start of a section. In Word it is possible to specify how many lines of text a drop-cap should use. </a:t>
            </a:r>
            <a:endParaRPr lang="en-US" sz="1200" dirty="0"/>
          </a:p>
          <a:p>
            <a:pPr>
              <a:buNone/>
            </a:pPr>
            <a:r>
              <a:rPr lang="en-US" sz="1300" b="1" dirty="0">
                <a:solidFill>
                  <a:srgbClr val="4F81BD"/>
                </a:solidFill>
                <a:latin typeface="Ubuntu"/>
              </a:rPr>
              <a:t>Links</a:t>
            </a:r>
            <a:endParaRPr lang="en-US" sz="1300" dirty="0"/>
          </a:p>
          <a:p>
            <a:pPr>
              <a:buNone/>
            </a:pPr>
            <a:r>
              <a:rPr lang="en-US" sz="1200" dirty="0">
                <a:solidFill>
                  <a:srgbClr val="000000"/>
                </a:solidFill>
                <a:latin typeface="Ubuntu"/>
              </a:rPr>
              <a:t>Two kinds of links are possible, those that refer to an external website and those that refer to locations inside the document itself. Both are supported by </a:t>
            </a:r>
            <a:r>
              <a:rPr lang="en-US" sz="1200" dirty="0">
                <a:solidFill>
                  <a:srgbClr val="000000"/>
                </a:solidFill>
                <a:latin typeface="Ubuntu"/>
              </a:rPr>
              <a:t>calibre</a:t>
            </a:r>
            <a:r>
              <a:rPr lang="en-US" sz="1200" dirty="0">
                <a:solidFill>
                  <a:srgbClr val="000000"/>
                </a:solidFill>
                <a:latin typeface="Ubuntu"/>
              </a:rPr>
              <a:t>. For example, here is a link pointing to the </a:t>
            </a:r>
            <a:r>
              <a:rPr lang="en-US" sz="1200" u="sng" dirty="0">
                <a:solidFill>
                  <a:srgbClr val="000000"/>
                </a:solidFill>
                <a:latin typeface="Ubuntu"/>
                <a:hlinkClick r:id="rId2"/>
              </a:rPr>
              <a:t>calibre download page</a:t>
            </a:r>
            <a:r>
              <a:rPr lang="en-US" sz="1200" dirty="0">
                <a:solidFill>
                  <a:srgbClr val="000000"/>
                </a:solidFill>
                <a:latin typeface="Ubuntu"/>
              </a:rPr>
              <a:t>. Then we have a link that points back to the section on </a:t>
            </a:r>
            <a:r>
              <a:rPr lang="en-US" sz="1200" u="sng" dirty="0">
                <a:solidFill>
                  <a:srgbClr val="000000"/>
                </a:solidFill>
                <a:latin typeface="Ubuntu"/>
              </a:rPr>
              <a:t>paragraph level formatting</a:t>
            </a:r>
            <a:r>
              <a:rPr lang="en-US" sz="1200" dirty="0">
                <a:solidFill>
                  <a:srgbClr val="000000"/>
                </a:solidFill>
                <a:latin typeface="Ubuntu"/>
              </a:rPr>
              <a:t> in this document.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838200" y="365125"/>
            <a:ext cx="10515600" cy="289560"/>
          </a:xfrm>
          <a:prstGeom prst="rect">
            <a:avLst/>
          </a:prstGeom>
          <a:noFill/>
          <a:ln>
            <a:noFill/>
          </a:ln>
        </p:spPr>
        <p:txBody>
          <a:bodyPr wrap="square" lIns="91440" tIns="45720" rIns="91440" bIns="45720" anchor="ctr" rtlCol="0">
            <a:normAutofit/>
          </a:bodyPr>
          <a:lstStyle/>
          <a:p>
            <a:pPr>
              <a:buNone/>
            </a:pPr>
            <a:r>
              <a:rPr lang="en-US" sz="1400" b="1" dirty="0">
                <a:solidFill>
                  <a:srgbClr val="365F91"/>
                </a:solidFill>
                <a:latin typeface="Ubuntu"/>
              </a:rPr>
              <a:t>Images</a:t>
            </a:r>
            <a:endParaRPr lang="en-US" sz="1400" dirty="0"/>
          </a:p>
        </p:txBody>
      </p:sp>
      <p:sp>
        <p:nvSpPr>
          <p:cNvPr id="3" name="Text 3"/>
          <p:cNvSpPr txBox="1"/>
          <p:nvPr/>
        </p:nvSpPr>
        <p:spPr>
          <a:xfrm>
            <a:off x="838200" y="825754"/>
            <a:ext cx="10911459" cy="4364355"/>
          </a:xfrm>
          <a:prstGeom prst="rect">
            <a:avLst/>
          </a:prstGeom>
          <a:noFill/>
          <a:ln>
            <a:noFill/>
          </a:ln>
        </p:spPr>
        <p:txBody>
          <a:bodyPr wrap="square" anchor="t" rtlCol="0">
            <a:normAutofit/>
          </a:bodyPr>
          <a:lstStyle/>
          <a:p>
            <a:pPr>
              <a:buNone/>
            </a:pPr>
            <a:r>
              <a:rPr lang="en-US" sz="1200" dirty="0">
                <a:solidFill>
                  <a:srgbClr val="000000"/>
                </a:solidFill>
                <a:latin typeface="Ubuntu"/>
              </a:rPr>
              <a:t>Centered images like this are useful for large pictures that should be a focus of attention. </a:t>
            </a:r>
            <a:endParaRPr lang="en-US" sz="1200" dirty="0"/>
          </a:p>
        </p:txBody>
      </p:sp>
      <p:pic>
        <p:nvPicPr>
          <p:cNvPr id="4" name="Picture 4"/>
          <p:cNvPicPr>
            <a:picLocks noChangeAspect="1"/>
          </p:cNvPicPr>
          <p:nvPr/>
        </p:nvPicPr>
        <p:blipFill>
          <a:blip r:embed="rId2"/>
          <a:stretch>
            <a:fillRect/>
          </a:stretch>
        </p:blipFill>
        <p:spPr>
          <a:xfrm>
            <a:off x="4059428" y="1323086"/>
            <a:ext cx="3574542" cy="3574542"/>
          </a:xfrm>
          <a:prstGeom prst="rect">
            <a:avLst/>
          </a:prstGeom>
        </p:spPr>
      </p:pic>
      <p:sp>
        <p:nvSpPr>
          <p:cNvPr id="5" name="Text 5"/>
          <p:cNvSpPr txBox="1"/>
          <p:nvPr/>
        </p:nvSpPr>
        <p:spPr>
          <a:xfrm>
            <a:off x="1122934" y="5346065"/>
            <a:ext cx="9954133" cy="738632"/>
          </a:xfrm>
          <a:prstGeom prst="rect">
            <a:avLst/>
          </a:prstGeom>
          <a:noFill/>
          <a:ln>
            <a:noFill/>
          </a:ln>
        </p:spPr>
        <p:txBody>
          <a:bodyPr wrap="square" anchor="t" rtlCol="0">
            <a:normAutofit/>
          </a:bodyPr>
          <a:lstStyle/>
          <a:p>
            <a:pPr>
              <a:buNone/>
            </a:pPr>
            <a:r>
              <a:rPr lang="en-US" sz="1200" dirty="0">
                <a:solidFill>
                  <a:srgbClr val="000000"/>
                </a:solidFill>
                <a:latin typeface="Ubuntu"/>
              </a:rPr>
              <a:t>There is no analogous technology in ebooks, so theconversion will usually end up placingthe image either centered or floating close to the point in the text where itwas </a:t>
            </a:r>
            <a:r>
              <a:rPr lang="en-US" sz="1200" i="1" dirty="0">
                <a:solidFill>
                  <a:srgbClr val="808080"/>
                </a:solidFill>
                <a:latin typeface="Ubuntu"/>
              </a:rPr>
              <a:t>inserted</a:t>
            </a:r>
            <a:r>
              <a:rPr lang="en-US" sz="1200" dirty="0">
                <a:solidFill>
                  <a:srgbClr val="000000"/>
                </a:solidFill>
                <a:latin typeface="Ubuntu"/>
              </a:rPr>
              <a:t>, notnecessarily where it appears on the page in Word.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838200" y="215011"/>
            <a:ext cx="10515600" cy="1581023"/>
          </a:xfrm>
          <a:prstGeom prst="rect">
            <a:avLst/>
          </a:prstGeom>
          <a:noFill/>
          <a:ln>
            <a:noFill/>
          </a:ln>
        </p:spPr>
        <p:txBody>
          <a:bodyPr wrap="square" anchor="t" rtlCol="0">
            <a:normAutofit/>
          </a:bodyPr>
          <a:lstStyle/>
          <a:p>
            <a:pPr algn="ctr">
              <a:buNone/>
            </a:pPr>
            <a:r>
              <a:rPr lang="en-US" sz="1400" b="1" dirty="0">
                <a:solidFill>
                  <a:srgbClr val="365F91"/>
                </a:solidFill>
                <a:latin typeface="Ubuntu"/>
              </a:rPr>
              <a:t>Lists</a:t>
            </a:r>
            <a:endParaRPr lang="en-US" sz="1400" dirty="0"/>
          </a:p>
          <a:p>
            <a:pPr>
              <a:buNone/>
            </a:pPr>
            <a:r>
              <a:rPr lang="en-US" sz="1200" dirty="0">
                <a:solidFill>
                  <a:srgbClr val="365F91"/>
                </a:solidFill>
                <a:latin typeface="Ubuntu"/>
              </a:rPr>
              <a:t>All types of lists are supported by the conversion, with the exception of lists that use fancy bullets, these get converted to regular bullets.</a:t>
            </a:r>
            <a:endParaRPr lang="en-US" sz="1200" dirty="0"/>
          </a:p>
          <a:p>
            <a:pPr>
              <a:buNone/>
            </a:pPr>
            <a:r>
              <a:rPr lang="en-US" sz="1300" b="1" dirty="0">
                <a:solidFill>
                  <a:srgbClr val="4F81BD"/>
                </a:solidFill>
                <a:latin typeface="Ubuntu"/>
              </a:rPr>
              <a:t>Bulleted List</a:t>
            </a:r>
            <a:endParaRPr lang="en-US" sz="1300" dirty="0"/>
          </a:p>
          <a:p>
            <a:pPr marL="228600" indent="-177800">
              <a:buFont typeface="Arial"/>
              <a:buChar char="•"/>
            </a:pPr>
            <a:r>
              <a:rPr lang="en-US" sz="1200" dirty="0">
                <a:solidFill>
                  <a:srgbClr val="000000"/>
                </a:solidFill>
                <a:latin typeface="Ubuntu"/>
              </a:rPr>
              <a:t>One</a:t>
            </a:r>
            <a:endParaRPr lang="en-US" sz="1200" dirty="0"/>
          </a:p>
          <a:p>
            <a:pPr marL="228600" indent="-177800">
              <a:buFont typeface="Arial"/>
              <a:buChar char="•"/>
            </a:pPr>
            <a:r>
              <a:rPr lang="en-US" sz="1200" dirty="0">
                <a:solidFill>
                  <a:srgbClr val="000000"/>
                </a:solidFill>
                <a:latin typeface="Ubuntu"/>
              </a:rPr>
              <a:t>Two</a:t>
            </a:r>
            <a:endParaRPr lang="en-US" sz="1200" dirty="0"/>
          </a:p>
        </p:txBody>
      </p:sp>
      <p:sp>
        <p:nvSpPr>
          <p:cNvPr id="3" name="Text 3"/>
          <p:cNvSpPr txBox="1"/>
          <p:nvPr/>
        </p:nvSpPr>
        <p:spPr>
          <a:xfrm>
            <a:off x="840867" y="1721104"/>
            <a:ext cx="10116185" cy="661670"/>
          </a:xfrm>
          <a:prstGeom prst="rect">
            <a:avLst/>
          </a:prstGeom>
          <a:noFill/>
          <a:ln>
            <a:noFill/>
          </a:ln>
        </p:spPr>
        <p:txBody>
          <a:bodyPr wrap="square" anchor="t" rtlCol="0">
            <a:normAutofit/>
          </a:bodyPr>
          <a:lstStyle/>
          <a:p>
            <a:pPr>
              <a:buNone/>
            </a:pPr>
            <a:r>
              <a:rPr lang="en-US" sz="1300" b="1" dirty="0">
                <a:solidFill>
                  <a:srgbClr val="4F81BD"/>
                </a:solidFill>
                <a:latin typeface="Ubuntu"/>
              </a:rPr>
              <a:t>Numbered List</a:t>
            </a:r>
            <a:endParaRPr lang="en-US" sz="1300" dirty="0"/>
          </a:p>
          <a:p>
            <a:pPr marL="228600" indent="-177800">
              <a:buFont typeface="+mj-lt"/>
              <a:buAutoNum type="arabicPeriod"/>
            </a:pPr>
            <a:r>
              <a:rPr lang="en-US" sz="1200" dirty="0">
                <a:solidFill>
                  <a:srgbClr val="000000"/>
                </a:solidFill>
                <a:latin typeface="Ubuntu"/>
              </a:rPr>
              <a:t>One, with a very long line to demonstrate that the hanging indent for the list is working correctly</a:t>
            </a:r>
            <a:endParaRPr lang="en-US" sz="1200" dirty="0"/>
          </a:p>
          <a:p>
            <a:pPr marL="228600" indent="-177800">
              <a:buFont typeface="+mj-lt"/>
              <a:buAutoNum type="arabicPeriod"/>
            </a:pPr>
            <a:r>
              <a:rPr lang="en-US" sz="1200" dirty="0">
                <a:solidFill>
                  <a:srgbClr val="000000"/>
                </a:solidFill>
                <a:latin typeface="Ubuntu"/>
              </a:rPr>
              <a:t>Two</a:t>
            </a:r>
            <a:endParaRPr lang="en-US" sz="1200" dirty="0"/>
          </a:p>
        </p:txBody>
      </p:sp>
      <p:sp>
        <p:nvSpPr>
          <p:cNvPr id="4" name="Text 4"/>
          <p:cNvSpPr txBox="1"/>
          <p:nvPr/>
        </p:nvSpPr>
        <p:spPr>
          <a:xfrm>
            <a:off x="880237" y="2391156"/>
            <a:ext cx="10510393" cy="1677416"/>
          </a:xfrm>
          <a:prstGeom prst="rect">
            <a:avLst/>
          </a:prstGeom>
          <a:noFill/>
          <a:ln>
            <a:noFill/>
          </a:ln>
        </p:spPr>
        <p:txBody>
          <a:bodyPr wrap="square" anchor="t" rtlCol="0">
            <a:normAutofit/>
          </a:bodyPr>
          <a:lstStyle/>
          <a:p>
            <a:pPr>
              <a:buNone/>
            </a:pPr>
            <a:r>
              <a:rPr lang="en-US" sz="1300" b="1" dirty="0">
                <a:solidFill>
                  <a:srgbClr val="4F81BD"/>
                </a:solidFill>
                <a:latin typeface="Ubuntu"/>
              </a:rPr>
              <a:t>Multi-level Lists</a:t>
            </a:r>
            <a:endParaRPr lang="en-US" sz="1300" dirty="0"/>
          </a:p>
          <a:p>
            <a:pPr marL="228600" indent="-177800">
              <a:buFont typeface="+mj-lt"/>
              <a:buAutoNum type="arabicPeriod"/>
            </a:pPr>
            <a:r>
              <a:rPr lang="en-US" sz="1200" dirty="0">
                <a:solidFill>
                  <a:srgbClr val="000000"/>
                </a:solidFill>
                <a:latin typeface="Ubuntu"/>
              </a:rPr>
              <a:t>One</a:t>
            </a:r>
            <a:endParaRPr lang="en-US" sz="1200" dirty="0"/>
          </a:p>
          <a:p>
            <a:pPr marL="457200" indent="-177800" lvl="1">
              <a:buFont typeface="+mj-lt"/>
              <a:buAutoNum type="arabicPeriod"/>
            </a:pPr>
            <a:r>
              <a:rPr lang="en-US" sz="1200" dirty="0">
                <a:solidFill>
                  <a:srgbClr val="000000"/>
                </a:solidFill>
                <a:latin typeface="Ubuntu"/>
              </a:rPr>
              <a:t>Two</a:t>
            </a:r>
            <a:endParaRPr lang="en-US" sz="1200" dirty="0"/>
          </a:p>
          <a:p>
            <a:pPr marL="685800" indent="-177800" lvl="2">
              <a:buFont typeface="+mj-lt"/>
              <a:buAutoNum type="arabicPeriod"/>
            </a:pPr>
            <a:r>
              <a:rPr lang="en-US" sz="1200" dirty="0">
                <a:solidFill>
                  <a:srgbClr val="000000"/>
                </a:solidFill>
                <a:latin typeface="Ubuntu"/>
              </a:rPr>
              <a:t>Three</a:t>
            </a:r>
            <a:endParaRPr lang="en-US" sz="1200" dirty="0"/>
          </a:p>
          <a:p>
            <a:pPr marL="685800" indent="-177800" lvl="2">
              <a:buFont typeface="+mj-lt"/>
              <a:buAutoNum type="arabicPeriod"/>
            </a:pPr>
            <a:r>
              <a:rPr lang="en-US" sz="1200" dirty="0">
                <a:solidFill>
                  <a:srgbClr val="000000"/>
                </a:solidFill>
                <a:latin typeface="Ubuntu"/>
              </a:rPr>
              <a:t>Four with a very long line to demonstrate that the hanging indent for the list is working correctly.</a:t>
            </a:r>
            <a:endParaRPr lang="en-US" sz="1200" dirty="0"/>
          </a:p>
          <a:p>
            <a:pPr marL="685800" indent="-177800" lvl="2">
              <a:buFont typeface="+mj-lt"/>
              <a:buAutoNum type="arabicPeriod"/>
            </a:pPr>
            <a:r>
              <a:rPr lang="en-US" sz="1200" dirty="0">
                <a:solidFill>
                  <a:srgbClr val="000000"/>
                </a:solidFill>
                <a:latin typeface="Ubuntu"/>
              </a:rPr>
              <a:t>Five</a:t>
            </a:r>
            <a:endParaRPr lang="en-US" sz="1200" dirty="0"/>
          </a:p>
          <a:p>
            <a:pPr marL="228600" indent="-177800">
              <a:buFont typeface="+mj-lt"/>
              <a:buAutoNum type="arabicPeriod"/>
            </a:pPr>
            <a:r>
              <a:rPr lang="en-US" sz="1200" dirty="0">
                <a:solidFill>
                  <a:srgbClr val="000000"/>
                </a:solidFill>
                <a:latin typeface="Ubuntu"/>
              </a:rPr>
              <a:t>Six</a:t>
            </a:r>
            <a:endParaRPr lang="en-US" sz="1200" dirty="0"/>
          </a:p>
        </p:txBody>
      </p:sp>
      <p:sp>
        <p:nvSpPr>
          <p:cNvPr id="5" name="Text 5"/>
          <p:cNvSpPr txBox="1"/>
          <p:nvPr/>
        </p:nvSpPr>
        <p:spPr>
          <a:xfrm>
            <a:off x="919607" y="3836289"/>
            <a:ext cx="10352659" cy="1200277"/>
          </a:xfrm>
          <a:prstGeom prst="rect">
            <a:avLst/>
          </a:prstGeom>
          <a:noFill/>
          <a:ln>
            <a:noFill/>
          </a:ln>
        </p:spPr>
        <p:txBody>
          <a:bodyPr wrap="square" anchor="t" rtlCol="0">
            <a:normAutofit/>
          </a:bodyPr>
          <a:lstStyle/>
          <a:p>
            <a:pPr>
              <a:buNone/>
            </a:pPr>
            <a:r>
              <a:rPr lang="en-US" sz="1200" dirty="0">
                <a:solidFill>
                  <a:srgbClr val="000000"/>
                </a:solidFill>
                <a:latin typeface="Ubuntu"/>
              </a:rPr>
              <a:t>A Multi-level list with bullets:</a:t>
            </a:r>
            <a:endParaRPr lang="en-US" sz="1200" dirty="0"/>
          </a:p>
          <a:p>
            <a:pPr marL="228600" indent="-177800">
              <a:buFont typeface="Arial"/>
              <a:buChar char="•"/>
            </a:pPr>
            <a:r>
              <a:rPr lang="en-US" sz="1200" dirty="0">
                <a:solidFill>
                  <a:srgbClr val="000000"/>
                </a:solidFill>
                <a:latin typeface="Ubuntu"/>
              </a:rPr>
              <a:t>One</a:t>
            </a:r>
            <a:endParaRPr lang="en-US" sz="1200" dirty="0"/>
          </a:p>
          <a:p>
            <a:pPr marL="457200" indent="-177800" lvl="1">
              <a:buFont typeface="Arial"/>
              <a:buChar char="•"/>
            </a:pPr>
            <a:r>
              <a:rPr lang="en-US" sz="1200" dirty="0">
                <a:solidFill>
                  <a:srgbClr val="000000"/>
                </a:solidFill>
                <a:latin typeface="Ubuntu"/>
              </a:rPr>
              <a:t>Two</a:t>
            </a:r>
            <a:endParaRPr lang="en-US" sz="1200" dirty="0"/>
          </a:p>
          <a:p>
            <a:pPr marL="685800" indent="-177800" lvl="2">
              <a:buFont typeface="Arial"/>
              <a:buChar char="•"/>
            </a:pPr>
            <a:r>
              <a:rPr lang="en-US" sz="1200" dirty="0">
                <a:solidFill>
                  <a:srgbClr val="000000"/>
                </a:solidFill>
                <a:latin typeface="Ubuntu"/>
              </a:rPr>
              <a:t>This bullet uses an image as the bullet item</a:t>
            </a:r>
            <a:endParaRPr lang="en-US" sz="1200" dirty="0"/>
          </a:p>
          <a:p>
            <a:pPr marL="914400" indent="-177800" lvl="3">
              <a:buFont typeface="Arial"/>
              <a:buChar char="•"/>
            </a:pPr>
            <a:r>
              <a:rPr lang="en-US" sz="1200" dirty="0">
                <a:solidFill>
                  <a:srgbClr val="000000"/>
                </a:solidFill>
                <a:latin typeface="Ubuntu"/>
              </a:rPr>
              <a:t>Four</a:t>
            </a:r>
            <a:endParaRPr lang="en-US" sz="1200" dirty="0"/>
          </a:p>
          <a:p>
            <a:pPr marL="228600" indent="-177800">
              <a:buFont typeface="Arial"/>
              <a:buChar char="•"/>
            </a:pPr>
            <a:r>
              <a:rPr lang="en-US" sz="1200" dirty="0">
                <a:solidFill>
                  <a:srgbClr val="000000"/>
                </a:solidFill>
                <a:latin typeface="Ubuntu"/>
              </a:rPr>
              <a:t>Five</a:t>
            </a:r>
            <a:endParaRPr lang="en-US" sz="1200" dirty="0"/>
          </a:p>
        </p:txBody>
      </p:sp>
      <p:sp>
        <p:nvSpPr>
          <p:cNvPr id="6" name="Text 6"/>
          <p:cNvSpPr txBox="1"/>
          <p:nvPr/>
        </p:nvSpPr>
        <p:spPr>
          <a:xfrm>
            <a:off x="919607" y="5084318"/>
            <a:ext cx="10208133" cy="1215771"/>
          </a:xfrm>
          <a:prstGeom prst="rect">
            <a:avLst/>
          </a:prstGeom>
          <a:noFill/>
          <a:ln>
            <a:noFill/>
          </a:ln>
        </p:spPr>
        <p:txBody>
          <a:bodyPr wrap="square" anchor="t" rtlCol="0">
            <a:normAutofit/>
          </a:bodyPr>
          <a:lstStyle/>
          <a:p>
            <a:pPr>
              <a:buNone/>
            </a:pPr>
            <a:r>
              <a:rPr lang="en-US" sz="1300" b="1" dirty="0">
                <a:solidFill>
                  <a:srgbClr val="4F81BD"/>
                </a:solidFill>
                <a:latin typeface="Ubuntu"/>
              </a:rPr>
              <a:t>Continued Lists</a:t>
            </a:r>
            <a:endParaRPr lang="en-US" sz="1300" dirty="0"/>
          </a:p>
          <a:p>
            <a:pPr marL="228600" indent="-177800">
              <a:buFont typeface="+mj-lt"/>
              <a:buAutoNum type="arabicPeriod"/>
            </a:pPr>
            <a:r>
              <a:rPr lang="en-US" sz="1200" dirty="0">
                <a:solidFill>
                  <a:srgbClr val="000000"/>
                </a:solidFill>
                <a:latin typeface="Ubuntu"/>
              </a:rPr>
              <a:t>One</a:t>
            </a:r>
            <a:endParaRPr lang="en-US" sz="1200" dirty="0"/>
          </a:p>
          <a:p>
            <a:pPr marL="228600" indent="-177800">
              <a:buFont typeface="+mj-lt"/>
              <a:buAutoNum type="arabicPeriod"/>
            </a:pPr>
            <a:r>
              <a:rPr lang="en-US" sz="1200" dirty="0">
                <a:solidFill>
                  <a:srgbClr val="000000"/>
                </a:solidFill>
                <a:latin typeface="Ubuntu"/>
              </a:rPr>
              <a:t>Two</a:t>
            </a:r>
            <a:endParaRPr lang="en-US" sz="1200" dirty="0"/>
          </a:p>
          <a:p>
            <a:pPr>
              <a:buNone/>
            </a:pPr>
            <a:r>
              <a:rPr lang="en-US" sz="1200" dirty="0">
                <a:solidFill>
                  <a:srgbClr val="000000"/>
                </a:solidFill>
                <a:latin typeface="Ubuntu"/>
              </a:rPr>
              <a:t>An interruption in our regularly scheduled listing, for this essential and very relevant public service announcement.</a:t>
            </a:r>
            <a:endParaRPr lang="en-US" sz="1200" dirty="0"/>
          </a:p>
          <a:p>
            <a:pPr marL="228600" indent="-177800">
              <a:buFont typeface="+mj-lt"/>
              <a:buAutoNum type="arabicPeriod"/>
            </a:pPr>
            <a:r>
              <a:rPr lang="en-US" sz="1200" dirty="0">
                <a:solidFill>
                  <a:srgbClr val="000000"/>
                </a:solidFill>
                <a:latin typeface="Ubuntu"/>
              </a:rPr>
              <a:t>We now resume our normal programming</a:t>
            </a:r>
            <a:endParaRPr lang="en-US" sz="1200" dirty="0"/>
          </a:p>
          <a:p>
            <a:pPr marL="228600" indent="-177800">
              <a:buFont typeface="+mj-lt"/>
              <a:buAutoNum type="arabicPeriod"/>
            </a:pPr>
            <a:r>
              <a:rPr lang="en-US" sz="1200" dirty="0">
                <a:solidFill>
                  <a:srgbClr val="000000"/>
                </a:solidFill>
                <a:latin typeface="Ubuntu"/>
              </a:rPr>
              <a:t>Four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838200" y="365125"/>
            <a:ext cx="10515600" cy="1325626"/>
          </a:xfrm>
          <a:prstGeom prst="rect">
            <a:avLst/>
          </a:prstGeom>
          <a:noFill/>
          <a:ln>
            <a:noFill/>
          </a:ln>
        </p:spPr>
        <p:txBody>
          <a:bodyPr wrap="square" lIns="91440" tIns="45720" rIns="91440" bIns="45720" anchor="ctr" rtlCol="0">
            <a:normAutofit/>
          </a:bodyPr>
          <a:lstStyle/>
          <a:p>
            <a:pPr>
              <a:buNone/>
            </a:pPr>
            <a:r>
              <a:rPr lang="en-US" sz="4400" dirty="0">
                <a:solidFill>
                  <a:srgbClr val="000000"/>
                </a:solidFill>
              </a:rPr>
              <a:t>Charts</a:t>
            </a:r>
            <a:endParaRPr lang="en-US" sz="4400" dirty="0"/>
          </a:p>
        </p:txBody>
      </p:sp>
      <p:graphicFrame>
        <p:nvGraphicFramePr>
          <p:cNvPr id="3" name="Table 3"/>
          <p:cNvGraphicFramePr>
            <a:graphicFrameLocks noGrp="1"/>
          </p:cNvGraphicFramePr>
          <p:nvPr/>
        </p:nvGraphicFramePr>
        <p:xfrm>
          <a:off x="2919603" y="2134870"/>
          <a:ext cx="6096000" cy="4146550"/>
        </p:xfrm>
        <a:graphic>
          <a:graphicData uri="http://schemas.openxmlformats.org/drawingml/2006/table">
            <a:tbl>
              <a:tblPr firstRow="1"/>
              <a:tblGrid>
                <a:gridCol w="1385455"/>
                <a:gridCol w="1108364"/>
                <a:gridCol w="2493818"/>
                <a:gridCol w="1108364"/>
              </a:tblGrid>
              <a:tr h="829310">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Series 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Series 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Series 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829310">
                <a:tc>
                  <a:txBody>
                    <a:bodyPr/>
                    <a:lstStyle/>
                    <a:p>
                      <a:pPr>
                        <a:buNone/>
                      </a:pPr>
                      <a:r>
                        <a:rPr lang="en-US" sz="1200" dirty="0"/>
                        <a:t>Category 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829310">
                <a:tc>
                  <a:txBody>
                    <a:bodyPr/>
                    <a:lstStyle/>
                    <a:p>
                      <a:pPr>
                        <a:buNone/>
                      </a:pPr>
                      <a:r>
                        <a:rPr lang="en-US" sz="1200" dirty="0"/>
                        <a:t>Category 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4.4000000000000004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829310">
                <a:tc>
                  <a:txBody>
                    <a:bodyPr/>
                    <a:lstStyle/>
                    <a:p>
                      <a:pPr>
                        <a:buNone/>
                      </a:pPr>
                      <a:r>
                        <a:rPr lang="en-US" sz="1200" dirty="0"/>
                        <a:t>Category 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829310">
                <a:tc>
                  <a:txBody>
                    <a:bodyPr/>
                    <a:lstStyle/>
                    <a:p>
                      <a:pPr>
                        <a:buNone/>
                      </a:pPr>
                      <a:r>
                        <a:rPr lang="en-US" sz="1200" dirty="0"/>
                        <a:t>Category 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officeParser</Application>
  <Slides>9</Slides>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2025-11-25T16:36:03Z</dcterms:created>
  <dcterms:modified xsi:type="dcterms:W3CDTF">2024-01-01T00:00:00Z</dcterms:modified>
</cp:coreProperties>
</file>