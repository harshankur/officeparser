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theme" Target="theme/theme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1.</a:t>
            </a:r>
            <a:endParaRPr lang="en-US" dirty="0"/>
          </a:p>
          <a:p>
            <a:pPr>
              <a:buNone/>
            </a:pPr>
            <a:r>
              <a:rPr lang="en-US" dirty="0"/>
              <a:t>1</a:t>
            </a:r>
            <a:endParaRPr lang="en-US" dirty="0"/>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Slide Note 2. This is a </a:t>
            </a:r>
            <a:r>
              <a:rPr lang="en-US" b="1" dirty="0"/>
              <a:t>bold</a:t>
            </a:r>
            <a:r>
              <a:rPr lang="en-US" dirty="0"/>
              <a:t> text, but no </a:t>
            </a:r>
            <a:r>
              <a:rPr lang="en-US" i="1" dirty="0"/>
              <a:t>italic</a:t>
            </a:r>
            <a:r>
              <a:rPr lang="en-US" dirty="0"/>
              <a:t>. Let's strike </a:t>
            </a:r>
            <a:r>
              <a:rPr lang="en-US" strike="sngStrike" dirty="0"/>
              <a:t>that</a:t>
            </a:r>
            <a:r>
              <a:rPr lang="en-US" dirty="0"/>
              <a:t> out.</a:t>
            </a:r>
            <a:endParaRPr lang="en-US" dirty="0"/>
          </a:p>
          <a:p>
            <a:pPr>
              <a:buNone/>
            </a:pPr>
            <a:r>
              <a:rPr lang="en-US" dirty="0"/>
              <a:t>2</a:t>
            </a:r>
            <a:endParaRPr lang="en-US" dirty="0"/>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And then about tables</a:t>
            </a:r>
            <a:endParaRPr lang="en-US" dirty="0"/>
          </a:p>
          <a:p>
            <a:pPr>
              <a:buNone/>
            </a:pPr>
            <a:r>
              <a:rPr lang="en-US" dirty="0"/>
              <a:t>3</a:t>
            </a:r>
            <a:endParaRPr lang="en-US" dirty="0"/>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Now calendars</a:t>
            </a:r>
            <a:endParaRPr lang="en-US" dirty="0"/>
          </a:p>
          <a:p>
            <a:pPr marL="228600" indent="-177800">
              <a:buNone/>
            </a:pPr>
            <a:r>
              <a:rPr lang="en-US" dirty="0"/>
              <a:t>1.	</a:t>
            </a:r>
            <a:r>
              <a:rPr lang="en-US" dirty="0"/>
              <a:t>Sun</a:t>
            </a:r>
            <a:endParaRPr lang="en-US" dirty="0"/>
          </a:p>
          <a:p>
            <a:pPr marL="228600" indent="-177800">
              <a:buNone/>
            </a:pPr>
            <a:r>
              <a:rPr lang="en-US" dirty="0"/>
              <a:t>2.	</a:t>
            </a:r>
            <a:r>
              <a:rPr lang="en-US" dirty="0"/>
              <a:t>Mon</a:t>
            </a:r>
            <a:endParaRPr lang="en-US" dirty="0"/>
          </a:p>
          <a:p>
            <a:pPr>
              <a:buNone/>
            </a:pPr>
            <a:r>
              <a:rPr lang="en-US" dirty="0"/>
              <a:t>7. Sat</a:t>
            </a:r>
            <a:endParaRPr lang="en-US" dirty="0"/>
          </a:p>
          <a:p>
            <a:pPr>
              <a:buNone/>
            </a:pPr>
            <a:r>
              <a:rPr lang="en-US" dirty="0"/>
              <a:t>5</a:t>
            </a:r>
            <a:endParaRPr lang="en-US"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 Id="rId3" Type="http://schemas.openxmlformats.org/officeDocument/2006/relationships/hyperlink" Target="slide2.x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2"/>
          <p:cNvSpPr/>
          <p:nvPr/>
        </p:nvSpPr>
        <p:spPr>
          <a:xfrm>
            <a:off x="0" y="0"/>
            <a:ext cx="12192000" cy="6857365"/>
          </a:xfrm>
          <a:prstGeom prst="rect">
            <a:avLst/>
          </a:prstGeom>
          <a:solidFill>
            <a:srgbClr val="156082"/>
          </a:solidFill>
          <a:ln>
            <a:noFill/>
          </a:ln>
        </p:spPr>
      </p:sp>
      <p:sp>
        <p:nvSpPr>
          <p:cNvPr id="3" name="Shape 3"/>
          <p:cNvSpPr/>
          <p:nvPr/>
        </p:nvSpPr>
        <p:spPr>
          <a:xfrm>
            <a:off x="0" y="1216660"/>
            <a:ext cx="195834" cy="673481"/>
          </a:xfrm>
          <a:prstGeom prst="rect">
            <a:avLst/>
          </a:prstGeom>
          <a:solidFill>
            <a:srgbClr val="156082"/>
          </a:solidFill>
          <a:ln>
            <a:noFill/>
          </a:ln>
        </p:spPr>
      </p:sp>
      <p:sp>
        <p:nvSpPr>
          <p:cNvPr id="4" name="Shape 4"/>
          <p:cNvSpPr/>
          <p:nvPr/>
        </p:nvSpPr>
        <p:spPr>
          <a:xfrm>
            <a:off x="267843" y="1216660"/>
            <a:ext cx="195834" cy="673481"/>
          </a:xfrm>
          <a:prstGeom prst="rect">
            <a:avLst/>
          </a:prstGeom>
          <a:solidFill>
            <a:srgbClr val="156082"/>
          </a:solidFill>
          <a:ln>
            <a:noFill/>
          </a:ln>
        </p:spPr>
      </p:sp>
      <p:sp>
        <p:nvSpPr>
          <p:cNvPr id="5" name="Shape 5"/>
          <p:cNvSpPr/>
          <p:nvPr/>
        </p:nvSpPr>
        <p:spPr>
          <a:xfrm>
            <a:off x="535686" y="1216660"/>
            <a:ext cx="195834" cy="673481"/>
          </a:xfrm>
          <a:prstGeom prst="rect">
            <a:avLst/>
          </a:prstGeom>
          <a:solidFill>
            <a:srgbClr val="156082"/>
          </a:solidFill>
          <a:ln>
            <a:noFill/>
          </a:ln>
        </p:spPr>
      </p:sp>
      <p:sp>
        <p:nvSpPr>
          <p:cNvPr id="6" name="Shape 6"/>
          <p:cNvSpPr/>
          <p:nvPr/>
        </p:nvSpPr>
        <p:spPr>
          <a:xfrm>
            <a:off x="640080" y="613918"/>
            <a:ext cx="10907522" cy="1894078"/>
          </a:xfrm>
          <a:prstGeom prst="rect">
            <a:avLst/>
          </a:prstGeom>
          <a:solidFill>
            <a:srgbClr val="FFFFFF"/>
          </a:solidFill>
          <a:ln>
            <a:noFill/>
          </a:ln>
        </p:spPr>
      </p:sp>
      <p:sp>
        <p:nvSpPr>
          <p:cNvPr id="7" name="Text 7"/>
          <p:cNvSpPr/>
          <p:nvPr/>
        </p:nvSpPr>
        <p:spPr>
          <a:xfrm>
            <a:off x="1043686" y="809879"/>
            <a:ext cx="9942703" cy="1554480"/>
          </a:xfrm>
          <a:prstGeom prst="rect">
            <a:avLst/>
          </a:prstGeom>
          <a:noFill/>
          <a:ln>
            <a:noFill/>
          </a:ln>
        </p:spPr>
        <p:txBody>
          <a:bodyPr wrap="square" lIns="91440" tIns="45720" rIns="91440" bIns="45720" anchor="ctr" rtlCol="0">
            <a:normAutofit/>
          </a:bodyPr>
          <a:lstStyle/>
          <a:p>
            <a:pPr>
              <a:buNone/>
            </a:pPr>
            <a:r>
              <a:rPr lang="en-US" sz="2600" dirty="0">
                <a:solidFill>
                  <a:srgbClr val="17365D"/>
                </a:solidFill>
                <a:latin typeface="Ubuntu"/>
              </a:rPr>
              <a:t>Demonstration of DOCX support in </a:t>
            </a:r>
            <a:r>
              <a:rPr lang="en-US" sz="2600" dirty="0">
                <a:solidFill>
                  <a:srgbClr val="17365D"/>
                </a:solidFill>
                <a:latin typeface="Ubuntu"/>
              </a:rPr>
              <a:t>calibre</a:t>
            </a:r>
            <a:endParaRPr lang="en-US" sz="2600" dirty="0"/>
          </a:p>
        </p:txBody>
      </p:sp>
      <p:sp>
        <p:nvSpPr>
          <p:cNvPr id="8" name="Text 8"/>
          <p:cNvSpPr/>
          <p:nvPr/>
        </p:nvSpPr>
        <p:spPr>
          <a:xfrm>
            <a:off x="1045083" y="3017520"/>
            <a:ext cx="9941306" cy="3124708"/>
          </a:xfrm>
          <a:prstGeom prst="rect">
            <a:avLst/>
          </a:prstGeom>
          <a:noFill/>
          <a:ln>
            <a:noFill/>
          </a:ln>
        </p:spPr>
        <p:txBody>
          <a:bodyPr wrap="square" lIns="91440" tIns="45720" rIns="91440" bIns="45720" anchor="ctr" rtlCol="0">
            <a:normAutofit/>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a:t>
            </a:r>
            <a:r>
              <a:rPr lang="en-US" sz="1200" dirty="0">
                <a:solidFill>
                  <a:srgbClr val="000000"/>
                </a:solidFill>
                <a:latin typeface="Ubuntu"/>
              </a:rPr>
              <a:t>ebook</a:t>
            </a:r>
            <a:r>
              <a:rPr lang="en-US" sz="1200" dirty="0">
                <a:solidFill>
                  <a:srgbClr val="000000"/>
                </a:solidFill>
                <a:latin typeface="Ubuntu"/>
              </a:rPr>
              <a:t> format, such as AZW3 for Kindles or EPUB for other </a:t>
            </a:r>
            <a:r>
              <a:rPr lang="en-US" sz="1200" dirty="0">
                <a:solidFill>
                  <a:srgbClr val="000000"/>
                </a:solidFill>
                <a:latin typeface="Ubuntu"/>
              </a:rPr>
              <a:t>ebook</a:t>
            </a:r>
            <a:r>
              <a:rPr lang="en-US" sz="1200" dirty="0">
                <a:solidFill>
                  <a:srgbClr val="000000"/>
                </a:solidFill>
                <a:latin typeface="Ubuntu"/>
              </a:rPr>
              <a:t> readers, to see it in action.</a:t>
            </a:r>
            <a:endParaRPr lang="en-US" sz="1200" dirty="0"/>
          </a:p>
          <a:p>
            <a:pPr>
              <a:buNone/>
            </a:pPr>
            <a:r>
              <a:rPr lang="en-US" sz="1200" dirty="0">
                <a:solidFill>
                  <a:srgbClr val="000000"/>
                </a:solidFill>
                <a:latin typeface="Ubuntu"/>
              </a:rPr>
              <a:t>There is support for images, tables, lists, footnotes, endnotes, links, </a:t>
            </a:r>
            <a:r>
              <a:rPr lang="en-US" sz="1200" dirty="0">
                <a:solidFill>
                  <a:srgbClr val="000000"/>
                </a:solidFill>
                <a:latin typeface="Ubuntu"/>
              </a:rPr>
              <a:t>dropcaps</a:t>
            </a:r>
            <a:r>
              <a:rPr lang="en-US" sz="1200" dirty="0">
                <a:solidFill>
                  <a:srgbClr val="000000"/>
                </a:solidFill>
                <a:latin typeface="Ubuntu"/>
              </a:rPr>
              <a:t> and various types of text and paragraph level formatting.</a:t>
            </a:r>
            <a:endParaRPr lang="en-US" sz="1200" dirty="0"/>
          </a:p>
          <a:p>
            <a:pPr>
              <a:buNone/>
            </a:pPr>
            <a:r>
              <a:rPr lang="en-US" sz="1200" dirty="0">
                <a:solidFill>
                  <a:srgbClr val="000000"/>
                </a:solidFill>
                <a:latin typeface="Ubuntu"/>
              </a:rPr>
              <a:t>To see the DOCX conversion in action, simply add this file to </a:t>
            </a:r>
            <a:r>
              <a:rPr lang="en-US" sz="1200" dirty="0">
                <a:solidFill>
                  <a:srgbClr val="000000"/>
                </a:solidFill>
                <a:latin typeface="Ubuntu"/>
              </a:rPr>
              <a:t>calibre</a:t>
            </a:r>
            <a:r>
              <a:rPr lang="en-US" sz="1200" dirty="0">
                <a:solidFill>
                  <a:srgbClr val="000000"/>
                </a:solidFill>
                <a:latin typeface="Ubuntu"/>
              </a:rPr>
              <a:t>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Text Formatting</a:t>
            </a:r>
            <a:endParaRPr lang="en-US" sz="1400" dirty="0"/>
          </a:p>
        </p:txBody>
      </p:sp>
      <p:sp>
        <p:nvSpPr>
          <p:cNvPr id="3" name="Text 3"/>
          <p:cNvSpPr txBox="1"/>
          <p:nvPr/>
        </p:nvSpPr>
        <p:spPr>
          <a:xfrm>
            <a:off x="838200" y="1342517"/>
            <a:ext cx="10515600" cy="4834382"/>
          </a:xfrm>
          <a:prstGeom prst="rect">
            <a:avLst/>
          </a:prstGeom>
          <a:noFill/>
          <a:ln>
            <a:noFill/>
          </a:ln>
        </p:spPr>
        <p:txBody>
          <a:bodyPr wrap="square" anchor="t" rtlCol="0">
            <a:normAutofit/>
          </a:bodyPr>
          <a:lstStyle/>
          <a:p>
            <a:pPr>
              <a:buNone/>
            </a:pPr>
            <a:r>
              <a:rPr lang="en-US" sz="1300" b="1" dirty="0">
                <a:solidFill>
                  <a:srgbClr val="4F81BD"/>
                </a:solidFill>
                <a:latin typeface="Ubuntu"/>
              </a:rPr>
              <a:t>Inline formatting</a:t>
            </a:r>
            <a:endParaRPr lang="en-US" sz="1300" dirty="0"/>
          </a:p>
          <a:p>
            <a:pPr>
              <a:buNone/>
            </a:pPr>
            <a:r>
              <a:rPr lang="en-US" sz="1200" dirty="0">
                <a:solidFill>
                  <a:srgbClr val="000000"/>
                </a:solidFill>
                <a:latin typeface="Ubuntu"/>
              </a:rPr>
              <a:t>Here, we demonstrate various types of inline text formatting and the use of embedded fonts.</a:t>
            </a:r>
            <a:endParaRPr lang="en-US" sz="1200" dirty="0"/>
          </a:p>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1200" baseline="30000" dirty="0">
                <a:solidFill>
                  <a:srgbClr val="000000"/>
                </a:solidFill>
                <a:latin typeface="Ubuntu"/>
              </a:rPr>
              <a:t>script</a:t>
            </a:r>
            <a:r>
              <a:rPr lang="en-US" sz="1200" dirty="0">
                <a:solidFill>
                  <a:srgbClr val="000000"/>
                </a:solidFill>
                <a:latin typeface="Ubuntu"/>
              </a:rPr>
              <a:t> and a sub</a:t>
            </a:r>
            <a:r>
              <a:rPr lang="en-US" sz="1200" baseline="-250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a:t>
            </a:r>
            <a:r>
              <a:rPr lang="en-US" sz="1200" dirty="0">
                <a:solidFill>
                  <a:srgbClr val="000000"/>
                </a:solidFill>
                <a:latin typeface="Ubuntu"/>
              </a:rPr>
              <a:t>yellow highlight.</a:t>
            </a:r>
            <a:r>
              <a:rPr lang="en-US" sz="1200" dirty="0">
                <a:solidFill>
                  <a:srgbClr val="000000"/>
                </a:solidFill>
                <a:latin typeface="Ubuntu"/>
              </a:rPr>
              <a:t> Some text in a box. Some text in </a:t>
            </a:r>
            <a:r>
              <a:rPr lang="en-US" sz="1200" dirty="0">
                <a:solidFill>
                  <a:srgbClr val="FFFFFF"/>
                </a:solidFill>
                <a:latin typeface="Ubuntu"/>
              </a:rPr>
              <a:t>inverse video</a:t>
            </a:r>
            <a:r>
              <a:rPr lang="en-US" sz="1200" dirty="0">
                <a:solidFill>
                  <a:srgbClr val="000000"/>
                </a:solidFill>
                <a:latin typeface="Ubuntu"/>
              </a:rPr>
              <a:t>.</a:t>
            </a:r>
            <a:endParaRPr lang="en-US" sz="1200" dirty="0"/>
          </a:p>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a:t>
            </a:r>
            <a:r>
              <a:rPr lang="en-US" sz="1200" dirty="0">
                <a:solidFill>
                  <a:srgbClr val="000000"/>
                </a:solidFill>
                <a:latin typeface="Ubuntu"/>
              </a:rPr>
              <a:t>calibre</a:t>
            </a:r>
            <a:r>
              <a:rPr lang="en-US" sz="1200" dirty="0">
                <a:solidFill>
                  <a:srgbClr val="000000"/>
                </a:solidFill>
                <a:latin typeface="Ubuntu"/>
              </a:rPr>
              <a:t> can handle both with equal ease.</a:t>
            </a:r>
            <a:endParaRPr lang="en-US" sz="1200" dirty="0"/>
          </a:p>
          <a:p>
            <a:pPr>
              <a:buNone/>
            </a:pPr>
            <a:r>
              <a:rPr lang="en-US" sz="1300" b="1" dirty="0">
                <a:solidFill>
                  <a:srgbClr val="4F81BD"/>
                </a:solidFill>
                <a:latin typeface="Ubuntu"/>
              </a:rPr>
              <a:t>Fun with fonts</a:t>
            </a:r>
            <a:endParaRPr lang="en-US" sz="1300" dirty="0"/>
          </a:p>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a:t>
            </a:r>
            <a:r>
              <a:rPr lang="en-US" sz="1200" dirty="0">
                <a:solidFill>
                  <a:srgbClr val="000000"/>
                </a:solidFill>
                <a:latin typeface="Ubuntu Mono"/>
              </a:rPr>
              <a:t>i</a:t>
            </a:r>
            <a:r>
              <a:rPr lang="en-US" sz="1200" dirty="0">
                <a:solidFill>
                  <a:srgbClr val="000000"/>
                </a:solidFill>
                <a:latin typeface="Ubuntu Mono"/>
              </a:rPr>
              <a:t> and m</a:t>
            </a:r>
            <a:r>
              <a:rPr lang="en-US" sz="1200" dirty="0">
                <a:solidFill>
                  <a:srgbClr val="000000"/>
                </a:solidFill>
                <a:latin typeface="Ubuntu"/>
              </a:rPr>
              <a:t>. Every embedded font will automatically be embedded in the output </a:t>
            </a:r>
            <a:r>
              <a:rPr lang="en-US" sz="1200" dirty="0">
                <a:solidFill>
                  <a:srgbClr val="000000"/>
                </a:solidFill>
                <a:latin typeface="Ubuntu"/>
              </a:rPr>
              <a:t>ebook</a:t>
            </a:r>
            <a:r>
              <a:rPr lang="en-US" sz="1200" dirty="0">
                <a:solidFill>
                  <a:srgbClr val="000000"/>
                </a:solidFill>
                <a:latin typeface="Ubuntu"/>
              </a:rPr>
              <a:t> during conversion. </a:t>
            </a:r>
            <a:endParaRPr lang="en-US" sz="1200" dirty="0"/>
          </a:p>
          <a:p>
            <a:pPr>
              <a:buNone/>
            </a:pPr>
            <a:r>
              <a:rPr lang="en-US" sz="1300" b="1" dirty="0">
                <a:solidFill>
                  <a:srgbClr val="4F81BD"/>
                </a:solidFill>
                <a:latin typeface="Ubuntu"/>
              </a:rPr>
              <a:t>Paragraph level formatting</a:t>
            </a:r>
            <a:endParaRPr lang="en-US" sz="1300" dirty="0"/>
          </a:p>
          <a:p>
            <a:pPr algn="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solidFill>
                  <a:srgbClr val="000000"/>
                </a:solidFill>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Tables</a:t>
            </a:r>
            <a:endParaRPr lang="en-US" sz="1400" dirty="0"/>
          </a:p>
        </p:txBody>
      </p:sp>
      <p:graphicFrame>
        <p:nvGraphicFramePr>
          <p:cNvPr id="3" name="Table 3"/>
          <p:cNvGraphicFramePr>
            <a:graphicFrameLocks noGrp="1"/>
          </p:cNvGraphicFramePr>
          <p:nvPr/>
        </p:nvGraphicFramePr>
        <p:xfrm>
          <a:off x="838200" y="1825625"/>
          <a:ext cx="10515600" cy="1615440"/>
        </p:xfrm>
        <a:graphic>
          <a:graphicData uri="http://schemas.openxmlformats.org/drawingml/2006/table">
            <a:tbl>
              <a:tblPr firstRow="1"/>
              <a:tblGrid>
                <a:gridCol w="6008914"/>
                <a:gridCol w="4506686"/>
              </a:tblGrid>
              <a:tr h="269240">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9BBB59"/>
                    </a:solidFill>
                  </a:tcPr>
                </a:tc>
              </a:tr>
              <a:tr h="269240">
                <a:tc>
                  <a:txBody>
                    <a:bodyPr/>
                    <a:lstStyle/>
                    <a:p>
                      <a:pPr>
                        <a:buNone/>
                      </a:pPr>
                      <a:r>
                        <a:rPr lang="en-US" sz="1200" dirty="0">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
        <p:nvSpPr>
          <p:cNvPr id="4" name="Text 4"/>
          <p:cNvSpPr txBox="1"/>
          <p:nvPr/>
        </p:nvSpPr>
        <p:spPr>
          <a:xfrm>
            <a:off x="775589" y="3456178"/>
            <a:ext cx="10797286" cy="1292606"/>
          </a:xfrm>
          <a:prstGeom prst="rect">
            <a:avLst/>
          </a:prstGeom>
          <a:noFill/>
          <a:ln>
            <a:noFill/>
          </a:ln>
        </p:spPr>
        <p:txBody>
          <a:bodyPr wrap="square" anchor="t" rtlCol="0">
            <a:normAutofit/>
          </a:bodyPr>
          <a:lstStyle/>
          <a:p>
            <a:pPr>
              <a:buNone/>
            </a:pPr>
            <a:r>
              <a:rPr lang="en-US" sz="1200" dirty="0">
                <a:solidFill>
                  <a:srgbClr val="000000"/>
                </a:solidFill>
                <a:latin typeface="Ubuntu"/>
              </a:rPr>
              <a:t> Tables in Word can vary from the extremely simple to the extremely complex. </a:t>
            </a:r>
            <a:r>
              <a:rPr lang="en-US" sz="1200" dirty="0">
                <a:solidFill>
                  <a:srgbClr val="000000"/>
                </a:solidFill>
                <a:latin typeface="Ubuntu"/>
              </a:rPr>
              <a:t>calibre</a:t>
            </a:r>
            <a:r>
              <a:rPr lang="en-US" sz="1200" dirty="0">
                <a:solidFill>
                  <a:srgbClr val="000000"/>
                </a:solidFill>
                <a:latin typeface="Ubuntu"/>
              </a:rPr>
              <a:t>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r>
              <a:rPr lang="en-US" sz="1200" dirty="0">
                <a:solidFill>
                  <a:srgbClr val="000000"/>
                </a:solidFill>
                <a:latin typeface="Ubuntu"/>
              </a:rPr>
              <a:t> </a:t>
            </a:r>
            <a:endParaRPr lang="en-US" sz="1200" dirty="0"/>
          </a:p>
          <a:p>
            <a:pPr>
              <a:buNone/>
            </a:pPr>
            <a:r>
              <a:rPr lang="en-US" sz="1200" dirty="0">
                <a:solidFill>
                  <a:srgbClr val="000000"/>
                </a:solidFill>
                <a:latin typeface="Ubuntu"/>
              </a:rPr>
              <a:t> Now let’s look at a fancier table—one with alternating row colors and partial borders. This table is stretched out to take 100% of the available width.</a:t>
            </a:r>
            <a:endParaRPr lang="en-US" sz="1200" dirty="0"/>
          </a:p>
        </p:txBody>
      </p:sp>
      <p:graphicFrame>
        <p:nvGraphicFramePr>
          <p:cNvPr id="5" name="Table 5"/>
          <p:cNvGraphicFramePr>
            <a:graphicFrameLocks noGrp="1"/>
          </p:cNvGraphicFramePr>
          <p:nvPr/>
        </p:nvGraphicFramePr>
        <p:xfrm>
          <a:off x="3051429" y="4634738"/>
          <a:ext cx="6048375" cy="1602740"/>
        </p:xfrm>
        <a:graphic>
          <a:graphicData uri="http://schemas.openxmlformats.org/drawingml/2006/table">
            <a:tbl>
              <a:tblPr firstRow="1"/>
              <a:tblGrid>
                <a:gridCol w="1483564"/>
                <a:gridCol w="912962"/>
                <a:gridCol w="912962"/>
                <a:gridCol w="912962"/>
                <a:gridCol w="912962"/>
                <a:gridCol w="912962"/>
              </a:tblGrid>
              <a:tr h="267123">
                <a:tc>
                  <a:txBody>
                    <a:bodyPr/>
                    <a:lstStyle/>
                    <a:p>
                      <a:pPr>
                        <a:buNone/>
                      </a:pPr>
                      <a:r>
                        <a:rPr lang="en-US" sz="1100" dirty="0">
                          <a:latin typeface="Ubuntu"/>
                        </a:rPr>
                        <a:t>City or Town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A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B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C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D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Point E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r h="267123">
                <a:tc>
                  <a:txBody>
                    <a:bodyPr/>
                    <a:lstStyle/>
                    <a:p>
                      <a:pPr>
                        <a:buNone/>
                      </a:pPr>
                      <a:r>
                        <a:rPr lang="en-US" sz="1200" dirty="0">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r h="267123">
                <a:tc>
                  <a:txBody>
                    <a:bodyPr/>
                    <a:lstStyle/>
                    <a:p>
                      <a:pPr>
                        <a:buNone/>
                      </a:pPr>
                      <a:r>
                        <a:rPr lang="en-US" sz="1200" dirty="0">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7123">
                <a:tc>
                  <a:txBody>
                    <a:bodyPr/>
                    <a:lstStyle/>
                    <a:p>
                      <a:pPr>
                        <a:buNone/>
                      </a:pPr>
                      <a:r>
                        <a:rPr lang="en-US" sz="1200" dirty="0">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200" dirty="0">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D3DFEE"/>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776986" y="478536"/>
            <a:ext cx="10515600" cy="323596"/>
          </a:xfrm>
          <a:prstGeom prst="rect">
            <a:avLst/>
          </a:prstGeom>
          <a:noFill/>
          <a:ln>
            <a:noFill/>
          </a:ln>
        </p:spPr>
        <p:txBody>
          <a:bodyPr wrap="square" anchor="t" rtlCol="0">
            <a:normAutofit/>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a:t>
            </a:r>
            <a:endParaRPr lang="en-US" sz="1200" dirty="0"/>
          </a:p>
        </p:txBody>
      </p:sp>
      <p:graphicFrame>
        <p:nvGraphicFramePr>
          <p:cNvPr id="3" name="Table 3"/>
          <p:cNvGraphicFramePr>
            <a:graphicFrameLocks noGrp="1"/>
          </p:cNvGraphicFramePr>
          <p:nvPr/>
        </p:nvGraphicFramePr>
        <p:xfrm>
          <a:off x="898017" y="918464"/>
          <a:ext cx="9936099" cy="2153920"/>
        </p:xfrm>
        <a:graphic>
          <a:graphicData uri="http://schemas.openxmlformats.org/drawingml/2006/table">
            <a:tbl>
              <a:tblPr firstRow="1"/>
              <a:tblGrid>
                <a:gridCol w="2912305"/>
                <a:gridCol w="2398369"/>
                <a:gridCol w="3426241"/>
                <a:gridCol w="1199184"/>
              </a:tblGrid>
              <a:tr h="269240">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4BACC6"/>
                    </a:solidFill>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269240">
                <a:tc>
                  <a:txBody>
                    <a:bodyPr/>
                    <a:lstStyle/>
                    <a:p>
                      <a:pPr>
                        <a:buNone/>
                      </a:pPr>
                      <a:r>
                        <a:rPr lang="en-US" sz="1200" dirty="0">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998 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908 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buNone/>
                      </a:pPr>
                      <a:r>
                        <a:rPr lang="en-US" sz="1100" dirty="0">
                          <a:latin typeface="Ubuntu"/>
                        </a:rPr>
                        <a:t>90 </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r>
            </a:tbl>
          </a:graphicData>
        </a:graphic>
      </p:graphicFrame>
      <p:sp>
        <p:nvSpPr>
          <p:cNvPr id="4" name="Text 4"/>
          <p:cNvSpPr txBox="1"/>
          <p:nvPr/>
        </p:nvSpPr>
        <p:spPr>
          <a:xfrm>
            <a:off x="775589" y="3184017"/>
            <a:ext cx="6096000" cy="246253"/>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a:t>
            </a:r>
            <a:r>
              <a:rPr lang="en-US" sz="1000" dirty="0">
                <a:solidFill>
                  <a:srgbClr val="000000"/>
                </a:solidFill>
                <a:latin typeface="Ubuntu"/>
              </a:rPr>
              <a:t> </a:t>
            </a:r>
            <a:endParaRPr lang="en-US" sz="1000" dirty="0"/>
          </a:p>
        </p:txBody>
      </p:sp>
      <p:sp>
        <p:nvSpPr>
          <p:cNvPr id="5" name="Text 5"/>
          <p:cNvSpPr txBox="1"/>
          <p:nvPr/>
        </p:nvSpPr>
        <p:spPr>
          <a:xfrm>
            <a:off x="830072" y="3429000"/>
            <a:ext cx="10001250" cy="461645"/>
          </a:xfrm>
          <a:prstGeom prst="rect">
            <a:avLst/>
          </a:prstGeom>
          <a:noFill/>
          <a:ln>
            <a:noFill/>
          </a:ln>
        </p:spPr>
        <p:txBody>
          <a:bodyPr wrap="square" anchor="t" rtlCol="0">
            <a:normAutofit/>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a:t>
            </a:r>
            <a:r>
              <a:rPr lang="en-US" sz="1200" dirty="0">
                <a:solidFill>
                  <a:srgbClr val="000000"/>
                </a:solidFill>
                <a:latin typeface="Ubuntu"/>
              </a:rPr>
              <a:t> </a:t>
            </a:r>
            <a:endParaRPr lang="en-US" sz="1200" dirty="0"/>
          </a:p>
        </p:txBody>
      </p:sp>
      <p:graphicFrame>
        <p:nvGraphicFramePr>
          <p:cNvPr id="6" name="Table 6"/>
          <p:cNvGraphicFramePr>
            <a:graphicFrameLocks noGrp="1"/>
          </p:cNvGraphicFramePr>
          <p:nvPr/>
        </p:nvGraphicFramePr>
        <p:xfrm>
          <a:off x="4183507" y="4333494"/>
          <a:ext cx="1647825" cy="599440"/>
        </p:xfrm>
        <a:graphic>
          <a:graphicData uri="http://schemas.openxmlformats.org/drawingml/2006/table">
            <a:tbl>
              <a:tblPr firstRow="1"/>
              <a:tblGrid>
                <a:gridCol w="1132880"/>
                <a:gridCol w="514945"/>
              </a:tblGrid>
              <a:tr h="299720">
                <a:tc rowSpan="2">
                  <a:txBody>
                    <a:bodyPr/>
                    <a:lstStyle/>
                    <a:p>
                      <a:pPr>
                        <a:buNone/>
                      </a:pPr>
                      <a:r>
                        <a:rPr lang="en-US" sz="1200" dirty="0">
                          <a:latin typeface="Ubuntu"/>
                        </a:rPr>
                        <a:t>One </a:t>
                      </a:r>
                      <a:endParaRPr lang="en-US" sz="1200" dirty="0"/>
                    </a:p>
                    <a:p>
                      <a:pPr>
                        <a:buNone/>
                      </a:pPr>
                      <a:r>
                        <a:rPr lang="en-US" sz="1200" dirty="0">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299720">
                <a:tc v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graphicFrame>
        <p:nvGraphicFramePr>
          <p:cNvPr id="7" name="Table 7"/>
          <p:cNvGraphicFramePr>
            <a:graphicFrameLocks noGrp="1"/>
          </p:cNvGraphicFramePr>
          <p:nvPr/>
        </p:nvGraphicFramePr>
        <p:xfrm>
          <a:off x="3910711" y="4301871"/>
          <a:ext cx="4248150" cy="910717"/>
        </p:xfrm>
        <a:graphic>
          <a:graphicData uri="http://schemas.openxmlformats.org/drawingml/2006/table">
            <a:tbl>
              <a:tblPr firstRow="1"/>
              <a:tblGrid>
                <a:gridCol w="386195"/>
                <a:gridCol w="3861955"/>
              </a:tblGrid>
              <a:tr h="910717">
                <a:tc>
                  <a:txBody>
                    <a:bodyPr/>
                    <a:lstStyle/>
                    <a:p>
                      <a:pPr>
                        <a:buNone/>
                      </a:pPr>
                      <a:r>
                        <a:rPr lang="en-US" sz="1200" dirty="0">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81178"/>
            <a:ext cx="10515600" cy="5895721"/>
          </a:xfrm>
          <a:prstGeom prst="rect">
            <a:avLst/>
          </a:prstGeom>
          <a:noFill/>
          <a:ln>
            <a:noFill/>
          </a:ln>
        </p:spPr>
        <p:txBody>
          <a:bodyPr wrap="square" anchor="t" rtlCol="0">
            <a:normAutofit/>
          </a:bodyPr>
          <a:lstStyle/>
          <a:p>
            <a:pPr>
              <a:buNone/>
            </a:pPr>
            <a:r>
              <a:rPr lang="en-US" sz="1200" dirty="0">
                <a:solidFill>
                  <a:srgbClr val="000000"/>
                </a:solidFill>
                <a:latin typeface="Ubuntu"/>
              </a:rPr>
              <a:t> We end with a fancy calendar, note how much of the original formatting is preserved. Note that this table will only display correctly on relatively wide screens. In general, very wide tables or tables whose cells have fixed width requirements don’t fare well in </a:t>
            </a:r>
            <a:r>
              <a:rPr lang="en-US" sz="1200" dirty="0">
                <a:solidFill>
                  <a:srgbClr val="000000"/>
                </a:solidFill>
                <a:latin typeface="Ubuntu"/>
              </a:rPr>
              <a:t>ebooks</a:t>
            </a:r>
            <a:r>
              <a:rPr lang="en-US" sz="1200" dirty="0">
                <a:solidFill>
                  <a:srgbClr val="000000"/>
                </a:solidFill>
                <a:latin typeface="Ubuntu"/>
              </a:rPr>
              <a:t>.</a:t>
            </a:r>
            <a:endParaRPr lang="en-US" sz="1200" dirty="0"/>
          </a:p>
        </p:txBody>
      </p:sp>
      <p:graphicFrame>
        <p:nvGraphicFramePr>
          <p:cNvPr id="3" name="Table 3"/>
          <p:cNvGraphicFramePr>
            <a:graphicFrameLocks noGrp="1"/>
          </p:cNvGraphicFramePr>
          <p:nvPr/>
        </p:nvGraphicFramePr>
        <p:xfrm>
          <a:off x="2764028" y="1231900"/>
          <a:ext cx="6664071" cy="4394200"/>
        </p:xfrm>
        <a:graphic>
          <a:graphicData uri="http://schemas.openxmlformats.org/drawingml/2006/table">
            <a:tbl>
              <a:tblPr firstRow="1"/>
              <a:tblGrid>
                <a:gridCol w="476005"/>
                <a:gridCol w="476005"/>
                <a:gridCol w="476005"/>
                <a:gridCol w="476005"/>
                <a:gridCol w="476005"/>
                <a:gridCol w="476005"/>
                <a:gridCol w="476005"/>
                <a:gridCol w="476005"/>
                <a:gridCol w="476005"/>
                <a:gridCol w="476005"/>
                <a:gridCol w="476005"/>
                <a:gridCol w="476005"/>
                <a:gridCol w="476005"/>
                <a:gridCol w="476005"/>
              </a:tblGrid>
              <a:tr h="338015">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8015">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Structural Elements</a:t>
            </a:r>
            <a:endParaRPr lang="en-US" sz="1400" dirty="0"/>
          </a:p>
        </p:txBody>
      </p:sp>
      <p:sp>
        <p:nvSpPr>
          <p:cNvPr id="3" name="Text 3"/>
          <p:cNvSpPr txBox="1"/>
          <p:nvPr/>
        </p:nvSpPr>
        <p:spPr>
          <a:xfrm>
            <a:off x="838200" y="1825625"/>
            <a:ext cx="10515600" cy="4351401"/>
          </a:xfrm>
          <a:prstGeom prst="rect">
            <a:avLst/>
          </a:prstGeom>
          <a:noFill/>
          <a:ln>
            <a:noFill/>
          </a:ln>
        </p:spPr>
        <p:txBody>
          <a:bodyPr wrap="square" anchor="t" rtlCol="0">
            <a:normAutofit/>
          </a:bodyPr>
          <a:lstStyle/>
          <a:p>
            <a:pPr>
              <a:buNone/>
            </a:pPr>
            <a:r>
              <a:rPr lang="en-US" sz="1200" dirty="0">
                <a:solidFill>
                  <a:srgbClr val="000000"/>
                </a:solidFill>
                <a:latin typeface="Ubuntu"/>
              </a:rPr>
              <a:t>Miscellaneous structural elements you can add to your document, like footnotes, endnotes, </a:t>
            </a:r>
            <a:r>
              <a:rPr lang="en-US" sz="1200" dirty="0">
                <a:solidFill>
                  <a:srgbClr val="000000"/>
                </a:solidFill>
                <a:latin typeface="Ubuntu"/>
              </a:rPr>
              <a:t>dropcaps</a:t>
            </a:r>
            <a:r>
              <a:rPr lang="en-US" sz="1200" dirty="0">
                <a:solidFill>
                  <a:srgbClr val="000000"/>
                </a:solidFill>
                <a:latin typeface="Ubuntu"/>
              </a:rPr>
              <a:t> and the like. </a:t>
            </a:r>
            <a:endParaRPr lang="en-US" sz="1200" dirty="0"/>
          </a:p>
          <a:p>
            <a:pPr>
              <a:buNone/>
            </a:pPr>
            <a:r>
              <a:rPr lang="en-US" sz="1300" b="1" dirty="0">
                <a:solidFill>
                  <a:srgbClr val="4F81BD"/>
                </a:solidFill>
                <a:latin typeface="Ubuntu"/>
              </a:rPr>
              <a:t>Footnotes &amp; Endnotes</a:t>
            </a:r>
            <a:endParaRPr lang="en-US" sz="1300" dirty="0"/>
          </a:p>
          <a:p>
            <a:pPr>
              <a:buNone/>
            </a:pPr>
            <a:r>
              <a:rPr lang="en-US" sz="1200" dirty="0">
                <a:solidFill>
                  <a:srgbClr val="000000"/>
                </a:solidFill>
                <a:latin typeface="Ubuntu"/>
              </a:rPr>
              <a:t>Footnotes</a:t>
            </a:r>
            <a:r>
              <a:rPr lang="en-US" sz="1200" baseline="30000" dirty="0">
                <a:solidFill>
                  <a:srgbClr val="000000"/>
                </a:solidFill>
                <a:latin typeface="Ubuntu"/>
              </a:rPr>
              <a:t>1</a:t>
            </a:r>
            <a:r>
              <a:rPr lang="en-US" sz="1200" dirty="0">
                <a:solidFill>
                  <a:srgbClr val="000000"/>
                </a:solidFill>
                <a:latin typeface="Ubuntu"/>
              </a:rPr>
              <a:t> and </a:t>
            </a:r>
            <a:r>
              <a:rPr lang="en-US" sz="1200" dirty="0">
                <a:solidFill>
                  <a:srgbClr val="000000"/>
                </a:solidFill>
                <a:latin typeface="Ubuntu"/>
              </a:rPr>
              <a:t>endnotes</a:t>
            </a:r>
            <a:r>
              <a:rPr lang="en-US" sz="1200" baseline="300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a:t>
            </a:r>
            <a:r>
              <a:rPr lang="en-US" sz="1200" dirty="0">
                <a:solidFill>
                  <a:srgbClr val="000000"/>
                </a:solidFill>
                <a:latin typeface="Ubuntu"/>
              </a:rPr>
              <a:t>ebook</a:t>
            </a:r>
            <a:r>
              <a:rPr lang="en-US" sz="1200" dirty="0">
                <a:solidFill>
                  <a:srgbClr val="000000"/>
                </a:solidFill>
                <a:latin typeface="Ubuntu"/>
              </a:rPr>
              <a:t> devices.</a:t>
            </a:r>
            <a:endParaRPr lang="en-US" sz="1200" dirty="0"/>
          </a:p>
          <a:p>
            <a:pPr>
              <a:buNone/>
            </a:pPr>
            <a:r>
              <a:rPr lang="en-US" sz="1300" b="1" dirty="0">
                <a:solidFill>
                  <a:srgbClr val="4F81BD"/>
                </a:solidFill>
                <a:latin typeface="Ubuntu"/>
              </a:rPr>
              <a:t>Dropcaps</a:t>
            </a:r>
            <a:endParaRPr lang="en-US" sz="1300" dirty="0"/>
          </a:p>
          <a:p>
            <a:pPr>
              <a:buNone/>
            </a:pPr>
            <a:r>
              <a:rPr lang="en-US" sz="5900" dirty="0">
                <a:solidFill>
                  <a:srgbClr val="000000"/>
                </a:solidFill>
                <a:latin typeface="Ubuntu"/>
              </a:rPr>
              <a:t>D</a:t>
            </a:r>
            <a:endParaRPr lang="en-US" sz="5900" dirty="0"/>
          </a:p>
          <a:p>
            <a:pPr>
              <a:buNone/>
            </a:pPr>
            <a:r>
              <a:rPr lang="en-US" sz="1200" dirty="0">
                <a:solidFill>
                  <a:srgbClr val="000000"/>
                </a:solidFill>
                <a:latin typeface="Ubuntu"/>
              </a:rPr>
              <a:t>rop</a:t>
            </a:r>
            <a:r>
              <a:rPr lang="en-US" sz="1200" dirty="0">
                <a:solidFill>
                  <a:srgbClr val="000000"/>
                </a:solidFill>
                <a:latin typeface="Ubuntu"/>
              </a:rPr>
              <a:t> caps are used to emphasize the leading paragraph at the start of a section. In Word it is possible to specify how many lines of text a drop-cap should use. </a:t>
            </a:r>
            <a:endParaRPr lang="en-US" sz="1200" dirty="0"/>
          </a:p>
          <a:p>
            <a:pPr>
              <a:buNone/>
            </a:pPr>
            <a:r>
              <a:rPr lang="en-US" sz="1300" b="1" dirty="0">
                <a:solidFill>
                  <a:srgbClr val="4F81BD"/>
                </a:solidFill>
                <a:latin typeface="Ubuntu"/>
              </a:rPr>
              <a:t>Links</a:t>
            </a:r>
            <a:endParaRPr lang="en-US" sz="1300" dirty="0"/>
          </a:p>
          <a:p>
            <a:pPr>
              <a:buNone/>
            </a:pPr>
            <a:r>
              <a:rPr lang="en-US" sz="1200" dirty="0">
                <a:solidFill>
                  <a:srgbClr val="000000"/>
                </a:solidFill>
                <a:latin typeface="Ubuntu"/>
              </a:rPr>
              <a:t>Two kinds of links are possible, those that refer to an external website and those that refer to locations inside the document itself. Both are supported by </a:t>
            </a:r>
            <a:r>
              <a:rPr lang="en-US" sz="1200" dirty="0">
                <a:solidFill>
                  <a:srgbClr val="000000"/>
                </a:solidFill>
                <a:latin typeface="Ubuntu"/>
              </a:rPr>
              <a:t>calibre</a:t>
            </a:r>
            <a:r>
              <a:rPr lang="en-US" sz="1200" dirty="0">
                <a:solidFill>
                  <a:srgbClr val="000000"/>
                </a:solidFill>
                <a:latin typeface="Ubuntu"/>
              </a:rPr>
              <a:t>. For example, here is a link pointing to the </a:t>
            </a:r>
            <a:r>
              <a:rPr lang="en-US" sz="1200" u="sng" dirty="0">
                <a:solidFill>
                  <a:srgbClr val="000000"/>
                </a:solidFill>
                <a:latin typeface="Ubuntu"/>
                <a:hlinkClick r:id="rId2"/>
              </a:rPr>
              <a:t>calibre download page</a:t>
            </a:r>
            <a:r>
              <a:rPr lang="en-US" sz="1200" dirty="0">
                <a:solidFill>
                  <a:srgbClr val="000000"/>
                </a:solidFill>
                <a:latin typeface="Ubuntu"/>
              </a:rPr>
              <a:t>. Then we have a link that points back to the section on </a:t>
            </a:r>
            <a:r>
              <a:rPr lang="en-US" sz="1200" u="sng" dirty="0">
                <a:solidFill>
                  <a:srgbClr val="000000"/>
                </a:solidFill>
                <a:latin typeface="Ubuntu"/>
                <a:hlinkClick r:id="rId3"/>
              </a:rPr>
              <a:t>paragraph level formatting</a:t>
            </a:r>
            <a:r>
              <a:rPr lang="en-US" sz="1200" dirty="0">
                <a:solidFill>
                  <a:srgbClr val="000000"/>
                </a:solidFill>
                <a:latin typeface="Ubuntu"/>
              </a:rPr>
              <a:t> in this document.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289560"/>
          </a:xfrm>
          <a:prstGeom prst="rect">
            <a:avLst/>
          </a:prstGeom>
          <a:noFill/>
          <a:ln>
            <a:noFill/>
          </a:ln>
        </p:spPr>
        <p:txBody>
          <a:bodyPr wrap="square" lIns="91440" tIns="45720" rIns="91440" bIns="45720" anchor="ctr" rtlCol="0">
            <a:normAutofit/>
          </a:bodyPr>
          <a:lstStyle/>
          <a:p>
            <a:pPr>
              <a:buNone/>
            </a:pPr>
            <a:r>
              <a:rPr lang="en-US" sz="1400" b="1" dirty="0">
                <a:solidFill>
                  <a:srgbClr val="365F91"/>
                </a:solidFill>
                <a:latin typeface="Ubuntu"/>
              </a:rPr>
              <a:t>Images</a:t>
            </a:r>
            <a:endParaRPr lang="en-US" sz="1400" dirty="0"/>
          </a:p>
        </p:txBody>
      </p:sp>
      <p:sp>
        <p:nvSpPr>
          <p:cNvPr id="3" name="Text 3"/>
          <p:cNvSpPr txBox="1"/>
          <p:nvPr/>
        </p:nvSpPr>
        <p:spPr>
          <a:xfrm>
            <a:off x="838200" y="825754"/>
            <a:ext cx="10911459" cy="4364355"/>
          </a:xfrm>
          <a:prstGeom prst="rect">
            <a:avLst/>
          </a:prstGeom>
          <a:noFill/>
          <a:ln>
            <a:noFill/>
          </a:ln>
        </p:spPr>
        <p:txBody>
          <a:bodyPr wrap="square" anchor="t" rtlCol="0">
            <a:normAutofit/>
          </a:bodyPr>
          <a:lstStyle/>
          <a:p>
            <a:pPr>
              <a:buNone/>
            </a:pPr>
            <a:r>
              <a:rPr lang="en-US" sz="1200" dirty="0">
                <a:solidFill>
                  <a:srgbClr val="000000"/>
                </a:solidFill>
                <a:latin typeface="Ubuntu"/>
              </a:rPr>
              <a:t>Centered images like this are useful for large pictures that should be a focus of attention. </a:t>
            </a:r>
            <a:endParaRPr lang="en-US" sz="1200" dirty="0"/>
          </a:p>
        </p:txBody>
      </p:sp>
      <p:pic>
        <p:nvPicPr>
          <p:cNvPr id="4" name="Picture 4" descr="165 Inspirational Quotes To Keep You Motivated In Life"/>
          <p:cNvPicPr>
            <a:picLocks noChangeAspect="1"/>
          </p:cNvPicPr>
          <p:nvPr/>
        </p:nvPicPr>
        <p:blipFill>
          <a:blip r:embed="rId2"/>
          <a:stretch>
            <a:fillRect/>
          </a:stretch>
        </p:blipFill>
        <p:spPr>
          <a:xfrm>
            <a:off x="4059428" y="1307592"/>
            <a:ext cx="3574542" cy="3605530"/>
          </a:xfrm>
          <a:prstGeom prst="rect">
            <a:avLst/>
          </a:prstGeom>
        </p:spPr>
      </p:pic>
      <p:sp>
        <p:nvSpPr>
          <p:cNvPr id="5" name="Text 5"/>
          <p:cNvSpPr txBox="1"/>
          <p:nvPr/>
        </p:nvSpPr>
        <p:spPr>
          <a:xfrm>
            <a:off x="1122934" y="5346065"/>
            <a:ext cx="9954133" cy="738632"/>
          </a:xfrm>
          <a:prstGeom prst="rect">
            <a:avLst/>
          </a:prstGeom>
          <a:noFill/>
          <a:ln>
            <a:noFill/>
          </a:ln>
        </p:spPr>
        <p:txBody>
          <a:bodyPr wrap="square" anchor="t" rtlCol="0">
            <a:normAutofit/>
          </a:bodyPr>
          <a:lstStyle/>
          <a:p>
            <a:pPr>
              <a:buNone/>
            </a:pPr>
            <a:r>
              <a:rPr lang="en-US" sz="1200" dirty="0">
                <a:solidFill>
                  <a:srgbClr val="000000"/>
                </a:solidFill>
                <a:latin typeface="Ubuntu"/>
              </a:rPr>
              <a:t>There is no analogous technology in ebooks, so theconversion will usually end up placingthe image either centered or floating close to the point in the text where itwas </a:t>
            </a:r>
            <a:r>
              <a:rPr lang="en-US" sz="1200" i="1" dirty="0">
                <a:solidFill>
                  <a:srgbClr val="808080"/>
                </a:solidFill>
                <a:latin typeface="Ubuntu"/>
              </a:rPr>
              <a:t>inserted</a:t>
            </a:r>
            <a:r>
              <a:rPr lang="en-US" sz="1200" dirty="0">
                <a:solidFill>
                  <a:srgbClr val="000000"/>
                </a:solidFill>
                <a:latin typeface="Ubuntu"/>
              </a:rPr>
              <a:t>, notnecessarily where it appears on the page in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txBox="1"/>
          <p:nvPr/>
        </p:nvSpPr>
        <p:spPr>
          <a:xfrm>
            <a:off x="838200" y="215011"/>
            <a:ext cx="10515600" cy="1581023"/>
          </a:xfrm>
          <a:prstGeom prst="rect">
            <a:avLst/>
          </a:prstGeom>
          <a:noFill/>
          <a:ln>
            <a:noFill/>
          </a:ln>
        </p:spPr>
        <p:txBody>
          <a:bodyPr wrap="square" anchor="t" rtlCol="0">
            <a:normAutofit/>
          </a:bodyPr>
          <a:lstStyle/>
          <a:p>
            <a:pPr algn="ctr">
              <a:buNone/>
            </a:pPr>
            <a:r>
              <a:rPr lang="en-US" sz="1400" b="1" dirty="0">
                <a:solidFill>
                  <a:srgbClr val="365F91"/>
                </a:solidFill>
                <a:latin typeface="Ubuntu"/>
              </a:rPr>
              <a:t>Lists</a:t>
            </a:r>
            <a:endParaRPr lang="en-US" sz="1400" dirty="0"/>
          </a:p>
          <a:p>
            <a:pPr>
              <a:buNone/>
            </a:pPr>
            <a:r>
              <a:rPr lang="en-US" sz="1200" dirty="0">
                <a:solidFill>
                  <a:srgbClr val="365F91"/>
                </a:solidFill>
                <a:latin typeface="Ubuntu"/>
              </a:rPr>
              <a:t>All types of lists are supported by the conversion, with the exception of lists that use fancy bullets, these get converted to regular bullets.</a:t>
            </a:r>
            <a:endParaRPr lang="en-US" sz="1200" dirty="0"/>
          </a:p>
          <a:p>
            <a:pPr>
              <a:buNone/>
            </a:pPr>
            <a:r>
              <a:rPr lang="en-US" sz="1300" b="1" dirty="0">
                <a:solidFill>
                  <a:srgbClr val="4F81BD"/>
                </a:solidFill>
                <a:latin typeface="Ubuntu"/>
              </a:rPr>
              <a:t>Bulleted List</a:t>
            </a:r>
            <a:endParaRPr lang="en-US" sz="1300" dirty="0"/>
          </a:p>
          <a:p>
            <a:pPr marL="228600" indent="-177800">
              <a:buFont typeface="Arial"/>
              <a:buChar char="•"/>
            </a:pPr>
            <a:r>
              <a:rPr lang="en-US" sz="1200" dirty="0">
                <a:solidFill>
                  <a:srgbClr val="000000"/>
                </a:solidFill>
                <a:latin typeface="Ubuntu"/>
              </a:rPr>
              <a:t>One</a:t>
            </a:r>
            <a:endParaRPr lang="en-US" sz="1200" dirty="0"/>
          </a:p>
          <a:p>
            <a:pPr marL="228600" indent="-177800">
              <a:buFont typeface="Arial"/>
              <a:buChar char="•"/>
            </a:pPr>
            <a:r>
              <a:rPr lang="en-US" sz="1200" dirty="0">
                <a:solidFill>
                  <a:srgbClr val="000000"/>
                </a:solidFill>
                <a:latin typeface="Ubuntu"/>
              </a:rPr>
              <a:t>Two</a:t>
            </a:r>
            <a:endParaRPr lang="en-US" sz="1200" dirty="0"/>
          </a:p>
        </p:txBody>
      </p:sp>
      <p:sp>
        <p:nvSpPr>
          <p:cNvPr id="3" name="Text 3"/>
          <p:cNvSpPr txBox="1"/>
          <p:nvPr/>
        </p:nvSpPr>
        <p:spPr>
          <a:xfrm>
            <a:off x="840867" y="1721104"/>
            <a:ext cx="10116185" cy="661670"/>
          </a:xfrm>
          <a:prstGeom prst="rect">
            <a:avLst/>
          </a:prstGeom>
          <a:noFill/>
          <a:ln>
            <a:noFill/>
          </a:ln>
        </p:spPr>
        <p:txBody>
          <a:bodyPr wrap="square" anchor="t" rtlCol="0">
            <a:normAutofit/>
          </a:bodyPr>
          <a:lstStyle/>
          <a:p>
            <a:pPr>
              <a:buNone/>
            </a:pPr>
            <a:r>
              <a:rPr lang="en-US" sz="1300" b="1" dirty="0">
                <a:solidFill>
                  <a:srgbClr val="4F81BD"/>
                </a:solidFill>
                <a:latin typeface="Ubuntu"/>
              </a:rPr>
              <a:t>Numbered List</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 with a very long line to demonstrate that the hanging indent for the list is working correctly</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p:txBody>
      </p:sp>
      <p:sp>
        <p:nvSpPr>
          <p:cNvPr id="4" name="Text 4"/>
          <p:cNvSpPr txBox="1"/>
          <p:nvPr/>
        </p:nvSpPr>
        <p:spPr>
          <a:xfrm>
            <a:off x="880237" y="2391156"/>
            <a:ext cx="10510393" cy="1677416"/>
          </a:xfrm>
          <a:prstGeom prst="rect">
            <a:avLst/>
          </a:prstGeom>
          <a:noFill/>
          <a:ln>
            <a:noFill/>
          </a:ln>
        </p:spPr>
        <p:txBody>
          <a:bodyPr wrap="square" anchor="t" rtlCol="0">
            <a:normAutofit/>
          </a:bodyPr>
          <a:lstStyle/>
          <a:p>
            <a:pPr>
              <a:buNone/>
            </a:pPr>
            <a:r>
              <a:rPr lang="en-US" sz="1300" b="1" dirty="0">
                <a:solidFill>
                  <a:srgbClr val="4F81BD"/>
                </a:solidFill>
                <a:latin typeface="Ubuntu"/>
              </a:rPr>
              <a:t>Multi-level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457200" indent="-177800" lvl="1">
              <a:buNone/>
            </a:pPr>
            <a:r>
              <a:rPr lang="en-US" sz="1200" dirty="0">
                <a:solidFill>
                  <a:srgbClr val="000000"/>
                </a:solidFill>
                <a:latin typeface="Ubuntu"/>
              </a:rPr>
              <a:t>1.	</a:t>
            </a:r>
            <a:r>
              <a:rPr lang="en-US" sz="1200" dirty="0">
                <a:solidFill>
                  <a:srgbClr val="000000"/>
                </a:solidFill>
                <a:latin typeface="Ubuntu"/>
              </a:rPr>
              <a:t>Two</a:t>
            </a:r>
            <a:endParaRPr lang="en-US" sz="1200" dirty="0"/>
          </a:p>
          <a:p>
            <a:pPr marL="685800" indent="-177800" lvl="2">
              <a:buNone/>
            </a:pPr>
            <a:r>
              <a:rPr lang="en-US" sz="1200" dirty="0">
                <a:solidFill>
                  <a:srgbClr val="000000"/>
                </a:solidFill>
                <a:latin typeface="Ubuntu"/>
              </a:rPr>
              <a:t>1.	</a:t>
            </a:r>
            <a:r>
              <a:rPr lang="en-US" sz="1200" dirty="0">
                <a:solidFill>
                  <a:srgbClr val="000000"/>
                </a:solidFill>
                <a:latin typeface="Ubuntu"/>
              </a:rPr>
              <a:t>Three</a:t>
            </a:r>
            <a:endParaRPr lang="en-US" sz="1200" dirty="0"/>
          </a:p>
          <a:p>
            <a:pPr marL="685800" indent="-177800" lvl="2">
              <a:buNone/>
            </a:pPr>
            <a:r>
              <a:rPr lang="en-US" sz="1200" dirty="0">
                <a:solidFill>
                  <a:srgbClr val="000000"/>
                </a:solidFill>
                <a:latin typeface="Ubuntu"/>
              </a:rPr>
              <a:t>2.	</a:t>
            </a:r>
            <a:r>
              <a:rPr lang="en-US" sz="1200" dirty="0">
                <a:solidFill>
                  <a:srgbClr val="000000"/>
                </a:solidFill>
                <a:latin typeface="Ubuntu"/>
              </a:rPr>
              <a:t>Four with a very long line to demonstrate that the hanging indent for the list is working correctly.</a:t>
            </a:r>
            <a:endParaRPr lang="en-US" sz="1200" dirty="0"/>
          </a:p>
          <a:p>
            <a:pPr marL="685800" indent="-177800" lvl="2">
              <a:buNone/>
            </a:pPr>
            <a:r>
              <a:rPr lang="en-US" sz="1200" dirty="0">
                <a:solidFill>
                  <a:srgbClr val="000000"/>
                </a:solidFill>
                <a:latin typeface="Ubuntu"/>
              </a:rPr>
              <a:t>3.	</a:t>
            </a:r>
            <a:r>
              <a:rPr lang="en-US" sz="1200" dirty="0">
                <a:solidFill>
                  <a:srgbClr val="000000"/>
                </a:solidFill>
                <a:latin typeface="Ubuntu"/>
              </a:rPr>
              <a:t>Five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Six</a:t>
            </a:r>
            <a:endParaRPr lang="en-US" sz="1200" dirty="0"/>
          </a:p>
        </p:txBody>
      </p:sp>
      <p:sp>
        <p:nvSpPr>
          <p:cNvPr id="5" name="Text 5"/>
          <p:cNvSpPr txBox="1"/>
          <p:nvPr/>
        </p:nvSpPr>
        <p:spPr>
          <a:xfrm>
            <a:off x="919607" y="3836289"/>
            <a:ext cx="10352659" cy="1200277"/>
          </a:xfrm>
          <a:prstGeom prst="rect">
            <a:avLst/>
          </a:prstGeom>
          <a:noFill/>
          <a:ln>
            <a:noFill/>
          </a:ln>
        </p:spPr>
        <p:txBody>
          <a:bodyPr wrap="square" anchor="t" rtlCol="0">
            <a:normAutofit/>
          </a:bodyPr>
          <a:lstStyle/>
          <a:p>
            <a:pPr>
              <a:buNone/>
            </a:pPr>
            <a:r>
              <a:rPr lang="en-US" sz="1200" dirty="0">
                <a:solidFill>
                  <a:srgbClr val="000000"/>
                </a:solidFill>
                <a:latin typeface="Ubuntu"/>
              </a:rPr>
              <a:t>A Multi-level list with bullets:</a:t>
            </a:r>
            <a:endParaRPr lang="en-US" sz="1200" dirty="0"/>
          </a:p>
          <a:p>
            <a:pPr marL="228600" indent="-177800">
              <a:buFont typeface="Arial"/>
              <a:buChar char="•"/>
            </a:pPr>
            <a:r>
              <a:rPr lang="en-US" sz="1200" dirty="0">
                <a:solidFill>
                  <a:srgbClr val="000000"/>
                </a:solidFill>
                <a:latin typeface="Ubuntu"/>
              </a:rPr>
              <a:t>One</a:t>
            </a:r>
            <a:endParaRPr lang="en-US" sz="1200" dirty="0"/>
          </a:p>
          <a:p>
            <a:pPr marL="457200" indent="-177800" lvl="1">
              <a:buFont typeface="Arial"/>
              <a:buChar char="•"/>
            </a:pPr>
            <a:r>
              <a:rPr lang="en-US" sz="1200" dirty="0">
                <a:solidFill>
                  <a:srgbClr val="000000"/>
                </a:solidFill>
                <a:latin typeface="Ubuntu"/>
              </a:rPr>
              <a:t>Two</a:t>
            </a:r>
            <a:endParaRPr lang="en-US" sz="1200" dirty="0"/>
          </a:p>
          <a:p>
            <a:pPr marL="685800" indent="-177800" lvl="2">
              <a:buFont typeface="Arial"/>
              <a:buChar char="•"/>
            </a:pPr>
            <a:r>
              <a:rPr lang="en-US" sz="1200" dirty="0">
                <a:solidFill>
                  <a:srgbClr val="000000"/>
                </a:solidFill>
                <a:latin typeface="Ubuntu"/>
              </a:rPr>
              <a:t>This bullet uses an image as the bullet item</a:t>
            </a:r>
            <a:endParaRPr lang="en-US" sz="1200" dirty="0"/>
          </a:p>
          <a:p>
            <a:pPr marL="914400" indent="-177800" lvl="3">
              <a:buFont typeface="Arial"/>
              <a:buChar char="•"/>
            </a:pPr>
            <a:r>
              <a:rPr lang="en-US" sz="1200" dirty="0">
                <a:solidFill>
                  <a:srgbClr val="000000"/>
                </a:solidFill>
                <a:latin typeface="Ubuntu"/>
              </a:rPr>
              <a:t>Four</a:t>
            </a:r>
            <a:endParaRPr lang="en-US" sz="1200" dirty="0"/>
          </a:p>
          <a:p>
            <a:pPr marL="228600" indent="-177800">
              <a:buFont typeface="Arial"/>
              <a:buChar char="•"/>
            </a:pPr>
            <a:r>
              <a:rPr lang="en-US" sz="1200" dirty="0">
                <a:solidFill>
                  <a:srgbClr val="000000"/>
                </a:solidFill>
                <a:latin typeface="Ubuntu"/>
              </a:rPr>
              <a:t>Five</a:t>
            </a:r>
            <a:endParaRPr lang="en-US" sz="1200" dirty="0"/>
          </a:p>
        </p:txBody>
      </p:sp>
      <p:sp>
        <p:nvSpPr>
          <p:cNvPr id="6" name="Text 6"/>
          <p:cNvSpPr txBox="1"/>
          <p:nvPr/>
        </p:nvSpPr>
        <p:spPr>
          <a:xfrm>
            <a:off x="919607" y="5084318"/>
            <a:ext cx="10208133" cy="1215771"/>
          </a:xfrm>
          <a:prstGeom prst="rect">
            <a:avLst/>
          </a:prstGeom>
          <a:noFill/>
          <a:ln>
            <a:noFill/>
          </a:ln>
        </p:spPr>
        <p:txBody>
          <a:bodyPr wrap="square" anchor="t" rtlCol="0">
            <a:normAutofit/>
          </a:bodyPr>
          <a:lstStyle/>
          <a:p>
            <a:pPr>
              <a:buNone/>
            </a:pPr>
            <a:r>
              <a:rPr lang="en-US" sz="1300" b="1" dirty="0">
                <a:solidFill>
                  <a:srgbClr val="4F81BD"/>
                </a:solidFill>
                <a:latin typeface="Ubuntu"/>
              </a:rPr>
              <a:t>Continued Lists</a:t>
            </a:r>
            <a:endParaRPr lang="en-US" sz="1300" dirty="0"/>
          </a:p>
          <a:p>
            <a:pPr marL="228600" indent="-177800">
              <a:buNone/>
            </a:pPr>
            <a:r>
              <a:rPr lang="en-US" sz="1200" dirty="0">
                <a:solidFill>
                  <a:srgbClr val="000000"/>
                </a:solidFill>
                <a:latin typeface="Ubuntu"/>
              </a:rPr>
              <a:t>1.	</a:t>
            </a:r>
            <a:r>
              <a:rPr lang="en-US" sz="1200" dirty="0">
                <a:solidFill>
                  <a:srgbClr val="000000"/>
                </a:solidFill>
                <a:latin typeface="Ubuntu"/>
              </a:rPr>
              <a:t>One</a:t>
            </a:r>
            <a:endParaRPr lang="en-US" sz="1200" dirty="0"/>
          </a:p>
          <a:p>
            <a:pPr marL="228600" indent="-177800">
              <a:buNone/>
            </a:pPr>
            <a:r>
              <a:rPr lang="en-US" sz="1200" dirty="0">
                <a:solidFill>
                  <a:srgbClr val="000000"/>
                </a:solidFill>
                <a:latin typeface="Ubuntu"/>
              </a:rPr>
              <a:t>2.	</a:t>
            </a:r>
            <a:r>
              <a:rPr lang="en-US" sz="1200" dirty="0">
                <a:solidFill>
                  <a:srgbClr val="000000"/>
                </a:solidFill>
                <a:latin typeface="Ubuntu"/>
              </a:rPr>
              <a:t>Two</a:t>
            </a:r>
            <a:endParaRPr lang="en-US" sz="1200" dirty="0"/>
          </a:p>
          <a:p>
            <a:pPr>
              <a:buNone/>
            </a:pPr>
            <a:r>
              <a:rPr lang="en-US" sz="1200" dirty="0">
                <a:solidFill>
                  <a:srgbClr val="000000"/>
                </a:solidFill>
                <a:latin typeface="Ubuntu"/>
              </a:rPr>
              <a:t>An interruption in our regularly scheduled listing, for this essential and very relevant public service announcement.</a:t>
            </a:r>
            <a:endParaRPr lang="en-US" sz="1200" dirty="0"/>
          </a:p>
          <a:p>
            <a:pPr marL="228600" indent="-177800">
              <a:buNone/>
            </a:pPr>
            <a:r>
              <a:rPr lang="en-US" sz="1200" dirty="0">
                <a:solidFill>
                  <a:srgbClr val="000000"/>
                </a:solidFill>
                <a:latin typeface="Ubuntu"/>
              </a:rPr>
              <a:t>3.	</a:t>
            </a:r>
            <a:r>
              <a:rPr lang="en-US" sz="1200" dirty="0">
                <a:solidFill>
                  <a:srgbClr val="000000"/>
                </a:solidFill>
                <a:latin typeface="Ubuntu"/>
              </a:rPr>
              <a:t>We now resume our normal programming</a:t>
            </a:r>
            <a:endParaRPr lang="en-US" sz="1200" dirty="0"/>
          </a:p>
          <a:p>
            <a:pPr marL="228600" indent="-177800">
              <a:buNone/>
            </a:pPr>
            <a:r>
              <a:rPr lang="en-US" sz="1200" dirty="0">
                <a:solidFill>
                  <a:srgbClr val="000000"/>
                </a:solidFill>
                <a:latin typeface="Ubuntu"/>
              </a:rPr>
              <a:t>4.	</a:t>
            </a:r>
            <a:r>
              <a:rPr lang="en-US" sz="1200" dirty="0">
                <a:solidFill>
                  <a:srgbClr val="000000"/>
                </a:solidFill>
                <a:latin typeface="Ubuntu"/>
              </a:rPr>
              <a:t>Four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2"/>
          <p:cNvSpPr/>
          <p:nvPr/>
        </p:nvSpPr>
        <p:spPr>
          <a:xfrm>
            <a:off x="838200" y="365125"/>
            <a:ext cx="10515600" cy="1325626"/>
          </a:xfrm>
          <a:prstGeom prst="rect">
            <a:avLst/>
          </a:prstGeom>
          <a:noFill/>
          <a:ln>
            <a:noFill/>
          </a:ln>
        </p:spPr>
        <p:txBody>
          <a:bodyPr wrap="square" lIns="91440" tIns="45720" rIns="91440" bIns="45720" anchor="ctr" rtlCol="0">
            <a:normAutofit/>
          </a:bodyPr>
          <a:lstStyle/>
          <a:p>
            <a:pPr>
              <a:buNone/>
            </a:pPr>
            <a:r>
              <a:rPr lang="en-US" sz="4400" dirty="0">
                <a:solidFill>
                  <a:srgbClr val="000000"/>
                </a:solidFill>
              </a:rPr>
              <a:t>Charts</a:t>
            </a:r>
            <a:endParaRPr lang="en-US" sz="4400" dirty="0"/>
          </a:p>
        </p:txBody>
      </p:sp>
      <p:graphicFrame>
        <p:nvGraphicFramePr>
          <p:cNvPr id="3" name="Table 3"/>
          <p:cNvGraphicFramePr>
            <a:graphicFrameLocks noGrp="1"/>
          </p:cNvGraphicFramePr>
          <p:nvPr/>
        </p:nvGraphicFramePr>
        <p:xfrm>
          <a:off x="2919603" y="2134870"/>
          <a:ext cx="6096000" cy="4146550"/>
        </p:xfrm>
        <a:graphic>
          <a:graphicData uri="http://schemas.openxmlformats.org/drawingml/2006/table">
            <a:tbl>
              <a:tblPr firstRow="1"/>
              <a:tblGrid>
                <a:gridCol w="1385455"/>
                <a:gridCol w="1108364"/>
                <a:gridCol w="2493818"/>
                <a:gridCol w="1108364"/>
              </a:tblGrid>
              <a:tr h="82931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829310">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9</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2025-11-25T16:36:03Z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