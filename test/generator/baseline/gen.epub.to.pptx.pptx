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theme" Target="theme/theme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DOCX Demo</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Demonstration of DOCX support in calibre</a:t>
            </a:r>
            <a:endParaRPr lang="en-US" sz="1800" dirty="0"/>
          </a:p>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links, dropcaps and various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a:t>
            </a:r>
            <a:r>
              <a:rPr lang="en-US" sz="1800" b="1" dirty="0"/>
              <a:t>Convert”. </a:t>
            </a:r>
            <a:r>
              <a:rPr lang="en-US" sz="1800" dirty="0"/>
              <a:t>Set the output format in the top right corner of the conversion dialog to EPUB or AZW3 and click </a:t>
            </a:r>
            <a:r>
              <a:rPr lang="en-US" sz="1800" b="1" dirty="0"/>
              <a:t>“OK”</a:t>
            </a:r>
            <a:r>
              <a:rPr lang="en-US" sz="1800" dirty="0"/>
              <a: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Text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b="1" dirty="0"/>
              <a:t>Inline formatting</a:t>
            </a:r>
            <a:endParaRPr lang="en-US" sz="1800" dirty="0"/>
          </a:p>
          <a:p>
            <a:pPr>
              <a:buNone/>
            </a:pPr>
            <a:r>
              <a:rPr lang="en-US" sz="1800" dirty="0"/>
              <a:t>Here, we demonstrate various types of inline text formatting and the use of embedded fonts.</a:t>
            </a:r>
            <a:br>
              <a:rPr lang="en-US" dirty="0"/>
            </a:br>
            <a:endParaRPr lang="en-US" sz="1800" dirty="0"/>
          </a:p>
          <a:p>
            <a:pPr>
              <a:buNone/>
            </a:pPr>
            <a:r>
              <a:rPr lang="en-US" sz="1800" dirty="0"/>
              <a:t>Here is some </a:t>
            </a:r>
            <a:r>
              <a:rPr lang="en-US" sz="1800" b="1" dirty="0"/>
              <a:t>bold, </a:t>
            </a:r>
            <a:r>
              <a:rPr lang="en-US" sz="1800" i="1" dirty="0"/>
              <a:t>italic, </a:t>
            </a:r>
            <a:r>
              <a:rPr lang="en-US" sz="1800" dirty="0"/>
              <a:t>bold-italic, </a:t>
            </a:r>
            <a:r>
              <a:rPr lang="en-US" sz="1800" dirty="0"/>
              <a:t>underlined </a:t>
            </a:r>
            <a:r>
              <a:rPr lang="en-US" sz="1800" dirty="0"/>
              <a:t>and </a:t>
            </a:r>
            <a:r>
              <a:rPr lang="en-US" sz="1800" dirty="0"/>
              <a:t>struck out </a:t>
            </a:r>
            <a:r>
              <a:rPr lang="en-US" sz="1800" dirty="0"/>
              <a:t>text. Then, we have a super</a:t>
            </a:r>
            <a:r>
              <a:rPr lang="en-US" sz="1800" baseline="30000" dirty="0"/>
              <a:t>script</a:t>
            </a:r>
            <a:r>
              <a:rPr lang="en-US" sz="1800" dirty="0"/>
              <a:t> and a sub</a:t>
            </a:r>
            <a:r>
              <a:rPr lang="en-US" sz="1800" baseline="-25000" dirty="0"/>
              <a:t>script</a:t>
            </a:r>
            <a:r>
              <a:rPr lang="en-US" sz="1800" dirty="0"/>
              <a:t>. Now we see some </a:t>
            </a:r>
            <a:r>
              <a:rPr lang="en-US" sz="1800" dirty="0"/>
              <a:t>red</a:t>
            </a:r>
            <a:r>
              <a:rPr lang="en-US" sz="1800" dirty="0"/>
              <a:t>, </a:t>
            </a:r>
            <a:r>
              <a:rPr lang="en-US" sz="1800" dirty="0"/>
              <a:t>green</a:t>
            </a:r>
            <a:r>
              <a:rPr lang="en-US" sz="1800" dirty="0"/>
              <a:t> and </a:t>
            </a:r>
            <a:r>
              <a:rPr lang="en-US" sz="1800" dirty="0"/>
              <a:t>blue</a:t>
            </a:r>
            <a:r>
              <a:rPr lang="en-US" sz="1800" dirty="0"/>
              <a:t> text. Some text with a </a:t>
            </a:r>
            <a:r>
              <a:rPr lang="en-US" sz="1800" dirty="0"/>
              <a:t>yellow highlight</a:t>
            </a:r>
            <a:r>
              <a:rPr lang="en-US" sz="1800" dirty="0"/>
              <a:t>. Some text in a </a:t>
            </a:r>
            <a:r>
              <a:rPr lang="en-US" sz="1800" dirty="0"/>
              <a:t>box</a:t>
            </a:r>
            <a:r>
              <a:rPr lang="en-US" sz="1800" dirty="0"/>
              <a:t>. Some text in </a:t>
            </a:r>
            <a:r>
              <a:rPr lang="en-US" sz="1800" dirty="0"/>
              <a:t>inverse video</a:t>
            </a:r>
            <a:r>
              <a:rPr lang="en-US" sz="1800" dirty="0"/>
              <a:t>.</a:t>
            </a:r>
            <a:endParaRPr lang="en-US" sz="1800" dirty="0"/>
          </a:p>
          <a:p>
            <a:pPr>
              <a:buNone/>
            </a:pPr>
            <a:r>
              <a:rPr lang="en-US" sz="1800" dirty="0"/>
              <a:t>A paragraph with styled text: </a:t>
            </a:r>
            <a:r>
              <a:rPr lang="en-US" sz="1800" dirty="0"/>
              <a:t>subtle emphasis </a:t>
            </a:r>
            <a:r>
              <a:rPr lang="en-US" sz="1800" dirty="0"/>
              <a:t>followed by </a:t>
            </a:r>
            <a:r>
              <a:rPr lang="en-US" sz="1800" b="1" dirty="0"/>
              <a:t>strong text </a:t>
            </a:r>
            <a:r>
              <a:rPr lang="en-US" sz="1800" dirty="0"/>
              <a:t>and </a:t>
            </a:r>
            <a:r>
              <a:rPr lang="en-US" sz="1800" dirty="0"/>
              <a:t>intense emphasis</a:t>
            </a:r>
            <a:r>
              <a:rPr lang="en-US" sz="1800" dirty="0"/>
              <a:t>. This paragraph uses document wide styles for styling rather than inline text properties as demonstrated in the previous paragraph — calibre can handle both with equal ease.</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a:t>
            </a:r>
            <a:r>
              <a:rPr lang="en-US" sz="1800" dirty="0"/>
              <a:t>some text in the Ubuntu Mono typeface, notice how every letter has the same width, even i and m</a:t>
            </a:r>
            <a:r>
              <a:rPr lang="en-US" sz="1800" dirty="0"/>
              <a:t>. Every embedded font will automatically be embedded in the output ebook during conversion.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200" dirty="0"/>
                        <a:t>City or Town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formatting for the header row and sub header rows is preserved.</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Source:</a:t>
            </a:r>
            <a:r>
              <a:rPr lang="en-US" sz="1800" dirty="0"/>
              <a:t> Fictitious data, for illustration purposes only</a:t>
            </a:r>
            <a:endParaRPr lang="en-US" sz="1800" dirty="0"/>
          </a:p>
          <a:p>
            <a:pPr>
              <a:buNone/>
            </a:pPr>
            <a:r>
              <a:rPr lang="en-US" sz="1800" dirty="0"/>
              <a:t>Next, we have something a little more complex, a nested table, i.e. a table inside another table. Additionally, the inner table has some of its cells merged. The table is displayed horizontally centered.</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44436"/>
                <a:gridCol w="5985164"/>
              </a:tblGrid>
              <a:tr h="3683000">
                <a:tc>
                  <a:txBody>
                    <a:bodyPr/>
                    <a:lstStyle/>
                    <a:p>
                      <a:pPr>
                        <a:buNone/>
                      </a:pPr>
                      <a:r>
                        <a:rPr lang="en-US" sz="1200" dirty="0"/>
                        <a:t>One</a:t>
                      </a:r>
                      <a:r>
                        <a:rPr lang="en-US" sz="1200" dirty="0"/>
                        <a:t>Three</a:t>
                      </a:r>
                      <a:r>
                        <a:rPr lang="en-US" sz="1200" dirty="0"/>
                        <a:t>Two</a:t>
                      </a:r>
                      <a:r>
                        <a:rPr lang="en-US" sz="1200" dirty="0"/>
                        <a:t>Four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We end with a fancy calendar, note how much of the original formatting is preserved.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a:t>
            </a:r>
            <a:r>
              <a:rPr lang="en-US" sz="1800" baseline="30000" dirty="0"/>
              <a:t>1</a:t>
            </a:r>
            <a:r>
              <a:rPr lang="en-US" sz="1800" dirty="0"/>
              <a:t> and endnotes</a:t>
            </a:r>
            <a:r>
              <a:rPr lang="en-US" sz="1800" baseline="30000" dirty="0"/>
              <a:t>2</a:t>
            </a:r>
            <a:r>
              <a:rPr lang="en-US" sz="1800" dirty="0"/>
              <a:t> are automatically recognized and both are converted to endnotes, with backlinks for maximum ease of use in ebook devices.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D</a:t>
            </a:r>
            <a:endParaRPr lang="en-US" sz="1800" dirty="0"/>
          </a:p>
          <a:p>
            <a:pPr>
              <a:buNone/>
            </a:pPr>
            <a:r>
              <a:rPr lang="en-US" sz="1800" dirty="0"/>
              <a:t>rop caps are used to emphasize the leading paragraph at the start of a section. In Word it is possible to specify how many lines of text a drop-cap should use.</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locations inside the document itself. Both are supported by calibre. For example, here is a link pointing to the </a:t>
            </a:r>
            <a:r>
              <a:rPr lang="en-US" sz="1800" dirty="0">
                <a:hlinkClick r:id="rId2"/>
              </a:rPr>
              <a:t>calibre download page</a:t>
            </a:r>
            <a:r>
              <a:rPr lang="en-US" sz="1800" dirty="0"/>
              <a:t>. Then we have a link that points back to the section on </a:t>
            </a:r>
            <a:r>
              <a:rPr lang="en-US" sz="1800" dirty="0"/>
              <a:t>paragraph level formatting</a:t>
            </a:r>
            <a:r>
              <a:rPr lang="en-US" sz="1800" dirty="0"/>
              <a:t> in this document.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see the Table of Contents created by calibre by clicking the Table of Contents button in whatever viewer you are using to view the converted ebook.</a:t>
            </a:r>
            <a:endParaRPr lang="en-US" sz="1800" dirty="0"/>
          </a:p>
          <a:p>
            <a:pPr>
              <a:buNone/>
            </a:pPr>
            <a:r>
              <a:rPr lang="en-US" sz="1800" dirty="0"/>
              <a:t>Demonstration of DOCX support in calibre</a:t>
            </a:r>
            <a:r>
              <a:rPr lang="en-US" sz="1800" dirty="0"/>
              <a:t> </a:t>
            </a:r>
            <a:r>
              <a:rPr lang="en-US" sz="1800" dirty="0"/>
              <a:t>1</a:t>
            </a:r>
            <a:endParaRPr lang="en-US" sz="1800" dirty="0"/>
          </a:p>
          <a:p>
            <a:pPr>
              <a:buNone/>
            </a:pPr>
            <a:r>
              <a:rPr lang="en-US" sz="1800" dirty="0"/>
              <a:t>Text Formatting</a:t>
            </a:r>
            <a:r>
              <a:rPr lang="en-US" sz="1800" dirty="0"/>
              <a:t> </a:t>
            </a:r>
            <a:r>
              <a:rPr lang="en-US" sz="1800" dirty="0"/>
              <a:t>1</a:t>
            </a:r>
            <a:endParaRPr lang="en-US" sz="1800" dirty="0"/>
          </a:p>
          <a:p>
            <a:pPr>
              <a:buNone/>
            </a:pPr>
            <a:r>
              <a:rPr lang="en-US" sz="1800" dirty="0"/>
              <a:t>Inline formatting</a:t>
            </a:r>
            <a:r>
              <a:rPr lang="en-US" sz="1800" dirty="0"/>
              <a:t> </a:t>
            </a:r>
            <a:r>
              <a:rPr lang="en-US" sz="1800" dirty="0"/>
              <a:t>2</a:t>
            </a:r>
            <a:endParaRPr lang="en-US" sz="1800" dirty="0"/>
          </a:p>
          <a:p>
            <a:pPr>
              <a:buNone/>
            </a:pPr>
            <a:r>
              <a:rPr lang="en-US" sz="1800" dirty="0"/>
              <a:t>Fun with fonts</a:t>
            </a:r>
            <a:r>
              <a:rPr lang="en-US" sz="1800" dirty="0"/>
              <a:t> </a:t>
            </a:r>
            <a:r>
              <a:rPr lang="en-US" sz="1800" dirty="0"/>
              <a:t>2</a:t>
            </a:r>
            <a:endParaRPr lang="en-US" sz="1800" dirty="0"/>
          </a:p>
          <a:p>
            <a:pPr>
              <a:buNone/>
            </a:pPr>
            <a:r>
              <a:rPr lang="en-US" sz="1800" dirty="0"/>
              <a:t>Paragraph level formatting</a:t>
            </a:r>
            <a:r>
              <a:rPr lang="en-US" sz="1800" dirty="0"/>
              <a:t> </a:t>
            </a:r>
            <a:r>
              <a:rPr lang="en-US" sz="1800" dirty="0"/>
              <a:t>2</a:t>
            </a:r>
            <a:endParaRPr lang="en-US" sz="1800" dirty="0"/>
          </a:p>
          <a:p>
            <a:pPr>
              <a:buNone/>
            </a:pPr>
            <a:r>
              <a:rPr lang="en-US" sz="1800" dirty="0"/>
              <a:t>Tables</a:t>
            </a:r>
            <a:r>
              <a:rPr lang="en-US" sz="1800" dirty="0"/>
              <a:t> </a:t>
            </a:r>
            <a:r>
              <a:rPr lang="en-US" sz="1800" dirty="0"/>
              <a:t>2</a:t>
            </a:r>
            <a:endParaRPr lang="en-US" sz="1800" dirty="0"/>
          </a:p>
          <a:p>
            <a:pPr>
              <a:buNone/>
            </a:pPr>
            <a:r>
              <a:rPr lang="en-US" sz="1800" dirty="0"/>
              <a:t>Structural Elements</a:t>
            </a:r>
            <a:r>
              <a:rPr lang="en-US" sz="1800" dirty="0"/>
              <a:t> </a:t>
            </a:r>
            <a:r>
              <a:rPr lang="en-US" sz="1800" dirty="0"/>
              <a:t>4</a:t>
            </a:r>
            <a:endParaRPr lang="en-US" sz="1800" dirty="0"/>
          </a:p>
          <a:p>
            <a:pPr>
              <a:buNone/>
            </a:pPr>
            <a:r>
              <a:rPr lang="en-US" sz="1800" dirty="0"/>
              <a:t>Footnotes &amp; Endnotes</a:t>
            </a:r>
            <a:r>
              <a:rPr lang="en-US" sz="1800" dirty="0"/>
              <a:t> </a:t>
            </a:r>
            <a:r>
              <a:rPr lang="en-US" sz="1800" dirty="0"/>
              <a:t>5</a:t>
            </a:r>
            <a:endParaRPr lang="en-US" sz="1800" dirty="0"/>
          </a:p>
          <a:p>
            <a:pPr>
              <a:buNone/>
            </a:pPr>
            <a:r>
              <a:rPr lang="en-US" sz="1800" dirty="0"/>
              <a:t>Dropcaps</a:t>
            </a:r>
            <a:r>
              <a:rPr lang="en-US" sz="1800" dirty="0"/>
              <a:t> </a:t>
            </a:r>
            <a:r>
              <a:rPr lang="en-US" sz="1800" dirty="0"/>
              <a:t>5</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Links</a:t>
            </a:r>
            <a:r>
              <a:rPr lang="en-US" sz="1800" dirty="0"/>
              <a:t> </a:t>
            </a:r>
            <a:r>
              <a:rPr lang="en-US" sz="1800" dirty="0"/>
              <a:t>5</a:t>
            </a:r>
            <a:endParaRPr lang="en-US" sz="1800" dirty="0"/>
          </a:p>
          <a:p>
            <a:pPr>
              <a:buNone/>
            </a:pPr>
            <a:r>
              <a:rPr lang="en-US" sz="1800" dirty="0"/>
              <a:t>Table of Contents</a:t>
            </a:r>
            <a:r>
              <a:rPr lang="en-US" sz="1800" dirty="0"/>
              <a:t> </a:t>
            </a:r>
            <a:r>
              <a:rPr lang="en-US" sz="1800" dirty="0"/>
              <a:t>5</a:t>
            </a:r>
            <a:endParaRPr lang="en-US" sz="1800" dirty="0"/>
          </a:p>
          <a:p>
            <a:pPr>
              <a:buNone/>
            </a:pPr>
            <a:r>
              <a:rPr lang="en-US" sz="1800" dirty="0"/>
              <a:t>Images</a:t>
            </a:r>
            <a:r>
              <a:rPr lang="en-US" sz="1800" dirty="0"/>
              <a:t> </a:t>
            </a:r>
            <a:r>
              <a:rPr lang="en-US" sz="1800" dirty="0"/>
              <a:t>6</a:t>
            </a:r>
            <a:endParaRPr lang="en-US" sz="1800" dirty="0"/>
          </a:p>
          <a:p>
            <a:pPr>
              <a:buNone/>
            </a:pPr>
            <a:r>
              <a:rPr lang="en-US" sz="1800" dirty="0"/>
              <a:t>Lists</a:t>
            </a:r>
            <a:r>
              <a:rPr lang="en-US" sz="1800" dirty="0"/>
              <a:t> </a:t>
            </a:r>
            <a:r>
              <a:rPr lang="en-US" sz="1800" dirty="0"/>
              <a:t>7</a:t>
            </a:r>
            <a:endParaRPr lang="en-US" sz="1800" dirty="0"/>
          </a:p>
          <a:p>
            <a:pPr>
              <a:buNone/>
            </a:pPr>
            <a:r>
              <a:rPr lang="en-US" sz="1800" dirty="0"/>
              <a:t>Bulleted List</a:t>
            </a:r>
            <a:r>
              <a:rPr lang="en-US" sz="1800" dirty="0"/>
              <a:t> </a:t>
            </a:r>
            <a:r>
              <a:rPr lang="en-US" sz="1800" dirty="0"/>
              <a:t>8</a:t>
            </a:r>
            <a:endParaRPr lang="en-US" sz="1800" dirty="0"/>
          </a:p>
          <a:p>
            <a:pPr>
              <a:buNone/>
            </a:pPr>
            <a:r>
              <a:rPr lang="en-US" sz="1800" dirty="0"/>
              <a:t>Numbered List</a:t>
            </a:r>
            <a:r>
              <a:rPr lang="en-US" sz="1800" dirty="0"/>
              <a:t> </a:t>
            </a:r>
            <a:r>
              <a:rPr lang="en-US" sz="1800" dirty="0"/>
              <a:t>8</a:t>
            </a:r>
            <a:endParaRPr lang="en-US" sz="1800" dirty="0"/>
          </a:p>
          <a:p>
            <a:pPr>
              <a:buNone/>
            </a:pPr>
            <a:r>
              <a:rPr lang="en-US" sz="1800" dirty="0"/>
              <a:t>Multi-level Lists</a:t>
            </a:r>
            <a:r>
              <a:rPr lang="en-US" sz="1800" dirty="0"/>
              <a:t> </a:t>
            </a:r>
            <a:r>
              <a:rPr lang="en-US" sz="1800" dirty="0"/>
              <a:t>8</a:t>
            </a:r>
            <a:endParaRPr lang="en-US" sz="1800" dirty="0"/>
          </a:p>
          <a:p>
            <a:pPr>
              <a:buNone/>
            </a:pPr>
            <a:r>
              <a:rPr lang="en-US" sz="1800" dirty="0"/>
              <a:t>Continued Lists</a:t>
            </a:r>
            <a:r>
              <a:rPr lang="en-US" sz="1800" dirty="0"/>
              <a:t> </a:t>
            </a:r>
            <a:r>
              <a:rPr lang="en-US" sz="1800" dirty="0"/>
              <a:t>8</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There is no analogous technology in ebooks, so the conversion will usually end up placing the image either centered or floating close to the point in the text where it was </a:t>
            </a:r>
            <a:r>
              <a:rPr lang="en-US" sz="1800" dirty="0"/>
              <a:t>inserted</a:t>
            </a:r>
            <a:r>
              <a:rPr lang="en-US" sz="1800" dirty="0"/>
              <a:t>, not necessarily where it appears on the page in Word.</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 with a very long line to demonstrate that the hanging indent for the list is working correctly</a:t>
            </a:r>
            <a:endParaRPr lang="en-US" sz="1800" dirty="0"/>
          </a:p>
          <a:p>
            <a:pPr marL="228600" indent="-177800">
              <a:buFont typeface="+mj-lt"/>
              <a:buAutoNum type="arabicPeriod"/>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a:buNone/>
            </a:pPr>
            <a:r>
              <a:rPr lang="en-US" sz="1800" dirty="0"/>
              <a:t>1.1. Two</a:t>
            </a:r>
            <a:endParaRPr lang="en-US" sz="1800" dirty="0"/>
          </a:p>
          <a:p>
            <a:pPr>
              <a:buNone/>
            </a:pPr>
            <a:r>
              <a:rPr lang="en-US" sz="1800" dirty="0"/>
              <a:t>1.1.1. Three</a:t>
            </a:r>
            <a:endParaRPr lang="en-US" sz="1800" dirty="0"/>
          </a:p>
          <a:p>
            <a:pPr>
              <a:buNone/>
            </a:pPr>
            <a:r>
              <a:rPr lang="en-US" sz="1800" dirty="0"/>
              <a:t>1.1.2. Four with a very long line to demonstrate that the hanging indent for the list is working correctly.</a:t>
            </a:r>
            <a:endParaRPr lang="en-US" sz="1800" dirty="0"/>
          </a:p>
          <a:p>
            <a:pPr>
              <a:buNone/>
            </a:pPr>
            <a:r>
              <a:rPr lang="en-US" sz="1800" dirty="0"/>
              <a:t>1.1.3. Five</a:t>
            </a:r>
            <a:endParaRPr lang="en-US" sz="1800" dirty="0"/>
          </a:p>
          <a:p>
            <a:pPr marL="228600" indent="-177800">
              <a:buFont typeface="+mj-lt"/>
              <a:buAutoNum type="arabicPeriod"/>
            </a:pP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a:p>
            <a:pPr marL="228600" indent="-177800">
              <a:buFont typeface="Arial"/>
              <a:buChar char="•"/>
            </a:pPr>
            <a:r>
              <a:rPr lang="en-US" sz="1800" dirty="0"/>
              <a:t>This bullet uses an image as the bullet item</a:t>
            </a:r>
            <a:endParaRPr lang="en-US" sz="1800" dirty="0"/>
          </a:p>
          <a:p>
            <a:pPr marL="228600" indent="-177800">
              <a:buFont typeface="Arial"/>
              <a:buChar char="•"/>
            </a:pPr>
            <a:r>
              <a:rPr lang="en-US" sz="1800" dirty="0"/>
              <a:t>Four</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228600" indent="-177800">
              <a:buFont typeface="+mj-lt"/>
              <a:buAutoNum type="arabicPeriod"/>
            </a:pP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Font typeface="+mj-lt"/>
              <a:buAutoNum type="arabicPeriod"/>
            </a:pPr>
            <a:r>
              <a:rPr lang="en-US" sz="1800" dirty="0"/>
              <a:t>We now resume our normal programming</a:t>
            </a:r>
            <a:endParaRPr lang="en-US" sz="1800" dirty="0"/>
          </a:p>
          <a:p>
            <a:pPr marL="228600" indent="-177800">
              <a:buFont typeface="+mj-lt"/>
              <a:buAutoNum type="arabicPeriod"/>
            </a:pPr>
            <a:r>
              <a:rPr lang="en-US" sz="1800" dirty="0"/>
              <a:t>Four</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t>
            </a:r>
            <a:r>
              <a:rPr lang="en-US" sz="1800" dirty="0"/>
              <a:t>←1</a:t>
            </a:r>
            <a:r>
              <a:rPr lang="en-US" sz="1800" dirty="0"/>
              <a:t>]</a:t>
            </a:r>
            <a:endParaRPr lang="en-US" sz="1800" dirty="0"/>
          </a:p>
          <a:p>
            <a:pPr>
              <a:buNone/>
            </a:pPr>
            <a:r>
              <a:rPr lang="en-US" sz="1800" dirty="0"/>
              <a:t>In paged media, footnotes are usually displayed at the bottom of the text. However, in ebooks, a better paradigm is to make them clickable endnotes that the user can browse at her pleasure. This conversion is handled automatically by calibre.</a:t>
            </a:r>
            <a:endParaRPr lang="en-US" sz="1800" dirty="0"/>
          </a:p>
          <a:p>
            <a:pPr>
              <a:buNone/>
            </a:pPr>
            <a:r>
              <a:rPr lang="en-US" sz="1800" dirty="0"/>
              <a:t>[</a:t>
            </a:r>
            <a:r>
              <a:rPr lang="en-US" sz="1800" dirty="0"/>
              <a:t>←2</a:t>
            </a:r>
            <a:r>
              <a:rPr lang="en-US" sz="1800" dirty="0"/>
              <a:t>]</a:t>
            </a:r>
            <a:endParaRPr lang="en-US" sz="1800" dirty="0"/>
          </a:p>
          <a:p>
            <a:pPr>
              <a:buNone/>
            </a:pPr>
            <a:r>
              <a:rPr lang="en-US" sz="1800" dirty="0"/>
              <a:t>Endnotes are typically used for longer notes, they remain endnotes when converted into ebook form, except that they have an additional backlink to make it easy to return to the current position after reading the note.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30</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subject>calibre</dc:subject>
  <dc:description>Demonstration of DOCX support in calibre</dc:description>
  <dcterms:created xsi:type="dcterms:W3CDTF">2024-01-01T00:00:00Z</dcterms:created>
  <dcterms:modified xsi:type="dcterms:W3CDTF">2024-01-01T00:00:00Z</dcterms:modified>
</cp:coreProperties>
</file>