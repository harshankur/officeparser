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theme" Target="theme/theme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Demonstration of DOCX support in calibre</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a:t>
            </a:r>
            <a:endParaRPr lang="en-US" sz="1200" dirty="0"/>
          </a:p>
          <a:p>
            <a:pPr>
              <a:buNone/>
            </a:pPr>
            <a:r>
              <a:rPr lang="en-US" sz="1200" dirty="0">
                <a:latin typeface="Ubuntu"/>
              </a:rPr>
              <a:t>There is support for images, tables, lists, footnotes, endnotes,</a:t>
            </a:r>
            <a:r>
              <a:rPr lang="en-US" sz="1200" dirty="0">
                <a:latin typeface="Ubuntu"/>
              </a:rPr>
              <a:t> </a:t>
            </a:r>
            <a:r>
              <a:rPr lang="en-US" sz="1200" dirty="0">
                <a:latin typeface="Ubuntu"/>
              </a:rPr>
              <a:t>links, dropcaps and</a:t>
            </a:r>
            <a:r>
              <a:rPr lang="en-US" sz="1200" dirty="0">
                <a:latin typeface="Ubuntu"/>
              </a:rPr>
              <a:t> </a:t>
            </a:r>
            <a:r>
              <a:rPr lang="en-US" sz="1200" dirty="0">
                <a:latin typeface="Ubuntu"/>
              </a:rPr>
              <a:t>various</a:t>
            </a:r>
            <a:r>
              <a:rPr lang="en-US" sz="1200" dirty="0">
                <a:latin typeface="Ubuntu"/>
              </a:rPr>
              <a:t> </a:t>
            </a:r>
            <a:r>
              <a:rPr lang="en-US" sz="1200" dirty="0">
                <a:latin typeface="Ubuntu"/>
              </a:rPr>
              <a:t>types of text and paragraph level formatting.</a:t>
            </a:r>
            <a:endParaRPr lang="en-US" sz="1200" dirty="0"/>
          </a:p>
          <a:p>
            <a:pPr>
              <a:buNone/>
            </a:pPr>
            <a:r>
              <a:rPr lang="en-US" sz="1200" dirty="0">
                <a:latin typeface="Ubuntu"/>
              </a:rPr>
              <a:t>To see the DOCX conversion in action, simply add this file to calibre using the</a:t>
            </a:r>
            <a:r>
              <a:rPr lang="en-US" sz="1200" dirty="0">
                <a:latin typeface="Ubuntu"/>
              </a:rPr>
              <a:t> </a:t>
            </a:r>
            <a:r>
              <a:rPr lang="en-US" sz="1200" b="1" dirty="0">
                <a:latin typeface="Ubuntu"/>
              </a:rPr>
              <a:t>“Add Books”</a:t>
            </a:r>
            <a:r>
              <a:rPr lang="en-US" sz="1200" b="1" dirty="0">
                <a:latin typeface="Ubuntu"/>
              </a:rPr>
              <a:t> </a:t>
            </a:r>
            <a:r>
              <a:rPr lang="en-US" sz="1200" dirty="0">
                <a:latin typeface="Ubuntu"/>
              </a:rPr>
              <a:t>button and then click “</a:t>
            </a:r>
            <a:r>
              <a:rPr lang="en-US" sz="1200" b="1" dirty="0">
                <a:latin typeface="Ubuntu"/>
              </a:rPr>
              <a:t>Convert”.</a:t>
            </a:r>
            <a:r>
              <a:rPr lang="en-US" sz="1200" b="1" dirty="0">
                <a:latin typeface="Ubuntu"/>
              </a:rPr>
              <a:t> </a:t>
            </a:r>
            <a:r>
              <a:rPr lang="en-US" sz="1200" dirty="0">
                <a:latin typeface="Ubuntu"/>
              </a:rPr>
              <a:t> </a:t>
            </a:r>
            <a:r>
              <a:rPr lang="en-US" sz="1200" dirty="0">
                <a:latin typeface="Ubuntu"/>
              </a:rPr>
              <a:t>Set the output format in the top right corner of the conversion dialog to EPUB or AZW3 and click</a:t>
            </a:r>
            <a:r>
              <a:rPr lang="en-US" sz="1200" dirty="0">
                <a:latin typeface="Ubuntu"/>
              </a:rPr>
              <a:t> </a:t>
            </a:r>
            <a:r>
              <a:rPr lang="en-US" sz="1200" b="1" dirty="0">
                <a:latin typeface="Ubuntu"/>
              </a:rPr>
              <a:t>“OK”</a:t>
            </a:r>
            <a:r>
              <a:rPr lang="en-US" sz="1200" dirty="0">
                <a:latin typeface="Ubuntu"/>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Text Formatting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Inline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Here, we demonstrate various types of inline text formatting and the use of embedded fonts.</a:t>
            </a:r>
            <a:endParaRPr lang="en-US" sz="1200" dirty="0"/>
          </a:p>
          <a:p>
            <a:pPr>
              <a:buNone/>
            </a:pPr>
            <a:r>
              <a:rPr lang="en-US" sz="1200" dirty="0">
                <a:latin typeface="Ubuntu"/>
              </a:rPr>
              <a:t>Here is some</a:t>
            </a:r>
            <a:r>
              <a:rPr lang="en-US" sz="1200" dirty="0">
                <a:latin typeface="Ubuntu"/>
              </a:rPr>
              <a:t> </a:t>
            </a:r>
            <a:r>
              <a:rPr lang="en-US" sz="1200" b="1" dirty="0">
                <a:latin typeface="Ubuntu"/>
              </a:rPr>
              <a:t>bold,</a:t>
            </a:r>
            <a:r>
              <a:rPr lang="en-US" sz="1200" b="1" dirty="0">
                <a:latin typeface="Ubuntu"/>
              </a:rPr>
              <a:t> </a:t>
            </a:r>
            <a:r>
              <a:rPr lang="en-US" sz="1200" i="1" dirty="0">
                <a:latin typeface="Ubuntu"/>
              </a:rPr>
              <a:t>italic,</a:t>
            </a:r>
            <a:r>
              <a:rPr lang="en-US" sz="1200" i="1" dirty="0">
                <a:latin typeface="Ubuntu"/>
              </a:rPr>
              <a:t> </a:t>
            </a:r>
            <a:r>
              <a:rPr lang="en-US" sz="1200" b="1" i="1" dirty="0">
                <a:latin typeface="Ubuntu"/>
              </a:rPr>
              <a:t>bold-italic,</a:t>
            </a:r>
            <a:r>
              <a:rPr lang="en-US" sz="1200" b="1" i="1" dirty="0">
                <a:latin typeface="Ubuntu"/>
              </a:rPr>
              <a:t> </a:t>
            </a:r>
            <a:r>
              <a:rPr lang="en-US" sz="1200" u="sng" dirty="0">
                <a:latin typeface="Ubuntu"/>
              </a:rPr>
              <a:t>underlined</a:t>
            </a:r>
            <a:r>
              <a:rPr lang="en-US" sz="1200" u="sng" dirty="0">
                <a:latin typeface="Ubuntu"/>
              </a:rPr>
              <a:t> </a:t>
            </a:r>
            <a:r>
              <a:rPr lang="en-US" sz="1200" dirty="0">
                <a:latin typeface="Ubuntu"/>
              </a:rPr>
              <a:t>and</a:t>
            </a:r>
            <a:r>
              <a:rPr lang="en-US" sz="1200" dirty="0">
                <a:latin typeface="Ubuntu"/>
              </a:rPr>
              <a:t> </a:t>
            </a:r>
            <a:r>
              <a:rPr lang="en-US" sz="1200" strike="sngStrike" dirty="0">
                <a:latin typeface="Ubuntu"/>
              </a:rPr>
              <a:t>struck out</a:t>
            </a:r>
            <a:r>
              <a:rPr lang="en-US" sz="1200" strike="sngStrike" dirty="0">
                <a:latin typeface="Ubuntu"/>
              </a:rPr>
              <a:t> </a:t>
            </a:r>
            <a:r>
              <a:rPr lang="en-US" sz="1200" dirty="0">
                <a:latin typeface="Ubuntu"/>
              </a:rPr>
              <a:t> </a:t>
            </a:r>
            <a:r>
              <a:rPr lang="en-US" sz="1200" dirty="0">
                <a:latin typeface="Ubuntu"/>
              </a:rPr>
              <a:t>text. Then, we have a super</a:t>
            </a:r>
            <a:r>
              <a:rPr lang="en-US" sz="1200" baseline="30000" dirty="0">
                <a:latin typeface="Ubuntu"/>
              </a:rPr>
              <a:t>script</a:t>
            </a:r>
            <a:r>
              <a:rPr lang="en-US" sz="1200" dirty="0">
                <a:latin typeface="Ubuntu"/>
              </a:rPr>
              <a:t> </a:t>
            </a:r>
            <a:r>
              <a:rPr lang="en-US" sz="1200" dirty="0">
                <a:latin typeface="Ubuntu"/>
              </a:rPr>
              <a:t>and a sub</a:t>
            </a:r>
            <a:r>
              <a:rPr lang="en-US" sz="1200" baseline="-25000" dirty="0">
                <a:latin typeface="Ubuntu"/>
              </a:rPr>
              <a:t>script</a:t>
            </a:r>
            <a:r>
              <a:rPr lang="en-US" sz="1200" dirty="0">
                <a:latin typeface="Ubuntu"/>
              </a:rPr>
              <a:t>. Now we see some</a:t>
            </a:r>
            <a:r>
              <a:rPr lang="en-US" sz="1200" dirty="0">
                <a:latin typeface="Ubuntu"/>
              </a:rPr>
              <a:t> </a:t>
            </a:r>
            <a:r>
              <a:rPr lang="en-US" sz="1200" dirty="0">
                <a:solidFill>
                  <a:srgbClr val="FF0000"/>
                </a:solidFill>
                <a:latin typeface="Ubuntu"/>
              </a:rPr>
              <a:t>red</a:t>
            </a:r>
            <a:r>
              <a:rPr lang="en-US" sz="1200" dirty="0">
                <a:latin typeface="Ubuntu"/>
              </a:rPr>
              <a:t>,</a:t>
            </a:r>
            <a:r>
              <a:rPr lang="en-US" sz="1200" dirty="0">
                <a:latin typeface="Ubuntu"/>
              </a:rPr>
              <a:t> </a:t>
            </a:r>
            <a:r>
              <a:rPr lang="en-US" sz="1200" dirty="0">
                <a:solidFill>
                  <a:srgbClr val="92D050"/>
                </a:solidFill>
                <a:latin typeface="Ubuntu"/>
              </a:rPr>
              <a:t>green</a:t>
            </a:r>
            <a:r>
              <a:rPr lang="en-US" sz="1200" dirty="0">
                <a:latin typeface="Ubuntu"/>
              </a:rPr>
              <a:t> </a:t>
            </a:r>
            <a:r>
              <a:rPr lang="en-US" sz="1200" dirty="0">
                <a:latin typeface="Ubuntu"/>
              </a:rPr>
              <a:t>and</a:t>
            </a:r>
            <a:r>
              <a:rPr lang="en-US" sz="1200" dirty="0">
                <a:latin typeface="Ubuntu"/>
              </a:rPr>
              <a:t> </a:t>
            </a:r>
            <a:r>
              <a:rPr lang="en-US" sz="1200" dirty="0">
                <a:solidFill>
                  <a:srgbClr val="0070C0"/>
                </a:solidFill>
                <a:latin typeface="Ubuntu"/>
              </a:rPr>
              <a:t>blue</a:t>
            </a:r>
            <a:r>
              <a:rPr lang="en-US" sz="1200" dirty="0">
                <a:latin typeface="Ubuntu"/>
              </a:rPr>
              <a:t> </a:t>
            </a:r>
            <a:r>
              <a:rPr lang="en-US" sz="1200" dirty="0">
                <a:latin typeface="Ubuntu"/>
              </a:rPr>
              <a:t>text. Some text with a</a:t>
            </a:r>
            <a:r>
              <a:rPr lang="en-US" sz="1200" dirty="0">
                <a:latin typeface="Ubuntu"/>
              </a:rPr>
              <a:t> </a:t>
            </a:r>
            <a:r>
              <a:rPr lang="en-US" sz="1200" dirty="0">
                <a:latin typeface="Ubuntu"/>
              </a:rPr>
              <a:t>yellow highlight</a:t>
            </a:r>
            <a:r>
              <a:rPr lang="en-US" sz="1200" dirty="0">
                <a:latin typeface="Ubuntu"/>
              </a:rPr>
              <a:t>. Some text in a</a:t>
            </a:r>
            <a:r>
              <a:rPr lang="en-US" sz="1200" dirty="0">
                <a:latin typeface="Ubuntu"/>
              </a:rPr>
              <a:t> </a:t>
            </a:r>
            <a:r>
              <a:rPr lang="en-US" sz="1200" dirty="0">
                <a:latin typeface="Ubuntu"/>
              </a:rPr>
              <a:t>box. Some text</a:t>
            </a:r>
            <a:r>
              <a:rPr lang="en-US" sz="1200" dirty="0">
                <a:latin typeface="Ubuntu"/>
              </a:rPr>
              <a:t> </a:t>
            </a:r>
            <a:r>
              <a:rPr lang="en-US" sz="1200" dirty="0">
                <a:latin typeface="Ubuntu"/>
              </a:rPr>
              <a:t>in</a:t>
            </a:r>
            <a:r>
              <a:rPr lang="en-US" sz="1200" dirty="0">
                <a:latin typeface="Ubuntu"/>
              </a:rPr>
              <a:t> </a:t>
            </a:r>
            <a:r>
              <a:rPr lang="en-US" sz="1200" dirty="0">
                <a:solidFill>
                  <a:srgbClr val="FFFFFF"/>
                </a:solidFill>
                <a:latin typeface="Ubuntu"/>
              </a:rPr>
              <a:t>inverse video</a:t>
            </a:r>
            <a:r>
              <a:rPr lang="en-US" sz="1200" dirty="0">
                <a:latin typeface="Ubuntu"/>
              </a:rPr>
              <a:t>.</a:t>
            </a:r>
            <a:endParaRPr lang="en-US" sz="1200" dirty="0"/>
          </a:p>
          <a:p>
            <a:pPr>
              <a:buNone/>
            </a:pPr>
            <a:r>
              <a:rPr lang="en-US" sz="1200" dirty="0">
                <a:latin typeface="Ubuntu"/>
              </a:rPr>
              <a:t>A paragraph with styled text:</a:t>
            </a:r>
            <a:r>
              <a:rPr lang="en-US" sz="1200" dirty="0">
                <a:latin typeface="Ubuntu"/>
              </a:rPr>
              <a:t> </a:t>
            </a:r>
            <a:r>
              <a:rPr lang="en-US" sz="1200" i="1" dirty="0">
                <a:solidFill>
                  <a:srgbClr val="808080"/>
                </a:solidFill>
                <a:latin typeface="Ubuntu"/>
              </a:rPr>
              <a:t>subtle emphasis</a:t>
            </a:r>
            <a:r>
              <a:rPr lang="en-US" sz="1200" i="1" dirty="0">
                <a:solidFill>
                  <a:srgbClr val="808080"/>
                </a:solidFill>
                <a:latin typeface="Ubuntu"/>
              </a:rPr>
              <a:t>  </a:t>
            </a:r>
            <a:r>
              <a:rPr lang="en-US" sz="1200" dirty="0">
                <a:latin typeface="Ubuntu"/>
              </a:rPr>
              <a:t>followed by</a:t>
            </a:r>
            <a:r>
              <a:rPr lang="en-US" sz="1200" dirty="0">
                <a:latin typeface="Ubuntu"/>
              </a:rPr>
              <a:t> </a:t>
            </a:r>
            <a:r>
              <a:rPr lang="en-US" sz="1200" b="1" dirty="0">
                <a:latin typeface="Ubuntu"/>
              </a:rPr>
              <a:t>strong text</a:t>
            </a:r>
            <a:r>
              <a:rPr lang="en-US" sz="1200" b="1" dirty="0">
                <a:latin typeface="Ubuntu"/>
              </a:rPr>
              <a:t> </a:t>
            </a:r>
            <a:r>
              <a:rPr lang="en-US" sz="1200" dirty="0">
                <a:latin typeface="Ubuntu"/>
              </a:rPr>
              <a:t>and</a:t>
            </a:r>
            <a:r>
              <a:rPr lang="en-US" sz="1200" dirty="0">
                <a:latin typeface="Ubuntu"/>
              </a:rPr>
              <a:t> </a:t>
            </a:r>
            <a:r>
              <a:rPr lang="en-US" sz="1200" b="1" i="1" dirty="0">
                <a:solidFill>
                  <a:srgbClr val="4F81BD"/>
                </a:solidFill>
                <a:latin typeface="Ubuntu"/>
              </a:rPr>
              <a:t>intense emphasis</a:t>
            </a:r>
            <a:r>
              <a:rPr lang="en-US" sz="1200" dirty="0">
                <a:latin typeface="Ubuntu"/>
              </a:rPr>
              <a:t>.</a:t>
            </a:r>
            <a:r>
              <a:rPr lang="en-US" sz="1200" dirty="0">
                <a:latin typeface="Ubuntu"/>
              </a:rPr>
              <a:t> </a:t>
            </a:r>
            <a:r>
              <a:rPr lang="en-US" sz="1200" dirty="0">
                <a:latin typeface="Ubuntu"/>
              </a:rPr>
              <a:t>This paragraph uses document wide styles for styling rather than inline text properties as demonstrated in the previous paragraph</a:t>
            </a:r>
            <a:r>
              <a:rPr lang="en-US" sz="1200" dirty="0">
                <a:latin typeface="Ubuntu"/>
              </a:rPr>
              <a:t> </a:t>
            </a:r>
            <a:r>
              <a:rPr lang="en-US" sz="1200" dirty="0">
                <a:latin typeface="Ubuntu"/>
              </a:rPr>
              <a:t>—</a:t>
            </a:r>
            <a:r>
              <a:rPr lang="en-US" sz="1200" dirty="0">
                <a:latin typeface="Ubuntu"/>
              </a:rPr>
              <a:t> </a:t>
            </a:r>
            <a:r>
              <a:rPr lang="en-US" sz="1200" dirty="0">
                <a:latin typeface="Ubuntu"/>
              </a:rPr>
              <a:t>calibre can handle both with equal ease.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Fun with fonts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This document has embedded the Ubuntu font family. The body text is in the Ubuntu typeface, here is</a:t>
            </a:r>
            <a:r>
              <a:rPr lang="en-US" sz="1200" dirty="0">
                <a:latin typeface="Ubuntu"/>
              </a:rPr>
              <a:t> </a:t>
            </a:r>
            <a:r>
              <a:rPr lang="en-US" sz="1200" dirty="0">
                <a:latin typeface="Ubuntu Mono"/>
              </a:rPr>
              <a:t>some text in the Ubuntu Mono typeface</a:t>
            </a:r>
            <a:r>
              <a:rPr lang="en-US" sz="1200" dirty="0">
                <a:latin typeface="Ubuntu Mono"/>
              </a:rPr>
              <a:t>, notice how every letter has the same width, even i and m</a:t>
            </a:r>
            <a:r>
              <a:rPr lang="en-US" sz="1200" dirty="0">
                <a:latin typeface="Ubuntu"/>
              </a:rPr>
              <a:t>. Every embedded font will automatically be embedded in the output ebook during conversion.</a:t>
            </a:r>
            <a:r>
              <a:rPr lang="en-US" sz="1200" dirty="0">
                <a:latin typeface="Ubuntu"/>
              </a:rPr>
              <a:t>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Paragraph level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lgn="r">
              <a:buNone/>
            </a:pPr>
            <a:r>
              <a:rPr lang="en-US" sz="1800" dirty="0"/>
              <a:t>You can do crazy things with paragraphs, if the urge strikes you. For instance this paragraph is right aligned and has a right border. It has also been given a light gray background.</a:t>
            </a:r>
            <a:endParaRPr lang="en-US" sz="1800" dirty="0"/>
          </a:p>
          <a:p>
            <a:pPr>
              <a:buNone/>
            </a:pPr>
            <a:r>
              <a:rPr lang="en-US" sz="1800" dirty="0"/>
              <a:t>For the lovers of poetry amongst you, paragraphs with hanging indents, like this often come in handy. You can use hanging indents to ensure that a line of poetry retains its individual identity as a line even when the screen is </a:t>
            </a:r>
            <a:r>
              <a:rPr lang="en-US" sz="1800" dirty="0"/>
              <a:t> </a:t>
            </a:r>
            <a:r>
              <a:rPr lang="en-US" sz="1800" dirty="0"/>
              <a:t>too narrow to display it as a single line. Not only does this paragraph have a hanging indent, it is also has an extra top margin, setting it apart from the preceding paragraph.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764505"/>
                <a:gridCol w="3465095"/>
              </a:tblGrid>
              <a:tr h="613833">
                <a:tc>
                  <a:txBody>
                    <a:bodyPr/>
                    <a:lstStyle/>
                    <a:p>
                      <a:pPr>
                        <a:buNone/>
                      </a:pPr>
                      <a:r>
                        <a:rPr lang="en-US" sz="1200" b="1" dirty="0">
                          <a:solidFill>
                            <a:srgbClr val="FFFFFF"/>
                          </a:solidFill>
                        </a:rPr>
                        <a:t>ITEM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9BBB59"/>
                    </a:solidFill>
                  </a:tcPr>
                </a:tc>
                <a:tc>
                  <a:txBody>
                    <a:bodyPr/>
                    <a:lstStyle/>
                    <a:p>
                      <a:pPr>
                        <a:buNone/>
                      </a:pPr>
                      <a:r>
                        <a:rPr lang="en-US" sz="1200" b="1" dirty="0">
                          <a:solidFill>
                            <a:srgbClr val="FFFFFF"/>
                          </a:solidFill>
                        </a:rPr>
                        <a:t>NEEDED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9BBB59"/>
                    </a:solidFill>
                  </a:tcPr>
                </a:tc>
              </a:tr>
              <a:tr h="613833">
                <a:tc>
                  <a:txBody>
                    <a:bodyPr/>
                    <a:lstStyle/>
                    <a:p>
                      <a:pPr>
                        <a:buNone/>
                      </a:pPr>
                      <a:r>
                        <a:rPr lang="en-US" sz="1200" dirty="0"/>
                        <a:t>Books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Pencils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Highlighter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Scissors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Tables in Word can vary from the extremely simple to the extremely complex.</a:t>
            </a:r>
            <a:r>
              <a:rPr lang="en-US" sz="1200" dirty="0">
                <a:latin typeface="Ubuntu"/>
              </a:rPr>
              <a:t> </a:t>
            </a:r>
            <a:r>
              <a:rPr lang="en-US" sz="1200" dirty="0">
                <a:latin typeface="Ubuntu"/>
              </a:rPr>
              <a:t>calibre</a:t>
            </a:r>
            <a:r>
              <a:rPr lang="en-US" sz="1200" dirty="0">
                <a:latin typeface="Ubuntu"/>
              </a:rPr>
              <a:t> </a:t>
            </a:r>
            <a:r>
              <a:rPr lang="en-US" sz="1200" dirty="0">
                <a:latin typeface="Ubuntu"/>
              </a:rPr>
              <a:t>tries to do its best when converting tables. While you may run into trouble with the occasional table, the vast majority of common cases should be converted very well, as demonstrated in this section.</a:t>
            </a:r>
            <a:r>
              <a:rPr lang="en-US" sz="1200" dirty="0">
                <a:latin typeface="Ubuntu"/>
              </a:rPr>
              <a:t> </a:t>
            </a:r>
            <a:r>
              <a:rPr lang="en-US" sz="1200" dirty="0">
                <a:latin typeface="Ubuntu"/>
              </a:rPr>
              <a:t>Note that for optimum results, when creating tables in Word, you should set their widths using percentages, rather than absolute units.</a:t>
            </a:r>
            <a:r>
              <a:rPr lang="en-US" sz="1200" dirty="0">
                <a:latin typeface="Ubuntu"/>
              </a:rPr>
              <a:t> </a:t>
            </a:r>
            <a:r>
              <a:rPr lang="en-US" sz="1200" dirty="0">
                <a:latin typeface="Ubuntu"/>
              </a:rPr>
              <a:t> </a:t>
            </a:r>
            <a:r>
              <a:rPr lang="en-US" sz="1200" dirty="0">
                <a:latin typeface="Ubuntu"/>
              </a:rPr>
              <a:t>To the left of this paragraph is a floating two column table with a nice green border and header row.</a:t>
            </a:r>
            <a:endParaRPr lang="en-US" sz="1200" dirty="0"/>
          </a:p>
          <a:p>
            <a:pPr>
              <a:buNone/>
            </a:pPr>
            <a:r>
              <a:rPr lang="en-US" sz="1200" dirty="0">
                <a:latin typeface="Ubuntu"/>
              </a:rPr>
              <a:t>Now let’s look at a fancier table—one with alternating row colors and partial borders. This table is stretched out to take 100% of the available width.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101174"/>
                <a:gridCol w="1225685"/>
                <a:gridCol w="1225685"/>
                <a:gridCol w="1225685"/>
                <a:gridCol w="1225685"/>
                <a:gridCol w="1225685"/>
              </a:tblGrid>
              <a:tr h="613833">
                <a:tc>
                  <a:txBody>
                    <a:bodyPr/>
                    <a:lstStyle/>
                    <a:p>
                      <a:pPr>
                        <a:buNone/>
                      </a:pPr>
                      <a:r>
                        <a:rPr lang="en-US" sz="1100" dirty="0">
                          <a:latin typeface="Ubuntu"/>
                        </a:rPr>
                        <a:t>City or Town</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A</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B</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C</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13833">
                <a:tc>
                  <a:txBody>
                    <a:bodyPr/>
                    <a:lstStyle/>
                    <a:p>
                      <a:pPr>
                        <a:buNone/>
                      </a:pPr>
                      <a:r>
                        <a:rPr lang="en-US" sz="1200" dirty="0">
                          <a:latin typeface="Ubuntu"/>
                        </a:rPr>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r h="613833">
                <a:tc>
                  <a:txBody>
                    <a:bodyPr/>
                    <a:lstStyle/>
                    <a:p>
                      <a:pPr>
                        <a:buNone/>
                      </a:pPr>
                      <a:r>
                        <a:rPr lang="en-US" sz="1200" dirty="0">
                          <a:latin typeface="Ubuntu"/>
                        </a:rPr>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87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latin typeface="Ubuntu"/>
                        </a:rPr>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64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56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r h="613833">
                <a:tc>
                  <a:txBody>
                    <a:bodyPr/>
                    <a:lstStyle/>
                    <a:p>
                      <a:pPr>
                        <a:buNone/>
                      </a:pPr>
                      <a:r>
                        <a:rPr lang="en-US" sz="1200" dirty="0">
                          <a:latin typeface="Ubuntu"/>
                        </a:rPr>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37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32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91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latin typeface="Ubuntu"/>
                        </a:rPr>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93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54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Next, we see a table with special formatting in various locations. Notice how the formatting for the header row and sub header rows is preserved.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438400"/>
                <a:gridCol w="1981200"/>
                <a:gridCol w="2895600"/>
                <a:gridCol w="914400"/>
              </a:tblGrid>
              <a:tr h="460375">
                <a:tc>
                  <a:txBody>
                    <a:bodyPr/>
                    <a:lstStyle/>
                    <a:p>
                      <a:pPr>
                        <a:buNone/>
                      </a:pPr>
                      <a:r>
                        <a:rPr lang="en-US" sz="1200" b="1" dirty="0">
                          <a:solidFill>
                            <a:srgbClr val="FFFFFF"/>
                          </a:solidFill>
                        </a:rPr>
                        <a:t>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rPr>
                        <a:t>New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rPr>
                        <a:t>Graduating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rPr>
                        <a:t>Change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Undergraduate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Oak Institute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Elm 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Total</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t>998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t>908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t>90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dirty="0">
                <a:solidFill>
                  <a:srgbClr val="808080"/>
                </a:solidFill>
                <a:latin typeface="Ubuntu"/>
              </a:rPr>
              <a:t>Source:</a:t>
            </a:r>
            <a:r>
              <a:rPr lang="en-US" sz="1000" dirty="0">
                <a:latin typeface="Ubuntu"/>
              </a:rPr>
              <a:t> </a:t>
            </a:r>
            <a:r>
              <a:rPr lang="en-US" sz="1000" dirty="0">
                <a:latin typeface="Ubuntu"/>
              </a:rPr>
              <a:t>Fictitious data, for illustration purposes only</a:t>
            </a:r>
            <a:endParaRPr lang="en-US" sz="1000" dirty="0"/>
          </a:p>
          <a:p>
            <a:pPr>
              <a:buNone/>
            </a:pPr>
            <a:r>
              <a:rPr lang="en-US" sz="1800" dirty="0"/>
              <a:t>Next, we have something a little more complex, a nested table, i.e. a table inside another table. Additionally, the inner table has some of its cells merged.</a:t>
            </a:r>
            <a:r>
              <a:rPr lang="en-US" sz="1800" dirty="0"/>
              <a:t> </a:t>
            </a:r>
            <a:r>
              <a:rPr lang="en-US" sz="1800" dirty="0"/>
              <a:t>The table is displayed horizontally centered.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748145"/>
                <a:gridCol w="7481455"/>
              </a:tblGrid>
              <a:tr h="3683000">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We end with a</a:t>
            </a:r>
            <a:r>
              <a:rPr lang="en-US" sz="1800" dirty="0"/>
              <a:t> </a:t>
            </a:r>
            <a:r>
              <a:rPr lang="en-US" sz="1800" dirty="0"/>
              <a:t>fancy</a:t>
            </a:r>
            <a:r>
              <a:rPr lang="en-US" sz="1800" dirty="0"/>
              <a:t> </a:t>
            </a:r>
            <a:r>
              <a:rPr lang="en-US" sz="1800" dirty="0"/>
              <a:t>calendar, note how</a:t>
            </a:r>
            <a:r>
              <a:rPr lang="en-US" sz="1800" dirty="0"/>
              <a:t> </a:t>
            </a:r>
            <a:r>
              <a:rPr lang="en-US" sz="1800" dirty="0"/>
              <a:t>much of the original formatting is preserved.</a:t>
            </a:r>
            <a:r>
              <a:rPr lang="en-US" sz="1800" dirty="0"/>
              <a:t> </a:t>
            </a:r>
            <a:r>
              <a:rPr lang="en-US" sz="1800" dirty="0"/>
              <a:t>Note that this table will only display correctly on relatively wide screens. In general, very wide tables or tables whose cells have fixed width requirements don’t fare well in ebooks.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334818">
                <a:tc gridSpan="13">
                  <a:txBody>
                    <a:bodyPr/>
                    <a:lstStyle/>
                    <a:p>
                      <a:pPr algn="r">
                        <a:buNone/>
                      </a:pPr>
                      <a:r>
                        <a:rPr lang="en-US" sz="1200" dirty="0">
                          <a:solidFill>
                            <a:srgbClr val="365F91"/>
                          </a:solidFill>
                        </a:rPr>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200" dirty="0">
                          <a:solidFill>
                            <a:srgbClr val="365F91"/>
                          </a:solidFill>
                        </a:rPr>
                        <a:t>Sun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Mon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Tue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Wed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Thu</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Fri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365F91"/>
                          </a:solidFill>
                        </a:rPr>
                        <a:t>Sat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365F91"/>
                          </a:solidFill>
                        </a:rPr>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200" dirty="0">
                          <a:solidFill>
                            <a:srgbClr val="365F91"/>
                          </a:solidFill>
                        </a:rPr>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365F91"/>
                          </a:solidFill>
                        </a:rPr>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200" dirty="0">
                          <a:solidFill>
                            <a:srgbClr val="365F91"/>
                          </a:solidFill>
                        </a:rPr>
                        <a:t>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365F91"/>
                          </a:solidFill>
                        </a:rPr>
                        <a:t>15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200" dirty="0">
                          <a:solidFill>
                            <a:srgbClr val="365F91"/>
                          </a:solidFill>
                        </a:rPr>
                        <a:t>16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19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21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365F91"/>
                          </a:solidFill>
                        </a:rPr>
                        <a:t>22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200" dirty="0">
                          <a:solidFill>
                            <a:srgbClr val="365F91"/>
                          </a:solidFill>
                        </a:rPr>
                        <a:t>23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26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27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365F91"/>
                          </a:solidFill>
                        </a:rPr>
                        <a:t>29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1227667">
                <a:tc gridSpan="13">
                  <a:txBody>
                    <a:bodyPr/>
                    <a:lstStyle/>
                    <a:p>
                      <a:pPr algn="r">
                        <a:buNone/>
                      </a:pPr>
                      <a:r>
                        <a:rPr lang="en-US" sz="1200" dirty="0">
                          <a:solidFill>
                            <a:srgbClr val="365F91"/>
                          </a:solidFill>
                        </a:rPr>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lgn="r">
                        <a:buNone/>
                      </a:pPr>
                      <a:r>
                        <a:rPr lang="en-US" sz="1200" dirty="0">
                          <a:solidFill>
                            <a:srgbClr val="365F91"/>
                          </a:solidFill>
                        </a:rPr>
                        <a:t>30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rPr>
                        <a:t>31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Structural Elements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Miscellaneous structural elements you can add to your document, like footnotes, endnotes, dropcaps and the like.</a:t>
            </a:r>
            <a:r>
              <a:rPr lang="en-US" sz="1200" dirty="0">
                <a:latin typeface="Ubuntu"/>
              </a:rPr>
              <a:t> </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Footnotes &amp; Endnotes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Footnotes</a:t>
            </a:r>
            <a:r>
              <a:rPr lang="en-US" sz="1800" baseline="30000" dirty="0"/>
              <a:t>1</a:t>
            </a:r>
            <a:r>
              <a:rPr lang="en-US" sz="1200" dirty="0">
                <a:latin typeface="Ubuntu"/>
              </a:rPr>
              <a:t> </a:t>
            </a:r>
            <a:r>
              <a:rPr lang="en-US" sz="1200" dirty="0">
                <a:latin typeface="Ubuntu"/>
              </a:rPr>
              <a:t>and endnotes</a:t>
            </a:r>
            <a:r>
              <a:rPr lang="en-US" sz="1800" baseline="30000" dirty="0"/>
              <a:t>2</a:t>
            </a:r>
            <a:r>
              <a:rPr lang="en-US" sz="1200" dirty="0">
                <a:latin typeface="Ubuntu"/>
              </a:rPr>
              <a:t> </a:t>
            </a:r>
            <a:r>
              <a:rPr lang="en-US" sz="1200" dirty="0">
                <a:latin typeface="Ubuntu"/>
              </a:rPr>
              <a:t>are automatically recognized and both are converted to endnotes, with backlinks for maximum ease of use in ebook devices.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Dropcaps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5850" dirty="0"/>
              <a:t>D</a:t>
            </a:r>
            <a:r>
              <a:rPr lang="en-US" sz="1800" dirty="0"/>
              <a:t>rop caps are used to emphasize the leading paragraph at the start of a section. In Word it is possible to specify how many lines of text a drop-cap should use.</a:t>
            </a:r>
            <a:endParaRPr lang="en-US" sz="5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Links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Two kinds of links are possible, those that refer to an external website and those that refer to</a:t>
            </a:r>
            <a:r>
              <a:rPr lang="en-US" sz="1200" dirty="0">
                <a:latin typeface="Ubuntu"/>
              </a:rPr>
              <a:t> </a:t>
            </a:r>
            <a:r>
              <a:rPr lang="en-US" sz="1200" dirty="0">
                <a:latin typeface="Ubuntu"/>
              </a:rPr>
              <a:t>locations</a:t>
            </a:r>
            <a:r>
              <a:rPr lang="en-US" sz="1200" dirty="0">
                <a:latin typeface="Ubuntu"/>
              </a:rPr>
              <a:t> </a:t>
            </a:r>
            <a:r>
              <a:rPr lang="en-US" sz="1200" dirty="0">
                <a:latin typeface="Ubuntu"/>
              </a:rPr>
              <a:t>inside the document itself. Both are supported by calibre. For example, here is a link pointing to the</a:t>
            </a:r>
            <a:r>
              <a:rPr lang="en-US" sz="1200" dirty="0">
                <a:latin typeface="Ubuntu"/>
              </a:rPr>
              <a:t> </a:t>
            </a:r>
            <a:r>
              <a:rPr lang="en-US" sz="1200" u="sng" dirty="0">
                <a:solidFill>
                  <a:srgbClr val="0000FF"/>
                </a:solidFill>
                <a:latin typeface="Ubuntu"/>
                <a:hlinkClick r:id="rId2"/>
              </a:rPr>
              <a:t>calibre download page</a:t>
            </a:r>
            <a:r>
              <a:rPr lang="en-US" sz="1200" dirty="0">
                <a:latin typeface="Ubuntu"/>
              </a:rPr>
              <a:t>.</a:t>
            </a:r>
            <a:r>
              <a:rPr lang="en-US" sz="1200" dirty="0">
                <a:latin typeface="Ubuntu"/>
              </a:rPr>
              <a:t> </a:t>
            </a:r>
            <a:r>
              <a:rPr lang="en-US" sz="1200" dirty="0">
                <a:latin typeface="Ubuntu"/>
              </a:rPr>
              <a:t>Then we have a link that points back to the section on</a:t>
            </a:r>
            <a:r>
              <a:rPr lang="en-US" sz="1200" dirty="0">
                <a:latin typeface="Ubuntu"/>
              </a:rPr>
              <a:t> </a:t>
            </a:r>
            <a:r>
              <a:rPr lang="en-US" sz="1200" u="sng" dirty="0">
                <a:solidFill>
                  <a:srgbClr val="0000FF"/>
                </a:solidFill>
                <a:latin typeface="Ubuntu"/>
              </a:rPr>
              <a:t>paragraph level formatting</a:t>
            </a:r>
            <a:r>
              <a:rPr lang="en-US" sz="1200" dirty="0">
                <a:latin typeface="Ubuntu"/>
              </a:rPr>
              <a:t> </a:t>
            </a:r>
            <a:r>
              <a:rPr lang="en-US" sz="1200" dirty="0">
                <a:latin typeface="Ubuntu"/>
              </a:rPr>
              <a:t>in this document.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 </a:t>
            </a:r>
            <a:r>
              <a:rPr lang="en-US" sz="1200" dirty="0">
                <a:latin typeface="Ubuntu"/>
              </a:rPr>
              <a:t>You can see the</a:t>
            </a:r>
            <a:r>
              <a:rPr lang="en-US" sz="1200" dirty="0">
                <a:latin typeface="Ubuntu"/>
              </a:rPr>
              <a:t> </a:t>
            </a:r>
            <a:r>
              <a:rPr lang="en-US" sz="1200" dirty="0">
                <a:latin typeface="Ubuntu"/>
              </a:rPr>
              <a:t>Table of Contents</a:t>
            </a:r>
            <a:r>
              <a:rPr lang="en-US" sz="1200" dirty="0">
                <a:latin typeface="Ubuntu"/>
              </a:rPr>
              <a:t> </a:t>
            </a:r>
            <a:r>
              <a:rPr lang="en-US" sz="1200" dirty="0">
                <a:latin typeface="Ubuntu"/>
              </a:rPr>
              <a:t>created by calibre</a:t>
            </a:r>
            <a:r>
              <a:rPr lang="en-US" sz="1200" dirty="0">
                <a:latin typeface="Ubuntu"/>
              </a:rPr>
              <a:t> </a:t>
            </a:r>
            <a:r>
              <a:rPr lang="en-US" sz="1200" dirty="0">
                <a:latin typeface="Ubuntu"/>
              </a:rPr>
              <a:t>by clicking the Table of Contents button in whatever viewer you are using to view the converted ebook.</a:t>
            </a:r>
            <a:r>
              <a:rPr lang="en-US" sz="1200" dirty="0">
                <a:latin typeface="Ubuntu"/>
              </a:rPr>
              <a:t> </a:t>
            </a:r>
            <a:endParaRPr lang="en-US" sz="1200" dirty="0"/>
          </a:p>
          <a:p>
            <a:pPr>
              <a:buNone/>
            </a:pPr>
            <a:r>
              <a:rPr lang="en-US" sz="1800" u="sng" dirty="0">
                <a:solidFill>
                  <a:srgbClr val="0000FF"/>
                </a:solidFill>
              </a:rPr>
              <a:t>Demonstration of DOCX support in calibre</a:t>
            </a:r>
            <a:r>
              <a:rPr lang="en-US" sz="1800" dirty="0"/>
              <a:t>	</a:t>
            </a:r>
            <a:r>
              <a:rPr lang="en-US" sz="1800" u="sng" dirty="0">
                <a:solidFill>
                  <a:srgbClr val="0000FF"/>
                </a:solidFill>
              </a:rPr>
              <a:t>1</a:t>
            </a:r>
            <a:endParaRPr lang="en-US" sz="1800" dirty="0"/>
          </a:p>
          <a:p>
            <a:pPr>
              <a:buNone/>
            </a:pPr>
            <a:r>
              <a:rPr lang="en-US" sz="1800" u="sng" dirty="0">
                <a:solidFill>
                  <a:srgbClr val="0000FF"/>
                </a:solidFill>
              </a:rPr>
              <a:t>Text Formatting</a:t>
            </a:r>
            <a:r>
              <a:rPr lang="en-US" sz="1800" dirty="0"/>
              <a:t>	</a:t>
            </a:r>
            <a:r>
              <a:rPr lang="en-US" sz="1800" u="sng" dirty="0">
                <a:solidFill>
                  <a:srgbClr val="0000FF"/>
                </a:solidFill>
              </a:rPr>
              <a:t>1</a:t>
            </a:r>
            <a:endParaRPr lang="en-US" sz="1800" dirty="0"/>
          </a:p>
          <a:p>
            <a:pPr>
              <a:buNone/>
            </a:pPr>
            <a:r>
              <a:rPr lang="en-US" sz="1800" u="sng" dirty="0">
                <a:solidFill>
                  <a:srgbClr val="0000FF"/>
                </a:solidFill>
              </a:rPr>
              <a:t>Inline formatting</a:t>
            </a:r>
            <a:r>
              <a:rPr lang="en-US" sz="1800" dirty="0"/>
              <a:t>	</a:t>
            </a:r>
            <a:r>
              <a:rPr lang="en-US" sz="1800" u="sng" dirty="0">
                <a:solidFill>
                  <a:srgbClr val="0000FF"/>
                </a:solidFill>
              </a:rPr>
              <a:t>2</a:t>
            </a:r>
            <a:endParaRPr lang="en-US" sz="1800" dirty="0"/>
          </a:p>
          <a:p>
            <a:pPr>
              <a:buNone/>
            </a:pPr>
            <a:r>
              <a:rPr lang="en-US" sz="1800" u="sng" dirty="0">
                <a:solidFill>
                  <a:srgbClr val="0000FF"/>
                </a:solidFill>
              </a:rPr>
              <a:t>Fun with fonts</a:t>
            </a:r>
            <a:r>
              <a:rPr lang="en-US" sz="1800" dirty="0"/>
              <a:t>	</a:t>
            </a:r>
            <a:r>
              <a:rPr lang="en-US" sz="1800" u="sng" dirty="0">
                <a:solidFill>
                  <a:srgbClr val="0000FF"/>
                </a:solidFill>
              </a:rPr>
              <a:t>2</a:t>
            </a:r>
            <a:endParaRPr lang="en-US" sz="1800" dirty="0"/>
          </a:p>
          <a:p>
            <a:pPr>
              <a:buNone/>
            </a:pPr>
            <a:r>
              <a:rPr lang="en-US" sz="1800" u="sng" dirty="0">
                <a:solidFill>
                  <a:srgbClr val="0000FF"/>
                </a:solidFill>
              </a:rPr>
              <a:t>Paragraph level formatting</a:t>
            </a:r>
            <a:r>
              <a:rPr lang="en-US" sz="1800" dirty="0"/>
              <a:t>	</a:t>
            </a:r>
            <a:r>
              <a:rPr lang="en-US" sz="1800" u="sng" dirty="0">
                <a:solidFill>
                  <a:srgbClr val="0000FF"/>
                </a:solidFill>
              </a:rPr>
              <a:t>2</a:t>
            </a:r>
            <a:endParaRPr lang="en-US" sz="1800" dirty="0"/>
          </a:p>
          <a:p>
            <a:pPr>
              <a:buNone/>
            </a:pPr>
            <a:r>
              <a:rPr lang="en-US" sz="1800" u="sng" dirty="0">
                <a:solidFill>
                  <a:srgbClr val="0000FF"/>
                </a:solidFill>
              </a:rPr>
              <a:t>Tables</a:t>
            </a:r>
            <a:r>
              <a:rPr lang="en-US" sz="1800" dirty="0"/>
              <a:t>	</a:t>
            </a:r>
            <a:r>
              <a:rPr lang="en-US" sz="1800" u="sng" dirty="0">
                <a:solidFill>
                  <a:srgbClr val="0000FF"/>
                </a:solidFill>
              </a:rPr>
              <a:t>2</a:t>
            </a:r>
            <a:endParaRPr lang="en-US" sz="1800" dirty="0"/>
          </a:p>
          <a:p>
            <a:pPr>
              <a:buNone/>
            </a:pPr>
            <a:r>
              <a:rPr lang="en-US" sz="1800" u="sng" dirty="0">
                <a:solidFill>
                  <a:srgbClr val="0000FF"/>
                </a:solidFill>
              </a:rPr>
              <a:t>Structural Elements</a:t>
            </a:r>
            <a:r>
              <a:rPr lang="en-US" sz="1800" dirty="0"/>
              <a:t>	</a:t>
            </a:r>
            <a:r>
              <a:rPr lang="en-US" sz="1800" u="sng" dirty="0">
                <a:solidFill>
                  <a:srgbClr val="0000FF"/>
                </a:solidFill>
              </a:rPr>
              <a:t>4</a:t>
            </a:r>
            <a:endParaRPr lang="en-US" sz="1800" dirty="0"/>
          </a:p>
          <a:p>
            <a:pPr>
              <a:buNone/>
            </a:pPr>
            <a:r>
              <a:rPr lang="en-US" sz="1800" u="sng" dirty="0">
                <a:solidFill>
                  <a:srgbClr val="0000FF"/>
                </a:solidFill>
              </a:rPr>
              <a:t>Footnotes &amp; Endnotes</a:t>
            </a:r>
            <a:r>
              <a:rPr lang="en-US" sz="1800" dirty="0"/>
              <a:t>	</a:t>
            </a:r>
            <a:r>
              <a:rPr lang="en-US" sz="1800" u="sng" dirty="0">
                <a:solidFill>
                  <a:srgbClr val="0000FF"/>
                </a:solidFill>
              </a:rPr>
              <a:t>5</a:t>
            </a:r>
            <a:endParaRPr lang="en-US" sz="1800" dirty="0"/>
          </a:p>
          <a:p>
            <a:pPr>
              <a:buNone/>
            </a:pPr>
            <a:r>
              <a:rPr lang="en-US" sz="1800" u="sng" dirty="0">
                <a:solidFill>
                  <a:srgbClr val="0000FF"/>
                </a:solidFill>
              </a:rPr>
              <a:t>Dropcaps</a:t>
            </a:r>
            <a:r>
              <a:rPr lang="en-US" sz="1800" dirty="0"/>
              <a:t>	</a:t>
            </a:r>
            <a:r>
              <a:rPr lang="en-US" sz="1800" u="sng" dirty="0">
                <a:solidFill>
                  <a:srgbClr val="0000FF"/>
                </a:solidFill>
              </a:rPr>
              <a:t>5</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u="sng" dirty="0">
                <a:solidFill>
                  <a:srgbClr val="0000FF"/>
                </a:solidFill>
              </a:rPr>
              <a:t>Links</a:t>
            </a:r>
            <a:r>
              <a:rPr lang="en-US" sz="1800" dirty="0"/>
              <a:t>	</a:t>
            </a:r>
            <a:r>
              <a:rPr lang="en-US" sz="1800" u="sng" dirty="0">
                <a:solidFill>
                  <a:srgbClr val="0000FF"/>
                </a:solidFill>
              </a:rPr>
              <a:t>5</a:t>
            </a:r>
            <a:endParaRPr lang="en-US" sz="1800" dirty="0"/>
          </a:p>
          <a:p>
            <a:pPr>
              <a:buNone/>
            </a:pPr>
            <a:r>
              <a:rPr lang="en-US" sz="1800" u="sng" dirty="0">
                <a:solidFill>
                  <a:srgbClr val="0000FF"/>
                </a:solidFill>
              </a:rPr>
              <a:t>Table of Contents</a:t>
            </a:r>
            <a:r>
              <a:rPr lang="en-US" sz="1800" dirty="0"/>
              <a:t>	</a:t>
            </a:r>
            <a:r>
              <a:rPr lang="en-US" sz="1800" u="sng" dirty="0">
                <a:solidFill>
                  <a:srgbClr val="0000FF"/>
                </a:solidFill>
              </a:rPr>
              <a:t>5</a:t>
            </a:r>
            <a:endParaRPr lang="en-US" sz="1800" dirty="0"/>
          </a:p>
          <a:p>
            <a:pPr>
              <a:buNone/>
            </a:pPr>
            <a:r>
              <a:rPr lang="en-US" sz="1800" u="sng" dirty="0">
                <a:solidFill>
                  <a:srgbClr val="0000FF"/>
                </a:solidFill>
              </a:rPr>
              <a:t>Images</a:t>
            </a:r>
            <a:r>
              <a:rPr lang="en-US" sz="1800" dirty="0"/>
              <a:t>	</a:t>
            </a:r>
            <a:r>
              <a:rPr lang="en-US" sz="1800" u="sng" dirty="0">
                <a:solidFill>
                  <a:srgbClr val="0000FF"/>
                </a:solidFill>
              </a:rPr>
              <a:t>6</a:t>
            </a:r>
            <a:endParaRPr lang="en-US" sz="1800" dirty="0"/>
          </a:p>
          <a:p>
            <a:pPr>
              <a:buNone/>
            </a:pPr>
            <a:r>
              <a:rPr lang="en-US" sz="1800" u="sng" dirty="0">
                <a:solidFill>
                  <a:srgbClr val="0000FF"/>
                </a:solidFill>
              </a:rPr>
              <a:t>Lists</a:t>
            </a:r>
            <a:r>
              <a:rPr lang="en-US" sz="1800" dirty="0"/>
              <a:t>	</a:t>
            </a:r>
            <a:r>
              <a:rPr lang="en-US" sz="1800" u="sng" dirty="0">
                <a:solidFill>
                  <a:srgbClr val="0000FF"/>
                </a:solidFill>
              </a:rPr>
              <a:t>7</a:t>
            </a:r>
            <a:endParaRPr lang="en-US" sz="1800" dirty="0"/>
          </a:p>
          <a:p>
            <a:pPr>
              <a:buNone/>
            </a:pPr>
            <a:r>
              <a:rPr lang="en-US" sz="1800" u="sng" dirty="0">
                <a:solidFill>
                  <a:srgbClr val="0000FF"/>
                </a:solidFill>
              </a:rPr>
              <a:t>Bulleted List</a:t>
            </a:r>
            <a:r>
              <a:rPr lang="en-US" sz="1800" dirty="0"/>
              <a:t>	</a:t>
            </a:r>
            <a:r>
              <a:rPr lang="en-US" sz="1800" u="sng" dirty="0">
                <a:solidFill>
                  <a:srgbClr val="0000FF"/>
                </a:solidFill>
              </a:rPr>
              <a:t>8</a:t>
            </a:r>
            <a:endParaRPr lang="en-US" sz="1800" dirty="0"/>
          </a:p>
          <a:p>
            <a:pPr>
              <a:buNone/>
            </a:pPr>
            <a:r>
              <a:rPr lang="en-US" sz="1800" u="sng" dirty="0">
                <a:solidFill>
                  <a:srgbClr val="0000FF"/>
                </a:solidFill>
              </a:rPr>
              <a:t>Numbered List</a:t>
            </a:r>
            <a:r>
              <a:rPr lang="en-US" sz="1800" dirty="0"/>
              <a:t>	</a:t>
            </a:r>
            <a:r>
              <a:rPr lang="en-US" sz="1800" u="sng" dirty="0">
                <a:solidFill>
                  <a:srgbClr val="0000FF"/>
                </a:solidFill>
              </a:rPr>
              <a:t>8</a:t>
            </a:r>
            <a:endParaRPr lang="en-US" sz="1800" dirty="0"/>
          </a:p>
          <a:p>
            <a:pPr>
              <a:buNone/>
            </a:pPr>
            <a:r>
              <a:rPr lang="en-US" sz="1800" u="sng" dirty="0">
                <a:solidFill>
                  <a:srgbClr val="0000FF"/>
                </a:solidFill>
              </a:rPr>
              <a:t>Multi-level Lists</a:t>
            </a:r>
            <a:r>
              <a:rPr lang="en-US" sz="1800" dirty="0"/>
              <a:t>	</a:t>
            </a:r>
            <a:r>
              <a:rPr lang="en-US" sz="1800" u="sng" dirty="0">
                <a:solidFill>
                  <a:srgbClr val="0000FF"/>
                </a:solidFill>
              </a:rPr>
              <a:t>8</a:t>
            </a:r>
            <a:endParaRPr lang="en-US" sz="1800" dirty="0"/>
          </a:p>
          <a:p>
            <a:pPr>
              <a:buNone/>
            </a:pPr>
            <a:r>
              <a:rPr lang="en-US" sz="1800" u="sng" dirty="0">
                <a:solidFill>
                  <a:srgbClr val="0000FF"/>
                </a:solidFill>
              </a:rPr>
              <a:t>Continued Lists</a:t>
            </a:r>
            <a:r>
              <a:rPr lang="en-US" sz="1800" dirty="0"/>
              <a:t>	</a:t>
            </a:r>
            <a:r>
              <a:rPr lang="en-US" sz="1800" u="sng" dirty="0">
                <a:solidFill>
                  <a:srgbClr val="0000FF"/>
                </a:solidFill>
              </a:rPr>
              <a:t>8</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Centered images like this are useful for large pictures that should be a focus of attention.</a:t>
            </a:r>
            <a:r>
              <a:rPr lang="en-US" sz="1200" dirty="0">
                <a:latin typeface="Ubuntu"/>
              </a:rPr>
              <a:t> </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pic>
        <p:nvPicPr>
          <p:cNvPr id="3" name="Picture 3"/>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There is no analogous technology in ebooks, so the conversion will usually end up placing the image either centered or floating close to the point in the text where it was</a:t>
            </a:r>
            <a:r>
              <a:rPr lang="en-US" sz="1200" dirty="0">
                <a:latin typeface="Ubuntu"/>
              </a:rPr>
              <a:t> </a:t>
            </a:r>
            <a:r>
              <a:rPr lang="en-US" sz="1200" i="1" dirty="0">
                <a:solidFill>
                  <a:srgbClr val="808080"/>
                </a:solidFill>
                <a:latin typeface="Ubuntu"/>
              </a:rPr>
              <a:t>inserted</a:t>
            </a:r>
            <a:r>
              <a:rPr lang="en-US" sz="1200" dirty="0">
                <a:latin typeface="Ubuntu"/>
              </a:rPr>
              <a:t>, not necessarily where it appears on the page in Word.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All types of lists are supported by the conversion, with the exception of lists that use fancy bullets, these get converted to regular bullets.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Bulleted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One</a:t>
            </a:r>
            <a:endParaRPr lang="en-US" sz="1800" dirty="0"/>
          </a:p>
          <a:p>
            <a:pPr marL="228600" indent="-177800">
              <a:buFont typeface="Arial"/>
              <a:buChar char="•"/>
            </a:pPr>
            <a:r>
              <a:rPr lang="en-US" sz="1800" dirty="0"/>
              <a:t>Two</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Numbered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 with a very long line to demonstrate that the hanging indent for the list is working correctly</a:t>
            </a:r>
            <a:endParaRPr lang="en-US" sz="1800" dirty="0"/>
          </a:p>
          <a:p>
            <a:pPr marL="228600" indent="-177800">
              <a:buFont typeface="+mj-lt"/>
              <a:buAutoNum type="arabicPeriod"/>
            </a:pPr>
            <a:r>
              <a:rPr lang="en-US" sz="1800" dirty="0"/>
              <a:t>Two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457200" indent="-177800" lvl="1">
              <a:buFont typeface="+mj-lt"/>
              <a:buAutoNum type="arabicPeriod"/>
            </a:pPr>
            <a:r>
              <a:rPr lang="en-US" sz="1800" dirty="0"/>
              <a:t>Two</a:t>
            </a:r>
            <a:endParaRPr lang="en-US" sz="1800" dirty="0"/>
          </a:p>
          <a:p>
            <a:pPr marL="685800" indent="-177800" lvl="2">
              <a:buFont typeface="+mj-lt"/>
              <a:buAutoNum type="arabicPeriod"/>
            </a:pPr>
            <a:r>
              <a:rPr lang="en-US" sz="1800" dirty="0"/>
              <a:t>Three</a:t>
            </a:r>
            <a:endParaRPr lang="en-US" sz="1800" dirty="0"/>
          </a:p>
          <a:p>
            <a:pPr marL="685800" indent="-177800" lvl="2">
              <a:buFont typeface="+mj-lt"/>
              <a:buAutoNum type="arabicPeriod"/>
            </a:pPr>
            <a:r>
              <a:rPr lang="en-US" sz="1800" dirty="0"/>
              <a:t>Four with a very long line to demonstrate that the hanging indent for the list is working correctly.</a:t>
            </a:r>
            <a:endParaRPr lang="en-US" sz="1800" dirty="0"/>
          </a:p>
          <a:p>
            <a:pPr marL="685800" indent="-177800" lvl="2">
              <a:buFont typeface="+mj-lt"/>
              <a:buAutoNum type="arabicPeriod"/>
            </a:pPr>
            <a:r>
              <a:rPr lang="en-US" sz="1800" dirty="0"/>
              <a:t>Five</a:t>
            </a:r>
            <a:endParaRPr lang="en-US" sz="1800" dirty="0"/>
          </a:p>
          <a:p>
            <a:pPr marL="228600" indent="-177800">
              <a:buFont typeface="+mj-lt"/>
              <a:buAutoNum type="arabicPeriod"/>
            </a:pPr>
            <a:r>
              <a:rPr lang="en-US" sz="1800" dirty="0"/>
              <a:t>Six</a:t>
            </a:r>
            <a:endParaRPr lang="en-US" sz="1800" dirty="0"/>
          </a:p>
          <a:p>
            <a:pPr>
              <a:buNone/>
            </a:pPr>
            <a:r>
              <a:rPr lang="en-US" sz="1800" dirty="0"/>
              <a:t>A Multi-level list with bullets:</a:t>
            </a:r>
            <a:endParaRPr lang="en-US" sz="1800" dirty="0"/>
          </a:p>
          <a:p>
            <a:pPr marL="228600" indent="-177800">
              <a:buFont typeface="Arial"/>
              <a:buChar char="▪"/>
            </a:pPr>
            <a:r>
              <a:rPr lang="en-US" sz="1800" dirty="0"/>
              <a:t>One</a:t>
            </a:r>
            <a:endParaRPr lang="en-US" sz="1800" dirty="0"/>
          </a:p>
          <a:p>
            <a:pPr marL="457200" indent="-177800" lvl="1">
              <a:buFont typeface="Arial"/>
              <a:buChar char="•"/>
            </a:pPr>
            <a:r>
              <a:rPr lang="en-US" sz="1800" dirty="0"/>
              <a:t>Two</a:t>
            </a:r>
            <a:endParaRPr lang="en-US" sz="1800" dirty="0"/>
          </a:p>
          <a:p>
            <a:pPr marL="685800" indent="-177800" lvl="2">
              <a:buFont typeface="Arial"/>
              <a:buChar char="•"/>
            </a:pPr>
            <a:r>
              <a:rPr lang="en-US" sz="1800" dirty="0"/>
              <a:t>This bullet uses an image as the bullet item</a:t>
            </a:r>
            <a:endParaRPr lang="en-US" sz="1800" dirty="0"/>
          </a:p>
          <a:p>
            <a:pPr marL="914400" indent="-177800" lvl="3">
              <a:buFont typeface="Arial"/>
              <a:buChar char="◦"/>
            </a:pPr>
            <a:r>
              <a:rPr lang="en-US" sz="1800" dirty="0"/>
              <a:t>Four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Five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Continued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228600" indent="-177800">
              <a:buFont typeface="+mj-lt"/>
              <a:buAutoNum type="arabicPeriod"/>
            </a:pPr>
            <a:r>
              <a:rPr lang="en-US" sz="1800" dirty="0"/>
              <a:t>Two</a:t>
            </a:r>
            <a:endParaRPr lang="en-US" sz="1800" dirty="0"/>
          </a:p>
          <a:p>
            <a:pPr>
              <a:buNone/>
            </a:pPr>
            <a:r>
              <a:rPr lang="en-US" sz="1800" dirty="0"/>
              <a:t>An interruption in our regularly scheduled listing, for this essential and very relevant public service announcement.</a:t>
            </a:r>
            <a:endParaRPr lang="en-US" sz="1800" dirty="0"/>
          </a:p>
          <a:p>
            <a:pPr marL="228600" indent="-177800">
              <a:buFont typeface="+mj-lt"/>
              <a:buAutoNum type="arabicPeriod"/>
            </a:pPr>
            <a:r>
              <a:rPr lang="en-US" sz="1800" dirty="0"/>
              <a:t>We now resume our normal programming</a:t>
            </a:r>
            <a:endParaRPr lang="en-US" sz="1800" dirty="0"/>
          </a:p>
          <a:p>
            <a:pPr marL="228600" indent="-177800">
              <a:buFont typeface="+mj-lt"/>
              <a:buAutoNum type="arabicPeriod"/>
            </a:pPr>
            <a:r>
              <a:rPr lang="en-US" sz="1800" dirty="0"/>
              <a:t>Four</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57175"/>
            <a:ext cx="8229600" cy="720090"/>
          </a:xfrm>
          <a:prstGeom prst="rect">
            <a:avLst/>
          </a:prstGeom>
          <a:noFill/>
          <a:ln>
            <a:noFill/>
          </a:ln>
        </p:spPr>
        <p:txBody>
          <a:bodyPr wrap="square" anchor="t" rtlCol="0">
            <a:normAutofit/>
          </a:bodyPr>
          <a:lstStyle/>
          <a:p>
            <a:pPr>
              <a:buNone/>
            </a:pPr>
            <a:r>
              <a:rPr lang="en-US" sz="2800" b="1" dirty="0"/>
              <a:t>Notes</a:t>
            </a:r>
            <a:endParaRPr lang="en-US" sz="2800" dirty="0"/>
          </a:p>
        </p:txBody>
      </p:sp>
      <p:sp>
        <p:nvSpPr>
          <p:cNvPr id="3" name="Text 3"/>
          <p:cNvSpPr txBox="1"/>
          <p:nvPr/>
        </p:nvSpPr>
        <p:spPr>
          <a:xfrm>
            <a:off x="457200" y="1131570"/>
            <a:ext cx="8229600" cy="3703320"/>
          </a:xfrm>
          <a:prstGeom prst="rect">
            <a:avLst/>
          </a:prstGeom>
          <a:noFill/>
          <a:ln>
            <a:noFill/>
          </a:ln>
        </p:spPr>
        <p:txBody>
          <a:bodyPr wrap="square" anchor="t" rtlCol="0">
            <a:normAutofit/>
          </a:bodyPr>
          <a:lstStyle/>
          <a:p>
            <a:pPr>
              <a:buNone/>
            </a:pPr>
            <a:r>
              <a:rPr lang="en-US" sz="1400" dirty="0"/>
              <a:t>1. In paged media, footnotes are usually displayed at the bottom of the text. However, in ebooks, a better paradigm is to make them clickable endnotes that the user can browse at her pleasure. This conversion is handled automatically by calibre.</a:t>
            </a:r>
            <a:endParaRPr lang="en-US" sz="1400" dirty="0"/>
          </a:p>
          <a:p>
            <a:pPr>
              <a:buNone/>
            </a:pPr>
            <a:r>
              <a:rPr lang="en-US" sz="1400" dirty="0"/>
              <a:t>2. Endnotes are typically used for longer notes, they remain endnotes when converted into ebook form, except that they have an additional backlink to make it easy to return to the current position after reading the note.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31</Slides>
</Properties>
</file>

<file path=docProps/core.xml><?xml version="1.0" encoding="utf-8"?>
<cp:coreProperties xmlns:cp="http://schemas.openxmlformats.org/package/2006/metadata/core-properties" xmlns:dc="http://purl.org/dc/elements/1.1/" xmlns:dcterms="http://purl.org/dc/terms/" xmlns:xsi="http://www.w3.org/2001/XMLSchema-instance">
  <dc:title>DOCX Demo</dc:title>
  <dc:creator>Harsh Ankur</dc:creator>
  <dc:description>Demonstration of DOCX support in calibre</dc:description>
  <cp:keywords>calibre,  docs,  ebook,  conversion</cp:keywords>
  <dcterms:created xsi:type="dcterms:W3CDTF">2025-11-29T07:48:00Z</dcterms:created>
  <dcterms:modified xsi:type="dcterms:W3CDTF">2024-01-01T00:00:00Z</dcterms:modified>
</cp:coreProperties>
</file>