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a:t>
            </a:r>
            <a:r>
              <a:rPr lang="en-US" sz="1200" dirty="0">
                <a:latin typeface="Ubuntu"/>
              </a:rPr>
              <a:t> </a:t>
            </a:r>
            <a:r>
              <a:rPr lang="en-US" sz="1200" dirty="0">
                <a:latin typeface="Ubuntu"/>
              </a:rPr>
              <a:t>links, dropcaps and</a:t>
            </a:r>
            <a:r>
              <a:rPr lang="en-US" sz="1200" dirty="0">
                <a:latin typeface="Ubuntu"/>
              </a:rPr>
              <a:t> </a:t>
            </a:r>
            <a:r>
              <a:rPr lang="en-US" sz="1200" dirty="0">
                <a:latin typeface="Ubuntu"/>
              </a:rPr>
              <a:t>various</a:t>
            </a:r>
            <a:r>
              <a:rPr lang="en-US" sz="1200" dirty="0">
                <a:latin typeface="Ubuntu"/>
              </a:rPr>
              <a:t> </a:t>
            </a:r>
            <a:r>
              <a:rPr lang="en-US" sz="1200" dirty="0">
                <a:latin typeface="Ubuntu"/>
              </a:rPr>
              <a:t>types of text and paragraph level formatting.</a:t>
            </a:r>
            <a:endParaRPr lang="en-US" sz="1200" dirty="0"/>
          </a:p>
          <a:p>
            <a:pPr>
              <a:buNone/>
            </a:pPr>
            <a:r>
              <a:rPr lang="en-US" sz="1200" dirty="0">
                <a:latin typeface="Ubuntu"/>
              </a:rPr>
              <a:t>To see the DOCX conversion in action, simply add this file to calibre using the</a:t>
            </a:r>
            <a:r>
              <a:rPr lang="en-US" sz="1200" dirty="0">
                <a:latin typeface="Ubuntu"/>
              </a:rPr>
              <a:t> </a:t>
            </a:r>
            <a:r>
              <a:rPr lang="en-US" sz="1200" b="1" dirty="0">
                <a:latin typeface="Ubuntu"/>
              </a:rPr>
              <a:t>“Add Books”</a:t>
            </a:r>
            <a:r>
              <a:rPr lang="en-US" sz="1200" b="1" dirty="0">
                <a:latin typeface="Ubuntu"/>
              </a:rPr>
              <a:t> </a:t>
            </a:r>
            <a:r>
              <a:rPr lang="en-US" sz="1200" dirty="0">
                <a:latin typeface="Ubuntu"/>
              </a:rPr>
              <a:t>button and then click “</a:t>
            </a:r>
            <a:r>
              <a:rPr lang="en-US" sz="1200" b="1" dirty="0">
                <a:latin typeface="Ubuntu"/>
              </a:rPr>
              <a:t>Convert”.</a:t>
            </a:r>
            <a:r>
              <a:rPr lang="en-US" sz="1200" b="1" dirty="0">
                <a:latin typeface="Ubuntu"/>
              </a:rPr>
              <a:t> </a:t>
            </a:r>
            <a:r>
              <a:rPr lang="en-US" sz="1200" dirty="0">
                <a:latin typeface="Ubuntu"/>
              </a:rPr>
              <a:t> </a:t>
            </a:r>
            <a:r>
              <a:rPr lang="en-US" sz="1200" dirty="0">
                <a:latin typeface="Ubuntu"/>
              </a:rPr>
              <a:t>Set the output format in the top right corner of the conversion dialog to EPUB or AZW3 and click</a:t>
            </a:r>
            <a:r>
              <a:rPr lang="en-US" sz="1200" dirty="0">
                <a:latin typeface="Ubuntu"/>
              </a:rPr>
              <a:t>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a:t>
            </a:r>
            <a:r>
              <a:rPr lang="en-US" sz="1200" dirty="0">
                <a:latin typeface="Ubuntu"/>
              </a:rPr>
              <a:t> </a:t>
            </a:r>
            <a:r>
              <a:rPr lang="en-US" sz="1200" b="1" dirty="0">
                <a:latin typeface="Ubuntu"/>
              </a:rPr>
              <a:t>bold,</a:t>
            </a:r>
            <a:r>
              <a:rPr lang="en-US" sz="1200" b="1" dirty="0">
                <a:latin typeface="Ubuntu"/>
              </a:rPr>
              <a:t> </a:t>
            </a:r>
            <a:r>
              <a:rPr lang="en-US" sz="1200" i="1" dirty="0">
                <a:latin typeface="Ubuntu"/>
              </a:rPr>
              <a:t>italic,</a:t>
            </a:r>
            <a:r>
              <a:rPr lang="en-US" sz="1200" i="1" dirty="0">
                <a:latin typeface="Ubuntu"/>
              </a:rPr>
              <a:t> </a:t>
            </a:r>
            <a:r>
              <a:rPr lang="en-US" sz="1200" b="1" i="1" dirty="0">
                <a:latin typeface="Ubuntu"/>
              </a:rPr>
              <a:t>bold-italic,</a:t>
            </a:r>
            <a:r>
              <a:rPr lang="en-US" sz="1200" b="1" i="1" dirty="0">
                <a:latin typeface="Ubuntu"/>
              </a:rPr>
              <a:t> </a:t>
            </a:r>
            <a:r>
              <a:rPr lang="en-US" sz="1200" u="sng" dirty="0">
                <a:latin typeface="Ubuntu"/>
              </a:rPr>
              <a:t>underlined</a:t>
            </a:r>
            <a:r>
              <a:rPr lang="en-US" sz="1200" u="sng" dirty="0">
                <a:latin typeface="Ubuntu"/>
              </a:rPr>
              <a:t> </a:t>
            </a:r>
            <a:r>
              <a:rPr lang="en-US" sz="1200" dirty="0">
                <a:latin typeface="Ubuntu"/>
              </a:rPr>
              <a:t>and</a:t>
            </a:r>
            <a:r>
              <a:rPr lang="en-US" sz="1200" dirty="0">
                <a:latin typeface="Ubuntu"/>
              </a:rPr>
              <a:t> </a:t>
            </a:r>
            <a:r>
              <a:rPr lang="en-US" sz="1200" strike="sngStrike" dirty="0">
                <a:latin typeface="Ubuntu"/>
              </a:rPr>
              <a:t>struck out</a:t>
            </a:r>
            <a:r>
              <a:rPr lang="en-US" sz="1200" strike="sngStrike" dirty="0">
                <a:latin typeface="Ubuntu"/>
              </a:rPr>
              <a:t> </a:t>
            </a:r>
            <a:r>
              <a:rPr lang="en-US" sz="1200" dirty="0">
                <a:latin typeface="Ubuntu"/>
              </a:rPr>
              <a:t> </a:t>
            </a:r>
            <a:r>
              <a:rPr lang="en-US" sz="1200" dirty="0">
                <a:latin typeface="Ubuntu"/>
              </a:rPr>
              <a:t>text. Then, we have a super</a:t>
            </a:r>
            <a:r>
              <a:rPr lang="en-US" sz="1200" baseline="30000" dirty="0">
                <a:latin typeface="Ubuntu"/>
              </a:rPr>
              <a:t>script</a:t>
            </a:r>
            <a:r>
              <a:rPr lang="en-US" sz="1200" dirty="0">
                <a:latin typeface="Ubuntu"/>
              </a:rPr>
              <a:t> </a:t>
            </a:r>
            <a:r>
              <a:rPr lang="en-US" sz="1200" dirty="0">
                <a:latin typeface="Ubuntu"/>
              </a:rPr>
              <a:t>and a sub</a:t>
            </a:r>
            <a:r>
              <a:rPr lang="en-US" sz="1200" baseline="-25000" dirty="0">
                <a:latin typeface="Ubuntu"/>
              </a:rPr>
              <a:t>script</a:t>
            </a:r>
            <a:r>
              <a:rPr lang="en-US" sz="1200" dirty="0">
                <a:latin typeface="Ubuntu"/>
              </a:rPr>
              <a:t>. Now we see some</a:t>
            </a:r>
            <a:r>
              <a:rPr lang="en-US" sz="1200" dirty="0">
                <a:latin typeface="Ubuntu"/>
              </a:rPr>
              <a:t> </a:t>
            </a:r>
            <a:r>
              <a:rPr lang="en-US" sz="1200" dirty="0">
                <a:solidFill>
                  <a:srgbClr val="FF0000"/>
                </a:solidFill>
                <a:latin typeface="Ubuntu"/>
              </a:rPr>
              <a:t>red</a:t>
            </a:r>
            <a:r>
              <a:rPr lang="en-US" sz="1200" dirty="0">
                <a:latin typeface="Ubuntu"/>
              </a:rPr>
              <a:t>,</a:t>
            </a:r>
            <a:r>
              <a:rPr lang="en-US" sz="1200" dirty="0">
                <a:latin typeface="Ubuntu"/>
              </a:rPr>
              <a:t> </a:t>
            </a:r>
            <a:r>
              <a:rPr lang="en-US" sz="1200" dirty="0">
                <a:solidFill>
                  <a:srgbClr val="92D050"/>
                </a:solidFill>
                <a:latin typeface="Ubuntu"/>
              </a:rPr>
              <a:t>green</a:t>
            </a:r>
            <a:r>
              <a:rPr lang="en-US" sz="1200" dirty="0">
                <a:latin typeface="Ubuntu"/>
              </a:rPr>
              <a:t> </a:t>
            </a:r>
            <a:r>
              <a:rPr lang="en-US" sz="1200" dirty="0">
                <a:latin typeface="Ubuntu"/>
              </a:rPr>
              <a:t>and</a:t>
            </a:r>
            <a:r>
              <a:rPr lang="en-US" sz="1200" dirty="0">
                <a:latin typeface="Ubuntu"/>
              </a:rPr>
              <a:t> </a:t>
            </a:r>
            <a:r>
              <a:rPr lang="en-US" sz="1200" dirty="0">
                <a:solidFill>
                  <a:srgbClr val="0070C0"/>
                </a:solidFill>
                <a:latin typeface="Ubuntu"/>
              </a:rPr>
              <a:t>blue</a:t>
            </a:r>
            <a:r>
              <a:rPr lang="en-US" sz="1200" dirty="0">
                <a:latin typeface="Ubuntu"/>
              </a:rPr>
              <a:t> </a:t>
            </a:r>
            <a:r>
              <a:rPr lang="en-US" sz="1200" dirty="0">
                <a:latin typeface="Ubuntu"/>
              </a:rPr>
              <a:t>text. Some text with a</a:t>
            </a:r>
            <a:r>
              <a:rPr lang="en-US" sz="1200" dirty="0">
                <a:latin typeface="Ubuntu"/>
              </a:rPr>
              <a:t> </a:t>
            </a:r>
            <a:r>
              <a:rPr lang="en-US" sz="1200" dirty="0">
                <a:latin typeface="Ubuntu"/>
              </a:rPr>
              <a:t>yellow highlight</a:t>
            </a:r>
            <a:r>
              <a:rPr lang="en-US" sz="1200" dirty="0">
                <a:latin typeface="Ubuntu"/>
              </a:rPr>
              <a:t>. Some text in a</a:t>
            </a:r>
            <a:r>
              <a:rPr lang="en-US" sz="1200" dirty="0">
                <a:latin typeface="Ubuntu"/>
              </a:rPr>
              <a:t> </a:t>
            </a:r>
            <a:r>
              <a:rPr lang="en-US" sz="1200" dirty="0">
                <a:latin typeface="Ubuntu"/>
              </a:rPr>
              <a:t>box. Some text</a:t>
            </a:r>
            <a:r>
              <a:rPr lang="en-US" sz="1200" dirty="0">
                <a:latin typeface="Ubuntu"/>
              </a:rPr>
              <a:t> </a:t>
            </a:r>
            <a:r>
              <a:rPr lang="en-US" sz="1200" dirty="0">
                <a:latin typeface="Ubuntu"/>
              </a:rPr>
              <a:t>in</a:t>
            </a:r>
            <a:r>
              <a:rPr lang="en-US" sz="1200" dirty="0">
                <a:latin typeface="Ubuntu"/>
              </a:rPr>
              <a:t>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a:t>
            </a:r>
            <a:r>
              <a:rPr lang="en-US" sz="1200" dirty="0">
                <a:latin typeface="Ubuntu"/>
              </a:rPr>
              <a:t> </a:t>
            </a:r>
            <a:r>
              <a:rPr lang="en-US" sz="1200" i="1" dirty="0">
                <a:solidFill>
                  <a:srgbClr val="808080"/>
                </a:solidFill>
                <a:latin typeface="Ubuntu"/>
              </a:rPr>
              <a:t>subtle emphasis</a:t>
            </a:r>
            <a:r>
              <a:rPr lang="en-US" sz="1200" i="1" dirty="0">
                <a:solidFill>
                  <a:srgbClr val="808080"/>
                </a:solidFill>
                <a:latin typeface="Ubuntu"/>
              </a:rPr>
              <a:t>  </a:t>
            </a:r>
            <a:r>
              <a:rPr lang="en-US" sz="1200" dirty="0">
                <a:latin typeface="Ubuntu"/>
              </a:rPr>
              <a:t>followed by</a:t>
            </a:r>
            <a:r>
              <a:rPr lang="en-US" sz="1200" dirty="0">
                <a:latin typeface="Ubuntu"/>
              </a:rPr>
              <a:t> </a:t>
            </a:r>
            <a:r>
              <a:rPr lang="en-US" sz="1200" b="1" dirty="0">
                <a:latin typeface="Ubuntu"/>
              </a:rPr>
              <a:t>strong text</a:t>
            </a:r>
            <a:r>
              <a:rPr lang="en-US" sz="1200" b="1" dirty="0">
                <a:latin typeface="Ubuntu"/>
              </a:rPr>
              <a:t> </a:t>
            </a:r>
            <a:r>
              <a:rPr lang="en-US" sz="1200" dirty="0">
                <a:latin typeface="Ubuntu"/>
              </a:rPr>
              <a:t>and</a:t>
            </a:r>
            <a:r>
              <a:rPr lang="en-US" sz="1200" dirty="0">
                <a:latin typeface="Ubuntu"/>
              </a:rPr>
              <a:t> </a:t>
            </a:r>
            <a:r>
              <a:rPr lang="en-US" sz="1200" b="1" i="1" dirty="0">
                <a:solidFill>
                  <a:srgbClr val="4F81BD"/>
                </a:solidFill>
                <a:latin typeface="Ubuntu"/>
              </a:rPr>
              <a:t>intense emphasis</a:t>
            </a:r>
            <a:r>
              <a:rPr lang="en-US" sz="1200" dirty="0">
                <a:latin typeface="Ubuntu"/>
              </a:rPr>
              <a:t>.</a:t>
            </a:r>
            <a:r>
              <a:rPr lang="en-US" sz="1200" dirty="0">
                <a:latin typeface="Ubuntu"/>
              </a:rPr>
              <a:t> </a:t>
            </a:r>
            <a:r>
              <a:rPr lang="en-US" sz="1200" dirty="0">
                <a:latin typeface="Ubuntu"/>
              </a:rPr>
              <a:t>This paragraph uses document wide styles for styling rather than inline text properties as demonstrated in the previous paragraph</a:t>
            </a:r>
            <a:r>
              <a:rPr lang="en-US" sz="1200" dirty="0">
                <a:latin typeface="Ubuntu"/>
              </a:rPr>
              <a:t> </a:t>
            </a:r>
            <a:r>
              <a:rPr lang="en-US" sz="1200" dirty="0">
                <a:latin typeface="Ubuntu"/>
              </a:rPr>
              <a:t>—</a:t>
            </a:r>
            <a:r>
              <a:rPr lang="en-US" sz="1200" dirty="0">
                <a:latin typeface="Ubuntu"/>
              </a:rPr>
              <a:t> </a:t>
            </a:r>
            <a:r>
              <a:rPr lang="en-US" sz="1200" dirty="0">
                <a:latin typeface="Ubuntu"/>
              </a:rPr>
              <a:t>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a:t>
            </a:r>
            <a:r>
              <a:rPr lang="en-US" sz="1200" dirty="0">
                <a:latin typeface="Ubuntu"/>
              </a:rPr>
              <a:t> </a:t>
            </a:r>
            <a:r>
              <a:rPr lang="en-US" sz="1200" dirty="0">
                <a:latin typeface="Ubuntu Mono"/>
              </a:rPr>
              <a:t>some text in the Ubuntu Mono typeface</a:t>
            </a:r>
            <a:r>
              <a:rPr lang="en-US" sz="1200" dirty="0">
                <a:latin typeface="Ubuntu Mono"/>
              </a:rPr>
              <a:t>, notice how every letter has the same width, even i and m</a:t>
            </a:r>
            <a:r>
              <a:rPr lang="en-US" sz="1200" dirty="0">
                <a:latin typeface="Ubuntu"/>
              </a:rPr>
              <a:t>. Every embedded font will automatically be embedded in the output ebook during conversion.</a:t>
            </a:r>
            <a:r>
              <a:rPr lang="en-US" sz="1200" dirty="0">
                <a:latin typeface="Ubuntu"/>
              </a:rPr>
              <a:t>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a:t>
            </a:r>
            <a:r>
              <a:rPr lang="en-US" sz="1800" dirty="0"/>
              <a:t> </a:t>
            </a:r>
            <a:r>
              <a:rPr lang="en-US" sz="1800" dirty="0"/>
              <a:t>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b="1" dirty="0">
                          <a:solidFill>
                            <a:srgbClr val="FFFFFF"/>
                          </a:solidFill>
                        </a:rPr>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rPr>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a:t>
            </a:r>
            <a:r>
              <a:rPr lang="en-US" sz="1200" dirty="0">
                <a:latin typeface="Ubuntu"/>
              </a:rPr>
              <a:t> </a:t>
            </a:r>
            <a:r>
              <a:rPr lang="en-US" sz="1200" dirty="0">
                <a:latin typeface="Ubuntu"/>
              </a:rPr>
              <a:t>calibre</a:t>
            </a:r>
            <a:r>
              <a:rPr lang="en-US" sz="1200" dirty="0">
                <a:latin typeface="Ubuntu"/>
              </a:rPr>
              <a:t> </a:t>
            </a:r>
            <a:r>
              <a:rPr lang="en-US" sz="1200" dirty="0">
                <a:latin typeface="Ubuntu"/>
              </a:rPr>
              <a:t>tries to do its best when converting tables. While you may run into trouble with the occasional table, the vast majority of common cases should be converted very well, as demonstrated in this section.</a:t>
            </a:r>
            <a:r>
              <a:rPr lang="en-US" sz="1200" dirty="0">
                <a:latin typeface="Ubuntu"/>
              </a:rPr>
              <a:t> </a:t>
            </a:r>
            <a:r>
              <a:rPr lang="en-US" sz="1200" dirty="0">
                <a:latin typeface="Ubuntu"/>
              </a:rPr>
              <a:t>Note that for optimum results, when creating tables in Word, you should set their widths using percentages, rather than absolute units.</a:t>
            </a:r>
            <a:r>
              <a:rPr lang="en-US" sz="1200" dirty="0">
                <a:latin typeface="Ubuntu"/>
              </a:rPr>
              <a:t> </a:t>
            </a:r>
            <a:r>
              <a:rPr lang="en-US" sz="1200" dirty="0">
                <a:latin typeface="Ubuntu"/>
              </a:rPr>
              <a:t> </a:t>
            </a:r>
            <a:r>
              <a:rPr lang="en-US" sz="1200" dirty="0">
                <a:latin typeface="Ubuntu"/>
              </a:rPr>
              <a:t>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613833">
                <a:tc>
                  <a:txBody>
                    <a:bodyPr/>
                    <a:lstStyle/>
                    <a:p>
                      <a:pPr>
                        <a:buNone/>
                      </a:pPr>
                      <a:r>
                        <a:rPr lang="en-US" sz="1200" dirty="0">
                          <a:latin typeface="Ubuntu"/>
                        </a:rPr>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b="1" dirty="0">
                          <a:solidFill>
                            <a:srgbClr val="FFFFFF"/>
                          </a:solidFill>
                        </a:rPr>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a:t>
            </a:r>
            <a:r>
              <a:rPr lang="en-US" sz="1000" dirty="0">
                <a:latin typeface="Ubuntu"/>
              </a:rPr>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a:t>
            </a:r>
            <a:r>
              <a:rPr lang="en-US" sz="1800" dirty="0"/>
              <a:t> </a:t>
            </a:r>
            <a:r>
              <a:rPr lang="en-US" sz="1800" dirty="0"/>
              <a:t>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650210"/>
                <a:gridCol w="5579390"/>
              </a:tblGrid>
              <a:tr h="3683000">
                <a:tc>
                  <a:txBody>
                    <a:bodyPr/>
                    <a:lstStyle/>
                    <a:p>
                      <a:pPr>
                        <a:buNone/>
                      </a:pPr>
                      <a:r>
                        <a:rPr lang="en-US" sz="1200" dirty="0"/>
                        <a:t>One
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a:t>
            </a:r>
            <a:r>
              <a:rPr lang="en-US" sz="1800" dirty="0"/>
              <a:t> </a:t>
            </a:r>
            <a:r>
              <a:rPr lang="en-US" sz="1800" dirty="0"/>
              <a:t>fancy</a:t>
            </a:r>
            <a:r>
              <a:rPr lang="en-US" sz="1800" dirty="0"/>
              <a:t> </a:t>
            </a:r>
            <a:r>
              <a:rPr lang="en-US" sz="1800" dirty="0"/>
              <a:t>calendar, note how</a:t>
            </a:r>
            <a:r>
              <a:rPr lang="en-US" sz="1800" dirty="0"/>
              <a:t> </a:t>
            </a:r>
            <a:r>
              <a:rPr lang="en-US" sz="1800" dirty="0"/>
              <a:t>much of the original formatting is preserved.</a:t>
            </a:r>
            <a:r>
              <a:rPr lang="en-US" sz="1800" dirty="0"/>
              <a:t> </a:t>
            </a:r>
            <a:r>
              <a:rPr lang="en-US" sz="1800" dirty="0"/>
              <a:t>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200" dirty="0">
                          <a:solidFill>
                            <a:srgbClr val="365F91"/>
                          </a:solidFill>
                        </a:rPr>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a:t>
            </a:r>
            <a:r>
              <a:rPr lang="en-US" sz="1200" dirty="0">
                <a:latin typeface="Ubuntu"/>
              </a:rPr>
              <a:t>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t>
            </a:r>
            <a:r>
              <a:rPr lang="en-US" sz="1200" dirty="0">
                <a:latin typeface="Ubuntu"/>
              </a:rPr>
              <a:t>and endnotes</a:t>
            </a:r>
            <a:r>
              <a:rPr lang="en-US" sz="1800" baseline="30000" dirty="0"/>
              <a:t>2</a:t>
            </a:r>
            <a:r>
              <a:rPr lang="en-US" sz="1200" dirty="0">
                <a:latin typeface="Ubuntu"/>
              </a:rPr>
              <a:t> </a:t>
            </a:r>
            <a:r>
              <a:rPr lang="en-US" sz="1200" dirty="0">
                <a:latin typeface="Ubuntu"/>
              </a:rPr>
              <a:t>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r>
              <a:rPr lang="en-US" sz="1800" dirty="0"/>
              <a:t>rop caps are used to emphasize the leading paragraph at the start of a section. In Word it is possible to specify how many lines of text a drop-cap should use.</a:t>
            </a:r>
            <a:endParaRPr lang="en-US" sz="5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a:t>
            </a:r>
            <a:r>
              <a:rPr lang="en-US" sz="1200" dirty="0">
                <a:latin typeface="Ubuntu"/>
              </a:rPr>
              <a:t> </a:t>
            </a:r>
            <a:r>
              <a:rPr lang="en-US" sz="1200" dirty="0">
                <a:latin typeface="Ubuntu"/>
              </a:rPr>
              <a:t>locations</a:t>
            </a:r>
            <a:r>
              <a:rPr lang="en-US" sz="1200" dirty="0">
                <a:latin typeface="Ubuntu"/>
              </a:rPr>
              <a:t> </a:t>
            </a:r>
            <a:r>
              <a:rPr lang="en-US" sz="1200" dirty="0">
                <a:latin typeface="Ubuntu"/>
              </a:rPr>
              <a:t>inside the document itself. Both are supported by calibre. For example, here is a link pointing to the</a:t>
            </a:r>
            <a:r>
              <a:rPr lang="en-US" sz="1200" dirty="0">
                <a:latin typeface="Ubuntu"/>
              </a:rPr>
              <a:t> </a:t>
            </a:r>
            <a:r>
              <a:rPr lang="en-US" sz="1200" u="sng" dirty="0">
                <a:solidFill>
                  <a:srgbClr val="0000FF"/>
                </a:solidFill>
                <a:latin typeface="Ubuntu"/>
                <a:hlinkClick r:id="rId2"/>
              </a:rPr>
              <a:t>calibre download page</a:t>
            </a:r>
            <a:r>
              <a:rPr lang="en-US" sz="1200" dirty="0">
                <a:latin typeface="Ubuntu"/>
              </a:rPr>
              <a:t>.</a:t>
            </a:r>
            <a:r>
              <a:rPr lang="en-US" sz="1200" dirty="0">
                <a:latin typeface="Ubuntu"/>
              </a:rPr>
              <a:t> </a:t>
            </a:r>
            <a:r>
              <a:rPr lang="en-US" sz="1200" dirty="0">
                <a:latin typeface="Ubuntu"/>
              </a:rPr>
              <a:t>Then we have a link that points back to the section on</a:t>
            </a:r>
            <a:r>
              <a:rPr lang="en-US" sz="1200" dirty="0">
                <a:latin typeface="Ubuntu"/>
              </a:rPr>
              <a:t> </a:t>
            </a:r>
            <a:r>
              <a:rPr lang="en-US" sz="1200" u="sng" dirty="0">
                <a:solidFill>
                  <a:srgbClr val="0000FF"/>
                </a:solidFill>
                <a:latin typeface="Ubuntu"/>
              </a:rPr>
              <a:t>paragraph level formatting</a:t>
            </a:r>
            <a:r>
              <a:rPr lang="en-US" sz="1200" dirty="0">
                <a:latin typeface="Ubuntu"/>
              </a:rPr>
              <a:t> </a:t>
            </a:r>
            <a:r>
              <a:rPr lang="en-US" sz="1200" dirty="0">
                <a:latin typeface="Ubuntu"/>
              </a:rPr>
              <a:t>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a:t>
            </a:r>
            <a:r>
              <a:rPr lang="en-US" sz="1200" dirty="0">
                <a:latin typeface="Ubuntu"/>
              </a:rPr>
              <a:t>You can see the</a:t>
            </a:r>
            <a:r>
              <a:rPr lang="en-US" sz="1200" dirty="0">
                <a:latin typeface="Ubuntu"/>
              </a:rPr>
              <a:t> </a:t>
            </a:r>
            <a:r>
              <a:rPr lang="en-US" sz="1200" dirty="0">
                <a:latin typeface="Ubuntu"/>
              </a:rPr>
              <a:t>Table of Contents</a:t>
            </a:r>
            <a:r>
              <a:rPr lang="en-US" sz="1200" dirty="0">
                <a:latin typeface="Ubuntu"/>
              </a:rPr>
              <a:t> </a:t>
            </a:r>
            <a:r>
              <a:rPr lang="en-US" sz="1200" dirty="0">
                <a:latin typeface="Ubuntu"/>
              </a:rPr>
              <a:t>created by calibre</a:t>
            </a:r>
            <a:r>
              <a:rPr lang="en-US" sz="1200" dirty="0">
                <a:latin typeface="Ubuntu"/>
              </a:rPr>
              <a:t> </a:t>
            </a:r>
            <a:r>
              <a:rPr lang="en-US" sz="1200" dirty="0">
                <a:latin typeface="Ubuntu"/>
              </a:rPr>
              <a:t>by clicking the Table of Contents button in whatever viewer you are using to view the converted ebook.</a:t>
            </a:r>
            <a:r>
              <a:rPr lang="en-US" sz="1200" dirty="0">
                <a:latin typeface="Ubuntu"/>
              </a:rPr>
              <a:t> </a:t>
            </a:r>
            <a:endParaRPr lang="en-US" sz="1200" dirty="0"/>
          </a:p>
          <a:p>
            <a:pPr>
              <a:buNone/>
            </a:pPr>
            <a:r>
              <a:rPr lang="en-US" sz="1800" u="sng" dirty="0">
                <a:solidFill>
                  <a:srgbClr val="0000FF"/>
                </a:solidFill>
              </a:rPr>
              <a:t>Demonstration of DOCX support in calibre</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Text Formatting</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Inline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Fun with fonts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Paragraph level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Tables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Structural Elements</a:t>
            </a:r>
            <a:r>
              <a:rPr lang="en-US" sz="1800" dirty="0"/>
              <a:t>	</a:t>
            </a:r>
            <a:r>
              <a:rPr lang="en-US" sz="1800" u="sng" dirty="0">
                <a:solidFill>
                  <a:srgbClr val="0000FF"/>
                </a:solidFill>
              </a:rPr>
              <a:t>4</a:t>
            </a:r>
            <a:endParaRPr lang="en-US" sz="1800" dirty="0"/>
          </a:p>
          <a:p>
            <a:pPr>
              <a:buNone/>
            </a:pPr>
            <a:r>
              <a:rPr lang="en-US" sz="1800" u="sng" dirty="0">
                <a:solidFill>
                  <a:srgbClr val="0000FF"/>
                </a:solidFill>
              </a:rPr>
              <a:t>Footnotes &amp; Endnotes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Dropcaps</a:t>
            </a:r>
            <a:r>
              <a:rPr lang="en-US" sz="1800" dirty="0"/>
              <a:t>	</a:t>
            </a:r>
            <a:r>
              <a:rPr lang="en-US" sz="1800" u="sng" dirty="0">
                <a:solidFill>
                  <a:srgbClr val="0000FF"/>
                </a:solidFill>
              </a:rPr>
              <a:t>5</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u="sng" dirty="0">
                <a:solidFill>
                  <a:srgbClr val="0000FF"/>
                </a:solidFill>
              </a:rPr>
              <a:t>Links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Table of Contents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Images</a:t>
            </a:r>
            <a:r>
              <a:rPr lang="en-US" sz="1800" dirty="0"/>
              <a:t>	</a:t>
            </a:r>
            <a:r>
              <a:rPr lang="en-US" sz="1800" u="sng" dirty="0">
                <a:solidFill>
                  <a:srgbClr val="0000FF"/>
                </a:solidFill>
              </a:rPr>
              <a:t>6</a:t>
            </a:r>
            <a:endParaRPr lang="en-US" sz="1800" dirty="0"/>
          </a:p>
          <a:p>
            <a:pPr>
              <a:buNone/>
            </a:pPr>
            <a:r>
              <a:rPr lang="en-US" sz="1800" u="sng" dirty="0">
                <a:solidFill>
                  <a:srgbClr val="0000FF"/>
                </a:solidFill>
              </a:rPr>
              <a:t>Lists</a:t>
            </a:r>
            <a:r>
              <a:rPr lang="en-US" sz="1800" dirty="0"/>
              <a:t>	</a:t>
            </a:r>
            <a:r>
              <a:rPr lang="en-US" sz="1800" u="sng" dirty="0">
                <a:solidFill>
                  <a:srgbClr val="0000FF"/>
                </a:solidFill>
              </a:rPr>
              <a:t>7</a:t>
            </a:r>
            <a:endParaRPr lang="en-US" sz="1800" dirty="0"/>
          </a:p>
          <a:p>
            <a:pPr>
              <a:buNone/>
            </a:pPr>
            <a:r>
              <a:rPr lang="en-US" sz="1800" u="sng" dirty="0">
                <a:solidFill>
                  <a:srgbClr val="0000FF"/>
                </a:solidFill>
              </a:rPr>
              <a:t>Bulleted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Numbered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Multi-level Lists</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Continued Lists</a:t>
            </a:r>
            <a:r>
              <a:rPr lang="en-US" sz="1800" dirty="0"/>
              <a:t>	</a:t>
            </a:r>
            <a:r>
              <a:rPr lang="en-US" sz="1800" u="sng" dirty="0">
                <a:solidFill>
                  <a:srgbClr val="0000FF"/>
                </a:solidFill>
              </a:rPr>
              <a:t>8</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a:t>
            </a:r>
            <a:r>
              <a:rPr lang="en-US" sz="1200" dirty="0">
                <a:latin typeface="Ubuntu"/>
              </a:rPr>
              <a:t>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a:t>
            </a:r>
            <a:r>
              <a:rPr lang="en-US" sz="1200" dirty="0">
                <a:latin typeface="Ubuntu"/>
              </a:rPr>
              <a:t>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1.1.	</a:t>
            </a:r>
            <a:r>
              <a:rPr lang="en-US" sz="1800" dirty="0"/>
              <a:t>Two</a:t>
            </a:r>
            <a:endParaRPr lang="en-US" sz="1800" dirty="0"/>
          </a:p>
          <a:p>
            <a:pPr marL="685800" indent="-177800" lvl="2">
              <a:buNone/>
            </a:pPr>
            <a:r>
              <a:rPr lang="en-US" sz="1800" dirty="0"/>
              <a:t>1.1.1.	</a:t>
            </a:r>
            <a:r>
              <a:rPr lang="en-US" sz="1800" dirty="0"/>
              <a:t>Three</a:t>
            </a:r>
            <a:endParaRPr lang="en-US" sz="1800" dirty="0"/>
          </a:p>
          <a:p>
            <a:pPr marL="685800" indent="-177800" lvl="2">
              <a:buNone/>
            </a:pPr>
            <a:r>
              <a:rPr lang="en-US" sz="1800" dirty="0"/>
              <a:t>1.1.2.	</a:t>
            </a:r>
            <a:r>
              <a:rPr lang="en-US" sz="1800" dirty="0"/>
              <a:t>Four with a very long line to demonstrate that the hanging indent for the list is working correctly.</a:t>
            </a:r>
            <a:endParaRPr lang="en-US" sz="1800" dirty="0"/>
          </a:p>
          <a:p>
            <a:pPr marL="685800" indent="-177800" lvl="2">
              <a:buNone/>
            </a:pPr>
            <a:r>
              <a:rPr lang="en-US" sz="1800" dirty="0"/>
              <a:t>1.1.3.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i.	</a:t>
            </a:r>
            <a:r>
              <a:rPr lang="en-US" sz="1800" dirty="0"/>
              <a:t>One</a:t>
            </a:r>
            <a:endParaRPr lang="en-US" sz="1800" dirty="0"/>
          </a:p>
          <a:p>
            <a:pPr marL="228600" indent="-177800">
              <a:buNone/>
            </a:pPr>
            <a:r>
              <a:rPr lang="en-US" sz="1800" dirty="0"/>
              <a:t>ii.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iii.	</a:t>
            </a:r>
            <a:r>
              <a:rPr lang="en-US" sz="1800" dirty="0"/>
              <a:t>We now resume our normal programming</a:t>
            </a:r>
            <a:endParaRPr lang="en-US" sz="1800" dirty="0"/>
          </a:p>
          <a:p>
            <a:pPr marL="228600" indent="-177800">
              <a:buNone/>
            </a:pPr>
            <a:r>
              <a:rPr lang="en-US" sz="1800" dirty="0"/>
              <a:t>iv.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2025-11-29T07:48:00Z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