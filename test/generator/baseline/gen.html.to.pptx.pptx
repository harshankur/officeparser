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17365D"/>
                </a:solidFill>
              </a:rPr>
              <a:t>Demonstration of DOCX support in </a:t>
            </a:r>
            <a:r>
              <a:rPr lang="en-US" sz="2800" b="1" dirty="0">
                <a:solidFill>
                  <a:srgbClr val="17365D"/>
                </a:solidFill>
              </a:rPr>
              <a:t>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 </a:t>
            </a:r>
            <a:r>
              <a:rPr lang="en-US" sz="1800" b="1" dirty="0"/>
              <a:t>Convert”. </a:t>
            </a:r>
            <a:r>
              <a:rPr lang="en-US" sz="1800" dirty="0"/>
              <a:t>Set the output format in the top right corner of the conversion dialog to EPUB or AZW3 and click </a:t>
            </a:r>
            <a:r>
              <a:rPr lang="en-US" sz="1800" b="1" dirty="0"/>
              <a:t>“OK”</a:t>
            </a:r>
            <a:r>
              <a:rPr lang="en-US" sz="1800" dirty="0"/>
              <a:t> .</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text. Then, we have a super </a:t>
            </a:r>
            <a:r>
              <a:rPr lang="en-US" sz="1800" baseline="30000" dirty="0"/>
              <a:t>script</a:t>
            </a:r>
            <a:r>
              <a:rPr lang="en-US" sz="1800" dirty="0"/>
              <a:t> and a sub </a:t>
            </a:r>
            <a:r>
              <a:rPr lang="en-US" sz="1800" baseline="-25000" dirty="0"/>
              <a:t>script</a:t>
            </a:r>
            <a:r>
              <a:rPr lang="en-US" sz="1800" dirty="0"/>
              <a:t> . Now we see some </a:t>
            </a:r>
            <a:r>
              <a:rPr lang="en-US" sz="1800" dirty="0">
                <a:solidFill>
                  <a:srgbClr val="FF0000"/>
                </a:solidFill>
              </a:rPr>
              <a:t>red</a:t>
            </a:r>
            <a:r>
              <a:rPr lang="en-US" sz="1800" dirty="0"/>
              <a:t> ,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 Some text in a box . Some text in </a:t>
            </a:r>
            <a:r>
              <a:rPr lang="en-US" sz="1800" dirty="0">
                <a:solidFill>
                  <a:srgbClr val="FFFFFF"/>
                </a:solidFill>
              </a:rPr>
              <a:t>inverse video</a:t>
            </a:r>
            <a:r>
              <a:rPr lang="en-US" sz="1800" dirty="0"/>
              <a:t> .</a:t>
            </a:r>
            <a:endParaRPr lang="en-US" sz="1800" dirty="0"/>
          </a:p>
          <a:p>
            <a:pPr>
              <a:buNone/>
            </a:pPr>
            <a:r>
              <a:rPr lang="en-US" sz="1800" dirty="0"/>
              <a:t>A paragraph with styled text: </a:t>
            </a:r>
            <a:r>
              <a:rPr lang="en-US" sz="1800" i="1" dirty="0">
                <a:solidFill>
                  <a:srgbClr val="808080"/>
                </a:solidFill>
              </a:rPr>
              <a:t>subtle emphasis</a:t>
            </a:r>
            <a:r>
              <a:rPr lang="en-US" sz="1800" dirty="0"/>
              <a:t> </a:t>
            </a:r>
            <a:r>
              <a:rPr lang="en-US" sz="1800" dirty="0"/>
              <a:t>f ollowed by </a:t>
            </a:r>
            <a:r>
              <a:rPr lang="en-US" sz="1800" b="1" dirty="0"/>
              <a:t>strong text </a:t>
            </a:r>
            <a:r>
              <a:rPr lang="en-US" sz="1800" dirty="0"/>
              <a:t>a nd </a:t>
            </a:r>
            <a:r>
              <a:rPr lang="en-US" sz="1800" b="1" i="1" dirty="0">
                <a:solidFill>
                  <a:srgbClr val="4F81BD"/>
                </a:solidFill>
              </a:rPr>
              <a:t>intense emphasis</a:t>
            </a:r>
            <a:r>
              <a:rPr lang="en-US" sz="1800" dirty="0"/>
              <a:t> .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Ubuntu Mono"/>
              </a:rPr>
              <a:t>some text in the Ubuntu Mono typeface</a:t>
            </a:r>
            <a:r>
              <a:rPr lang="en-US" sz="1800" dirty="0"/>
              <a:t> </a:t>
            </a:r>
            <a:r>
              <a:rPr lang="en-US" sz="1800" dirty="0">
                <a:latin typeface="Ubuntu Mono"/>
              </a:rPr>
              <a:t>, notice how every letter has the same width, even i and m</a:t>
            </a:r>
            <a:r>
              <a:rPr lang="en-US" sz="1800" dirty="0"/>
              <a:t> .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 ormatting for the h 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800" dirty="0"/>
              <a:t> </a:t>
            </a:r>
            <a:r>
              <a:rPr lang="en-US" sz="1000" dirty="0"/>
              <a:t>Fictitious data, for illustration purposes only</a:t>
            </a:r>
            <a:endParaRPr lang="en-US" sz="1000" dirty="0"/>
          </a:p>
          <a:p>
            <a:pPr>
              <a:buNone/>
            </a:pPr>
            <a:r>
              <a:rPr lang="en-US" sz="1800" dirty="0"/>
              <a:t>Next ,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r>
                        <a:rPr lang="en-US" sz="1200" dirty="0"/>
                        <a:t>	</a:t>
                      </a:r>
                      <a:endParaRPr lang="en-US" sz="1200" dirty="0"/>
                    </a:p>
                    <a:p>
                      <a:pPr>
                        <a:buNone/>
                      </a:pP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 e end with a fancy calendar, note how much of the original formatting is preserved .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endParaRPr lang="en-US" sz="1800" dirty="0"/>
          </a:p>
          <a:p>
            <a:pPr>
              <a:buNone/>
            </a:pPr>
            <a:r>
              <a:rPr lang="en-US" sz="1000" dirty="0"/>
              <a:t>In paged media, footnotes are usually displayed at the bottom of the text. However, in ebooks, a better paradigm is to make them clickable endnotes that the user can browse at her pleasure. This conversion is handled automatically by calibre.</a:t>
            </a:r>
            <a:endParaRPr lang="en-US" sz="1000" dirty="0"/>
          </a:p>
          <a:p>
            <a:pPr>
              <a:buNone/>
            </a:pPr>
            <a:r>
              <a:rPr lang="en-US" sz="1800" dirty="0"/>
              <a:t>and endnotes</a:t>
            </a:r>
            <a:endParaRPr lang="en-US" sz="1800" dirty="0"/>
          </a:p>
          <a:p>
            <a:pPr>
              <a:buNone/>
            </a:pPr>
            <a:r>
              <a:rPr lang="en-US" sz="1000" dirty="0"/>
              <a:t>Endnotes are typically used for longer notes, they remain endnotes when converted into ebook form, except that they have an additional backlink to make it easy to return to the current position after reading the note.</a:t>
            </a:r>
            <a:endParaRPr lang="en-US" sz="1000" dirty="0"/>
          </a:p>
          <a:p>
            <a:pPr>
              <a:buNone/>
            </a:pPr>
            <a:r>
              <a:rPr lang="en-US" sz="1800" dirty="0"/>
              <a:t>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 caps are used to emphasize the leading paragraph at the start of a section. In Word it is possible to s p 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solidFill>
                  <a:srgbClr val="0000FF"/>
                </a:solidFill>
                <a:hlinkClick r:id="rId2"/>
              </a:rPr>
              <a:t>calibre download page</a:t>
            </a:r>
            <a:r>
              <a:rPr lang="en-US" sz="1800" dirty="0"/>
              <a:t> .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200" u="sng" dirty="0">
                <a:solidFill>
                  <a:srgbClr val="0000FF"/>
                </a:solidFill>
              </a:rPr>
              <a:t>Demonstration of DOCX support in calibre</a:t>
            </a:r>
            <a:r>
              <a:rPr lang="en-US" sz="1800" dirty="0"/>
              <a:t> </a:t>
            </a:r>
            <a:r>
              <a:rPr lang="en-US" sz="1200" u="sng" dirty="0">
                <a:solidFill>
                  <a:srgbClr val="0000FF"/>
                </a:solidFill>
              </a:rPr>
              <a:t>1</a:t>
            </a:r>
            <a:endParaRPr lang="en-US" sz="1200" dirty="0"/>
          </a:p>
          <a:p>
            <a:pPr>
              <a:buNone/>
            </a:pPr>
            <a:r>
              <a:rPr lang="en-US" sz="1200" u="sng" dirty="0">
                <a:solidFill>
                  <a:srgbClr val="0000FF"/>
                </a:solidFill>
              </a:rPr>
              <a:t>Text Formatting</a:t>
            </a:r>
            <a:r>
              <a:rPr lang="en-US" sz="1800" dirty="0"/>
              <a:t> </a:t>
            </a:r>
            <a:r>
              <a:rPr lang="en-US" sz="1200" u="sng" dirty="0">
                <a:solidFill>
                  <a:srgbClr val="0000FF"/>
                </a:solidFill>
              </a:rPr>
              <a:t>1</a:t>
            </a:r>
            <a:endParaRPr lang="en-US" sz="1200" dirty="0"/>
          </a:p>
          <a:p>
            <a:pPr>
              <a:buNone/>
            </a:pPr>
            <a:r>
              <a:rPr lang="en-US" sz="1200" u="sng" dirty="0">
                <a:solidFill>
                  <a:srgbClr val="0000FF"/>
                </a:solidFill>
              </a:rPr>
              <a:t>Inline formatting</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Fun with fonts</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Paragraph level formatting</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Tables</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Structural Elements</a:t>
            </a:r>
            <a:r>
              <a:rPr lang="en-US" sz="1800" dirty="0"/>
              <a:t> </a:t>
            </a:r>
            <a:r>
              <a:rPr lang="en-US" sz="1200" u="sng" dirty="0">
                <a:solidFill>
                  <a:srgbClr val="0000FF"/>
                </a:solidFill>
              </a:rPr>
              <a:t>4</a:t>
            </a:r>
            <a:endParaRPr lang="en-US" sz="1200" dirty="0"/>
          </a:p>
          <a:p>
            <a:pPr>
              <a:buNone/>
            </a:pPr>
            <a:r>
              <a:rPr lang="en-US" sz="1200" u="sng" dirty="0">
                <a:solidFill>
                  <a:srgbClr val="0000FF"/>
                </a:solidFill>
              </a:rPr>
              <a:t>Footnotes &amp; Endnotes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Dropcaps</a:t>
            </a:r>
            <a:r>
              <a:rPr lang="en-US" sz="1800" dirty="0"/>
              <a:t> </a:t>
            </a:r>
            <a:r>
              <a:rPr lang="en-US" sz="1200" u="sng" dirty="0">
                <a:solidFill>
                  <a:srgbClr val="0000FF"/>
                </a:solidFill>
              </a:rPr>
              <a:t>5</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u="sng" dirty="0">
                <a:solidFill>
                  <a:srgbClr val="0000FF"/>
                </a:solidFill>
              </a:rPr>
              <a:t>Links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Table of Contents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Images</a:t>
            </a:r>
            <a:r>
              <a:rPr lang="en-US" sz="1800" dirty="0"/>
              <a:t> </a:t>
            </a:r>
            <a:r>
              <a:rPr lang="en-US" sz="1200" u="sng" dirty="0">
                <a:solidFill>
                  <a:srgbClr val="0000FF"/>
                </a:solidFill>
              </a:rPr>
              <a:t>6</a:t>
            </a:r>
            <a:endParaRPr lang="en-US" sz="1200" dirty="0"/>
          </a:p>
          <a:p>
            <a:pPr>
              <a:buNone/>
            </a:pPr>
            <a:r>
              <a:rPr lang="en-US" sz="1200" u="sng" dirty="0">
                <a:solidFill>
                  <a:srgbClr val="0000FF"/>
                </a:solidFill>
              </a:rPr>
              <a:t>Lists</a:t>
            </a:r>
            <a:r>
              <a:rPr lang="en-US" sz="1800" dirty="0"/>
              <a:t> </a:t>
            </a:r>
            <a:r>
              <a:rPr lang="en-US" sz="1200" u="sng" dirty="0">
                <a:solidFill>
                  <a:srgbClr val="0000FF"/>
                </a:solidFill>
              </a:rPr>
              <a:t>7</a:t>
            </a:r>
            <a:endParaRPr lang="en-US" sz="1200" dirty="0"/>
          </a:p>
          <a:p>
            <a:pPr>
              <a:buNone/>
            </a:pPr>
            <a:r>
              <a:rPr lang="en-US" sz="1200" u="sng" dirty="0">
                <a:solidFill>
                  <a:srgbClr val="0000FF"/>
                </a:solidFill>
              </a:rPr>
              <a:t>Bulleted List</a:t>
            </a:r>
            <a:r>
              <a:rPr lang="en-US" sz="1800" dirty="0"/>
              <a:t> </a:t>
            </a:r>
            <a:r>
              <a:rPr lang="en-US" sz="1200" u="sng" dirty="0">
                <a:solidFill>
                  <a:srgbClr val="0000FF"/>
                </a:solidFill>
              </a:rPr>
              <a:t>8</a:t>
            </a:r>
            <a:endParaRPr lang="en-US" sz="1200" dirty="0"/>
          </a:p>
          <a:p>
            <a:pPr>
              <a:buNone/>
            </a:pPr>
            <a:r>
              <a:rPr lang="en-US" sz="1200" u="sng" dirty="0">
                <a:solidFill>
                  <a:srgbClr val="0000FF"/>
                </a:solidFill>
              </a:rPr>
              <a:t>Numbered List</a:t>
            </a:r>
            <a:r>
              <a:rPr lang="en-US" sz="1800" dirty="0"/>
              <a:t> </a:t>
            </a:r>
            <a:r>
              <a:rPr lang="en-US" sz="1200" u="sng" dirty="0">
                <a:solidFill>
                  <a:srgbClr val="0000FF"/>
                </a:solidFill>
              </a:rPr>
              <a:t>8</a:t>
            </a:r>
            <a:endParaRPr lang="en-US" sz="1200" dirty="0"/>
          </a:p>
          <a:p>
            <a:pPr>
              <a:buNone/>
            </a:pPr>
            <a:r>
              <a:rPr lang="en-US" sz="1200" u="sng" dirty="0">
                <a:solidFill>
                  <a:srgbClr val="0000FF"/>
                </a:solidFill>
              </a:rPr>
              <a:t>Multi-level Lists</a:t>
            </a:r>
            <a:r>
              <a:rPr lang="en-US" sz="1800" dirty="0"/>
              <a:t> </a:t>
            </a:r>
            <a:r>
              <a:rPr lang="en-US" sz="1200" u="sng" dirty="0">
                <a:solidFill>
                  <a:srgbClr val="0000FF"/>
                </a:solidFill>
              </a:rPr>
              <a:t>8</a:t>
            </a:r>
            <a:endParaRPr lang="en-US" sz="1200" dirty="0"/>
          </a:p>
          <a:p>
            <a:pPr>
              <a:buNone/>
            </a:pPr>
            <a:r>
              <a:rPr lang="en-US" sz="1100" u="sng" dirty="0">
                <a:solidFill>
                  <a:srgbClr val="0000FF"/>
                </a:solidFill>
              </a:rPr>
              <a:t>Continued Lists</a:t>
            </a:r>
            <a:r>
              <a:rPr lang="en-US" sz="1800" dirty="0"/>
              <a:t> </a:t>
            </a:r>
            <a:r>
              <a:rPr lang="en-US" sz="1100" u="sng" dirty="0">
                <a:solidFill>
                  <a:srgbClr val="0000FF"/>
                </a:solidFill>
              </a:rPr>
              <a:t>8</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a:t>
            </a:r>
            <a:r>
              <a:rPr lang="en-US" sz="1200" dirty="0">
                <a:latin typeface="Ubuntu"/>
              </a:rPr>
              <a:t>ebooks</a:t>
            </a:r>
            <a:r>
              <a:rPr lang="en-US" sz="1800" dirty="0"/>
              <a:t> </a:t>
            </a:r>
            <a:r>
              <a:rPr lang="en-US" sz="1200" dirty="0">
                <a:latin typeface="Ubuntu"/>
              </a:rPr>
              <a:t>, so the conversion will usually end up placing the image either centered or floating close to the point in the text where it was </a:t>
            </a:r>
            <a:r>
              <a:rPr lang="en-US" sz="1200" i="1" dirty="0">
                <a:solidFill>
                  <a:srgbClr val="808080"/>
                </a:solidFill>
                <a:latin typeface="Ubuntu"/>
              </a:rPr>
              <a:t>inserted</a:t>
            </a:r>
            <a:r>
              <a:rPr lang="en-US" sz="1800" dirty="0"/>
              <a:t> </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t> </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	</a:t>
            </a:r>
            <a:r>
              <a:rPr lang="en-US" sz="1800" dirty="0"/>
              <a:t>Two</a:t>
            </a:r>
            <a:endParaRPr lang="en-US" sz="1800" dirty="0"/>
          </a:p>
          <a:p>
            <a:pPr marL="685800" indent="-177800" lvl="2">
              <a:buNone/>
            </a:pPr>
            <a:r>
              <a:rPr lang="en-US" sz="1800" dirty="0"/>
              <a:t>1.	</a:t>
            </a:r>
            <a:r>
              <a:rPr lang="en-US" sz="1800" dirty="0"/>
              <a:t>Three</a:t>
            </a:r>
            <a:endParaRPr lang="en-US" sz="1800" dirty="0"/>
          </a:p>
          <a:p>
            <a:pPr marL="685800" indent="-177800" lvl="2">
              <a:buNone/>
            </a:pPr>
            <a:r>
              <a:rPr lang="en-US" sz="1800" dirty="0"/>
              <a:t>2.	</a:t>
            </a:r>
            <a:r>
              <a:rPr lang="en-US" sz="1800" dirty="0"/>
              <a:t>Four with a very long line to demonstrate that the hanging indent for the list is working correctly.</a:t>
            </a:r>
            <a:endParaRPr lang="en-US" sz="1800" dirty="0"/>
          </a:p>
          <a:p>
            <a:pPr marL="685800" indent="-177800" lvl="2">
              <a:buNone/>
            </a:pPr>
            <a:r>
              <a:rPr lang="en-US" sz="1800" dirty="0"/>
              <a:t>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t> </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228600" indent="-177800">
              <a:buNone/>
            </a:pPr>
            <a:r>
              <a:rPr lang="en-US" sz="1800" dirty="0"/>
              <a:t>2.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3.	</a:t>
            </a:r>
            <a:r>
              <a:rPr lang="en-US" sz="1800" dirty="0"/>
              <a:t>We now resume our normal programming</a:t>
            </a:r>
            <a:endParaRPr lang="en-US" sz="1800" dirty="0"/>
          </a:p>
          <a:p>
            <a:pPr marL="228600" indent="-177800">
              <a:buNone/>
            </a:pPr>
            <a:r>
              <a:rPr lang="en-US" sz="1800" dirty="0"/>
              <a:t>4.	</a:t>
            </a:r>
            <a:r>
              <a:rPr lang="en-US" sz="1800" dirty="0"/>
              <a:t>Four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lastModifiedBy>Harsh Ankur</cp:lastModifiedBy>
  <dcterms:created xsi:type="dcterms:W3CDTF">2013-06-05T07:56:00Z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