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theme" Target="theme/theme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114800"/>
                <a:gridCol w="4114800"/>
              </a:tblGrid>
              <a:tr h="334818">
                <a:tc>
                  <a:txBody>
                    <a:bodyPr/>
                    <a:lstStyle/>
                    <a:p>
                      <a:pPr>
                        <a:buNone/>
                      </a:pPr>
                      <a:r>
                        <a:rPr lang="en-US" sz="2600" dirty="0">
                          <a:solidFill>
                            <a:srgbClr val="17365D"/>
                          </a:solidFill>
                          <a:latin typeface="Ubuntu"/>
                        </a:rPr>
                        <a:t>Demonstration of DOCX support in calibre </a:t>
                      </a:r>
                      <a:endParaRPr lang="en-US" sz="26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This document demonstrates the ability of the </a:t>
                      </a:r>
                      <a:r>
                        <a:rPr lang="en-US" sz="1200" dirty="0">
                          <a:solidFill>
                            <a:srgbClr val="000000"/>
                          </a:solidFill>
                          <a:latin typeface="Ubuntu"/>
                        </a:rPr>
                        <a:t>calibre</a:t>
                      </a:r>
                      <a:r>
                        <a:rPr lang="en-US" sz="1200" dirty="0">
                          <a:latin typeface="Ubuntu"/>
                        </a:rPr>
                        <a:t> DOCX Input plugin to convert the various typographic features in a Microsoft Word (2007 and newer) document. Convert this document to a modern ebook format, such as AZW3 for Kindles or EPUB for other ebook readers, to see it in action.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There is support for images, tables, lists, footnotes, endnotes, links, dropcaps and various types of text and paragraph level formatting.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To see the DOCX conversion in action, simply add this file to calibre using the </a:t>
                      </a:r>
                      <a:r>
                        <a:rPr lang="en-US" sz="1200" b="1" dirty="0">
                          <a:latin typeface="Ubuntu"/>
                        </a:rPr>
                        <a:t>“Add Books” </a:t>
                      </a:r>
                      <a:r>
                        <a:rPr lang="en-US" sz="1200" dirty="0">
                          <a:latin typeface="Ubuntu"/>
                        </a:rPr>
                        <a:t>button and then click “</a:t>
                      </a:r>
                      <a:r>
                        <a:rPr lang="en-US" sz="1200" b="1" dirty="0">
                          <a:latin typeface="Ubuntu"/>
                        </a:rPr>
                        <a:t>Convert”. </a:t>
                      </a:r>
                      <a:r>
                        <a:rPr lang="en-US" sz="1200" dirty="0">
                          <a:latin typeface="Ubuntu"/>
                        </a:rPr>
                        <a:t> Set the output format in the top right corner of the conversion dialog to EPUB or AZW3 and click </a:t>
                      </a:r>
                      <a:r>
                        <a:rPr lang="en-US" sz="1200" b="1" dirty="0">
                          <a:latin typeface="Ubuntu"/>
                        </a:rPr>
                        <a:t>“OK”</a:t>
                      </a: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One,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Three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Four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Five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114800"/>
                <a:gridCol w="4114800"/>
              </a:tblGrid>
              <a:tr h="613833">
                <a:tc>
                  <a:txBody>
                    <a:bodyPr/>
                    <a:lstStyle/>
                    <a:p>
                      <a:pPr>
                        <a:buNone/>
                      </a:pPr>
                      <a:r>
                        <a:rPr lang="en-US" sz="2600" dirty="0">
                          <a:solidFill>
                            <a:srgbClr val="17365D"/>
                          </a:solidFill>
                          <a:latin typeface="Ubuntu"/>
                        </a:rPr>
                        <a:t>Demonstration of DOCX support in calibre </a:t>
                      </a:r>
                      <a:endParaRPr lang="en-US" sz="26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Six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We now resume our normal programming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Sheet2</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8229600"/>
              </a:tblGrid>
              <a:tr h="334818">
                <a:tc>
                  <a:txBody>
                    <a:bodyPr/>
                    <a:lstStyle/>
                    <a:p>
                      <a:pPr>
                        <a:buNone/>
                      </a:pPr>
                      <a:r>
                        <a:rPr lang="en-US" sz="1400" b="1" dirty="0">
                          <a:solidFill>
                            <a:srgbClr val="365F91"/>
                          </a:solidFill>
                          <a:latin typeface="Ubuntu"/>
                        </a:rPr>
                        <a:t>Text Formatting </a:t>
                      </a:r>
                      <a:endParaRPr lang="en-US" sz="14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300" b="1" dirty="0">
                          <a:solidFill>
                            <a:srgbClr val="4F81BD"/>
                          </a:solidFill>
                          <a:latin typeface="Ubuntu"/>
                        </a:rPr>
                        <a:t>Inline formatting </a:t>
                      </a:r>
                      <a:endParaRPr lang="en-US" sz="13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Here, we demonstrate various types of inline text formatting and the use of embedded fonts.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Here is some </a:t>
                      </a:r>
                      <a:r>
                        <a:rPr lang="en-US" sz="1200" b="1" dirty="0">
                          <a:solidFill>
                            <a:srgbClr val="000000"/>
                          </a:solidFill>
                          <a:latin typeface="Ubuntu"/>
                        </a:rPr>
                        <a:t>bold, </a:t>
                      </a:r>
                      <a:r>
                        <a:rPr lang="en-US" sz="1200" i="1" dirty="0">
                          <a:solidFill>
                            <a:srgbClr val="000000"/>
                          </a:solidFill>
                          <a:latin typeface="Ubuntu"/>
                        </a:rPr>
                        <a:t>italic, </a:t>
                      </a:r>
                      <a:r>
                        <a:rPr lang="en-US" sz="1200" b="1" i="1" dirty="0">
                          <a:solidFill>
                            <a:srgbClr val="000000"/>
                          </a:solidFill>
                          <a:latin typeface="Ubuntu"/>
                        </a:rPr>
                        <a:t>bold-italic, </a:t>
                      </a:r>
                      <a:r>
                        <a:rPr lang="en-US" sz="1200" u="sng" dirty="0">
                          <a:solidFill>
                            <a:srgbClr val="000000"/>
                          </a:solidFill>
                          <a:latin typeface="Ubuntu"/>
                        </a:rPr>
                        <a:t>underlined </a:t>
                      </a:r>
                      <a:r>
                        <a:rPr lang="en-US" sz="1200" dirty="0">
                          <a:solidFill>
                            <a:srgbClr val="000000"/>
                          </a:solidFill>
                          <a:latin typeface="Ubuntu"/>
                        </a:rPr>
                        <a:t>and </a:t>
                      </a:r>
                      <a:r>
                        <a:rPr lang="en-US" sz="1200" strike="sngStrike" dirty="0">
                          <a:solidFill>
                            <a:srgbClr val="000000"/>
                          </a:solidFill>
                          <a:latin typeface="Ubuntu"/>
                        </a:rPr>
                        <a:t>struck out </a:t>
                      </a:r>
                      <a:r>
                        <a:rPr lang="en-US" sz="1200" dirty="0">
                          <a:solidFill>
                            <a:srgbClr val="000000"/>
                          </a:solidFill>
                          <a:latin typeface="Ubuntu"/>
                        </a:rPr>
                        <a:t> text. Then, we have a super</a:t>
                      </a:r>
                      <a:r>
                        <a:rPr lang="en-US" sz="950" baseline="30000" dirty="0">
                          <a:solidFill>
                            <a:srgbClr val="000000"/>
                          </a:solidFill>
                          <a:latin typeface="Ubuntu"/>
                        </a:rPr>
                        <a:t>script</a:t>
                      </a:r>
                      <a:r>
                        <a:rPr lang="en-US" sz="1200" dirty="0">
                          <a:solidFill>
                            <a:srgbClr val="000000"/>
                          </a:solidFill>
                          <a:latin typeface="Ubuntu"/>
                        </a:rPr>
                        <a:t> and a sub</a:t>
                      </a:r>
                      <a:r>
                        <a:rPr lang="en-US" sz="950" baseline="-25000" dirty="0">
                          <a:solidFill>
                            <a:srgbClr val="000000"/>
                          </a:solidFill>
                          <a:latin typeface="Ubuntu"/>
                        </a:rPr>
                        <a:t>script</a:t>
                      </a:r>
                      <a:r>
                        <a:rPr lang="en-US" sz="1200" dirty="0">
                          <a:solidFill>
                            <a:srgbClr val="000000"/>
                          </a:solidFill>
                          <a:latin typeface="Ubuntu"/>
                        </a:rPr>
                        <a:t>. Now we see some </a:t>
                      </a:r>
                      <a:r>
                        <a:rPr lang="en-US" sz="1200" dirty="0">
                          <a:solidFill>
                            <a:srgbClr val="FF0000"/>
                          </a:solidFill>
                          <a:latin typeface="Ubuntu"/>
                        </a:rPr>
                        <a:t>red</a:t>
                      </a:r>
                      <a:r>
                        <a:rPr lang="en-US" sz="1200" dirty="0">
                          <a:solidFill>
                            <a:srgbClr val="000000"/>
                          </a:solidFill>
                          <a:latin typeface="Ubuntu"/>
                        </a:rPr>
                        <a:t>, </a:t>
                      </a:r>
                      <a:r>
                        <a:rPr lang="en-US" sz="1200" dirty="0">
                          <a:solidFill>
                            <a:srgbClr val="92D050"/>
                          </a:solidFill>
                          <a:latin typeface="Ubuntu"/>
                        </a:rPr>
                        <a:t>green</a:t>
                      </a:r>
                      <a:r>
                        <a:rPr lang="en-US" sz="1200" dirty="0">
                          <a:solidFill>
                            <a:srgbClr val="000000"/>
                          </a:solidFill>
                          <a:latin typeface="Ubuntu"/>
                        </a:rPr>
                        <a:t> and </a:t>
                      </a:r>
                      <a:r>
                        <a:rPr lang="en-US" sz="1200" dirty="0">
                          <a:solidFill>
                            <a:srgbClr val="0070C0"/>
                          </a:solidFill>
                          <a:latin typeface="Ubuntu"/>
                        </a:rPr>
                        <a:t>blue</a:t>
                      </a:r>
                      <a:r>
                        <a:rPr lang="en-US" sz="1200" dirty="0">
                          <a:solidFill>
                            <a:srgbClr val="000000"/>
                          </a:solidFill>
                          <a:latin typeface="Ubuntu"/>
                        </a:rPr>
                        <a:t> text. Some text with a yellow highlight. Some text in a box. Some text in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FFFFFF"/>
                          </a:solidFill>
                          <a:latin typeface="Ubuntu"/>
                        </a:rPr>
                        <a:t>inverse video</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A paragraph with styled text: </a:t>
                      </a:r>
                      <a:r>
                        <a:rPr lang="en-US" sz="1200" i="1" dirty="0">
                          <a:solidFill>
                            <a:srgbClr val="808080"/>
                          </a:solidFill>
                          <a:latin typeface="Ubuntu"/>
                        </a:rPr>
                        <a:t>subtle emphasis  </a:t>
                      </a:r>
                      <a:r>
                        <a:rPr lang="en-US" sz="1200" dirty="0">
                          <a:latin typeface="Ubuntu"/>
                        </a:rPr>
                        <a:t>followed by </a:t>
                      </a:r>
                      <a:r>
                        <a:rPr lang="en-US" sz="1200" b="1" dirty="0">
                          <a:latin typeface="Ubuntu"/>
                        </a:rPr>
                        <a:t>strong text </a:t>
                      </a:r>
                      <a:r>
                        <a:rPr lang="en-US" sz="1200" dirty="0">
                          <a:latin typeface="Ubuntu"/>
                        </a:rPr>
                        <a:t>and </a:t>
                      </a:r>
                      <a:r>
                        <a:rPr lang="en-US" sz="1200" b="1" i="1" dirty="0">
                          <a:solidFill>
                            <a:srgbClr val="4F81BD"/>
                          </a:solidFill>
                          <a:latin typeface="Ubuntu"/>
                        </a:rPr>
                        <a:t>intense emphasis</a:t>
                      </a:r>
                      <a:r>
                        <a:rPr lang="en-US" sz="1200" dirty="0">
                          <a:latin typeface="Ubuntu"/>
                        </a:rPr>
                        <a:t>. This paragraph uses document wide styles for styling rather than inline text properties as demonstrated in the previous paragraph — calibre can handle both with equal ease.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300" b="1" dirty="0">
                          <a:solidFill>
                            <a:srgbClr val="4F81BD"/>
                          </a:solidFill>
                          <a:latin typeface="Ubuntu"/>
                        </a:rPr>
                        <a:t>Fun with fonts </a:t>
                      </a:r>
                      <a:endParaRPr lang="en-US" sz="13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This document has embedded the Ubuntu font family. The body text is in the Ubuntu typeface, here is </a:t>
                      </a:r>
                      <a:r>
                        <a:rPr lang="en-US" sz="1200" dirty="0">
                          <a:latin typeface="Ubuntu Mono"/>
                        </a:rPr>
                        <a:t>some text in the Ubuntu Mono typeface, notice how every letter has the same width, even i and m</a:t>
                      </a:r>
                      <a:r>
                        <a:rPr lang="en-US" sz="1200" dirty="0">
                          <a:latin typeface="Ubuntu"/>
                        </a:rPr>
                        <a:t>. Every embedded font will automatically be embedded in the output ebook during conversion.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300" b="1" dirty="0">
                          <a:solidFill>
                            <a:srgbClr val="4F81BD"/>
                          </a:solidFill>
                          <a:latin typeface="Ubuntu"/>
                        </a:rPr>
                        <a:t>Paragraph level formatting </a:t>
                      </a:r>
                      <a:endParaRPr lang="en-US" sz="13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You can do crazy things with paragraphs, if the urge strikes you. For instance this paragraph is right aligned and has a right border. It has also been given a light gray background.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Sheet2</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8229600"/>
              </a:tblGrid>
              <a:tr h="1841500">
                <a:tc>
                  <a:txBody>
                    <a:bodyPr/>
                    <a:lstStyle/>
                    <a:p>
                      <a:pPr>
                        <a:buNone/>
                      </a:pPr>
                      <a:r>
                        <a:rPr lang="en-US" sz="1400" b="1" dirty="0">
                          <a:solidFill>
                            <a:srgbClr val="365F91"/>
                          </a:solidFill>
                          <a:latin typeface="Ubuntu"/>
                        </a:rPr>
                        <a:t>Text Formatting </a:t>
                      </a:r>
                      <a:endParaRPr lang="en-US" sz="1400" dirty="0"/>
                    </a:p>
                  </a:txBody>
                  <a:tcPr>
                    <a:lnL w="9525">
                      <a:solidFill>
                        <a:srgbClr val="BFBFBF"/>
                      </a:solidFill>
                    </a:lnL>
                    <a:lnR w="9525">
                      <a:solidFill>
                        <a:srgbClr val="BFBFBF"/>
                      </a:solidFill>
                    </a:lnR>
                    <a:lnT w="9525">
                      <a:solidFill>
                        <a:srgbClr val="BFBFBF"/>
                      </a:solidFill>
                    </a:lnT>
                    <a:lnB w="9525">
                      <a:solidFill>
                        <a:srgbClr val="BFBFBF"/>
                      </a:solidFill>
                    </a:lnB>
                  </a:tcPr>
                </a:tc>
              </a:tr>
              <a:tr h="1841500">
                <a:tc>
                  <a:txBody>
                    <a:bodyPr/>
                    <a:lstStyle/>
                    <a:p>
                      <a:pPr>
                        <a:buNone/>
                      </a:pPr>
                      <a:r>
                        <a:rPr lang="en-US" sz="1200" dirty="0">
                          <a:solidFill>
                            <a:srgbClr val="000000"/>
                          </a:solidFill>
                          <a:latin typeface="Ubuntu"/>
                        </a:rPr>
                        <a:t>For the lovers of poetry amongst you, paragraphs with hanging indents, like this often
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Sheet3</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064000"/>
                <a:gridCol w="914400"/>
                <a:gridCol w="812800"/>
                <a:gridCol w="812800"/>
                <a:gridCol w="812800"/>
                <a:gridCol w="812800"/>
              </a:tblGrid>
              <a:tr h="334818">
                <a:tc>
                  <a:txBody>
                    <a:bodyPr/>
                    <a:lstStyle/>
                    <a:p>
                      <a:pPr>
                        <a:buNone/>
                      </a:pPr>
                      <a:r>
                        <a:rPr lang="en-US" sz="1400" b="1" dirty="0">
                          <a:solidFill>
                            <a:srgbClr val="365F91"/>
                          </a:solidFill>
                          <a:latin typeface="Ubuntu"/>
                        </a:rPr>
                        <a:t>Tables </a:t>
                      </a:r>
                      <a:endParaRPr lang="en-US" sz="14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b="1" dirty="0">
                          <a:solidFill>
                            <a:srgbClr val="FFFFFF"/>
                          </a:solidFill>
                          <a:latin typeface="Ubuntu"/>
                        </a:rPr>
                        <a:t>ITEM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b="1" dirty="0">
                          <a:solidFill>
                            <a:srgbClr val="FFFFFF"/>
                          </a:solidFill>
                          <a:latin typeface="Ubuntu"/>
                        </a:rPr>
                        <a:t>NEEDED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Books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Pens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Pencils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Highlighter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2 colors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Scissors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1 pair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Tables in Word can vary from the extremely simple to the extremely complex. calibre tries to do its best when converting tables. While you may run into trouble with the occasional table, the vast majority of common cases should be converted very well, as demonstrated in this section. Note that for optimum results, when creating tables in Word, you should set their widths using percentages, rather than absolute units.  To the left of this paragraph is a floating two column table with a nice green border and header row.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Now let’s look at a fancier table—one with alternating row colors and partial borders. This table is stretched out to take 100% of the available width.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100" dirty="0">
                          <a:latin typeface="Ubuntu"/>
                        </a:rPr>
                        <a:t>City or Town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Point A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Point B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Point C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Point D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Point E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Point A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Sheet3</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064000"/>
                <a:gridCol w="914400"/>
                <a:gridCol w="812800"/>
                <a:gridCol w="812800"/>
                <a:gridCol w="812800"/>
                <a:gridCol w="812800"/>
              </a:tblGrid>
              <a:tr h="736600">
                <a:tc>
                  <a:txBody>
                    <a:bodyPr/>
                    <a:lstStyle/>
                    <a:p>
                      <a:pPr>
                        <a:buNone/>
                      </a:pPr>
                      <a:r>
                        <a:rPr lang="en-US" sz="1400" b="1" dirty="0">
                          <a:solidFill>
                            <a:srgbClr val="365F91"/>
                          </a:solidFill>
                          <a:latin typeface="Ubuntu"/>
                        </a:rPr>
                        <a:t>Tables </a:t>
                      </a:r>
                      <a:endParaRPr lang="en-US" sz="14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latin typeface="Ubuntu"/>
                        </a:rPr>
                        <a:t>Point B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87 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latin typeface="Ubuntu"/>
                        </a:rPr>
                        <a:t>Point C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64 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56 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latin typeface="Ubuntu"/>
                        </a:rPr>
                        <a:t>Point 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37 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32 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91 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latin typeface="Ubuntu"/>
                        </a:rPr>
                        <a:t>Point 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93 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35 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54 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43 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Sheet4</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3259248"/>
                <a:gridCol w="1140737"/>
                <a:gridCol w="3259248"/>
                <a:gridCol w="570368"/>
              </a:tblGrid>
              <a:tr h="334818">
                <a:tc>
                  <a:txBody>
                    <a:bodyPr/>
                    <a:lstStyle/>
                    <a:p>
                      <a:pPr>
                        <a:buNone/>
                      </a:pPr>
                      <a:r>
                        <a:rPr lang="en-US" sz="1200" dirty="0">
                          <a:solidFill>
                            <a:srgbClr val="000000"/>
                          </a:solidFill>
                          <a:latin typeface="Ubuntu"/>
                        </a:rPr>
                        <a:t>Next, we see a table with special formatting in various locations. Notice how the formatting for the header row and sub header rows is preserved.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b="1" dirty="0">
                          <a:solidFill>
                            <a:srgbClr val="FFFFFF"/>
                          </a:solidFill>
                          <a:latin typeface="Ubuntu"/>
                        </a:rPr>
                        <a:t>College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b="1" dirty="0">
                          <a:solidFill>
                            <a:srgbClr val="FFFFFF"/>
                          </a:solidFill>
                          <a:latin typeface="Ubuntu"/>
                        </a:rPr>
                        <a:t>New students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b="1" dirty="0">
                          <a:solidFill>
                            <a:srgbClr val="FFFFFF"/>
                          </a:solidFill>
                          <a:latin typeface="Ubuntu"/>
                        </a:rPr>
                        <a:t>Graduating students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b="1" dirty="0">
                          <a:solidFill>
                            <a:srgbClr val="FFFFFF"/>
                          </a:solidFill>
                          <a:latin typeface="Ubuntu"/>
                        </a:rPr>
                        <a:t>Change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Undergraduate</a:t>
                      </a:r>
                      <a:r>
                        <a:rPr lang="en-US" sz="1200" dirty="0">
                          <a:solidFill>
                            <a:srgbClr val="808080"/>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Cedar University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110 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103 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+7 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Oak Institute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202 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210 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-8 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Graduate</a:t>
                      </a:r>
                      <a:r>
                        <a:rPr lang="en-US" sz="1200" dirty="0">
                          <a:solidFill>
                            <a:srgbClr val="808080"/>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Cedar University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24 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+4 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Elm College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43 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53 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Total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998 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908 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90 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000" dirty="0">
                          <a:latin typeface="Ubuntu"/>
                        </a:rPr>
                        <a:t>Source:</a:t>
                      </a:r>
                      <a:r>
                        <a:rPr lang="en-US" sz="1000" dirty="0">
                          <a:solidFill>
                            <a:srgbClr val="000000"/>
                          </a:solidFill>
                          <a:latin typeface="Ubuntu"/>
                        </a:rPr>
                        <a:t> Fictitious data, for illustration purposes only </a:t>
                      </a:r>
                      <a:endParaRPr lang="en-US" sz="10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Next, we have something a little more complex, a nested table, i.e. a table inside another table. Additionally, the inner table has some of its cells merged. The table is displayed horizontally centered.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Sheet4</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3259248"/>
                <a:gridCol w="1140737"/>
                <a:gridCol w="3259248"/>
                <a:gridCol w="570368"/>
              </a:tblGrid>
              <a:tr h="736600">
                <a:tc>
                  <a:txBody>
                    <a:bodyPr/>
                    <a:lstStyle/>
                    <a:p>
                      <a:pPr>
                        <a:buNone/>
                      </a:pPr>
                      <a:r>
                        <a:rPr lang="en-US" sz="1200" dirty="0">
                          <a:solidFill>
                            <a:srgbClr val="000000"/>
                          </a:solidFill>
                          <a:latin typeface="Ubuntu"/>
                        </a:rPr>
                        <a:t>Next, we see a table with special formatting in various locations. Notice how the formatting for the header row and sub header rows is preserved.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latin typeface="Ubuntu"/>
                        </a:rPr>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To the left is a table inside a table, with some cells merged.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latin typeface="Ubuntu"/>
                        </a:rPr>
                        <a:t>Three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Sheet5</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3578087"/>
                <a:gridCol w="357809"/>
                <a:gridCol w="357809"/>
                <a:gridCol w="357809"/>
                <a:gridCol w="357809"/>
                <a:gridCol w="357809"/>
                <a:gridCol w="357809"/>
                <a:gridCol w="357809"/>
                <a:gridCol w="357809"/>
                <a:gridCol w="357809"/>
                <a:gridCol w="357809"/>
                <a:gridCol w="357809"/>
                <a:gridCol w="357809"/>
                <a:gridCol w="357809"/>
              </a:tblGrid>
              <a:tr h="334818">
                <a:tc>
                  <a:txBody>
                    <a:bodyPr/>
                    <a:lstStyle/>
                    <a:p>
                      <a:pPr>
                        <a:buNone/>
                      </a:pPr>
                      <a:r>
                        <a:rPr lang="en-US" sz="1200" dirty="0">
                          <a:solidFill>
                            <a:srgbClr val="000000"/>
                          </a:solidFill>
                          <a:latin typeface="Ubuntu"/>
                        </a:rPr>
                        <a:t>We end with a fancy calendar, note how much of the original formatting is preserved. Note that this table will only display correctly on relatively wide screens. In general, very wide tables or tables whose cells have fixed width requirements don’t fare well in ebooks.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gridSpan="13">
                  <a:txBody>
                    <a:bodyPr/>
                    <a:lstStyle/>
                    <a:p>
                      <a:pPr>
                        <a:buNone/>
                      </a:pPr>
                      <a:r>
                        <a:rPr lang="en-US" sz="1200" dirty="0">
                          <a:solidFill>
                            <a:srgbClr val="365F91"/>
                          </a:solidFill>
                          <a:latin typeface="Ubuntu"/>
                        </a:rPr>
                        <a:t>December 2007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365F91"/>
                          </a:solidFill>
                          <a:latin typeface="Ubuntu"/>
                        </a:rPr>
                        <a:t>Sun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Mon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Tue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Wed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Thu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Fri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Sat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365F91"/>
                          </a:solidFill>
                          <a:latin typeface="Ubuntu"/>
                        </a:rPr>
                        <a:t>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365F91"/>
                          </a:solidFill>
                          <a:latin typeface="Ubuntu"/>
                        </a:rPr>
                        <a:t>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15 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365F91"/>
                          </a:solidFill>
                          <a:latin typeface="Ubuntu"/>
                        </a:rPr>
                        <a:t>16 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22 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Sheet5</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3578087"/>
                <a:gridCol w="357809"/>
                <a:gridCol w="357809"/>
                <a:gridCol w="357809"/>
                <a:gridCol w="357809"/>
                <a:gridCol w="357809"/>
                <a:gridCol w="357809"/>
                <a:gridCol w="357809"/>
                <a:gridCol w="357809"/>
                <a:gridCol w="357809"/>
                <a:gridCol w="357809"/>
                <a:gridCol w="357809"/>
                <a:gridCol w="357809"/>
                <a:gridCol w="357809"/>
              </a:tblGrid>
              <a:tr h="920750">
                <a:tc>
                  <a:txBody>
                    <a:bodyPr/>
                    <a:lstStyle/>
                    <a:p>
                      <a:pPr>
                        <a:buNone/>
                      </a:pPr>
                      <a:r>
                        <a:rPr lang="en-US" sz="1200" dirty="0">
                          <a:solidFill>
                            <a:srgbClr val="000000"/>
                          </a:solidFill>
                          <a:latin typeface="Ubuntu"/>
                        </a:rPr>
                        <a:t>We end with a fancy calendar, note how much of the original formatting is preserved. Note that this table will only display correctly on relatively wide screens. In general, very wide tables or tables whose cells have fixed width requirements don’t fare well in ebooks.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920750">
                <a:tc>
                  <a:txBody>
                    <a:bodyPr/>
                    <a:lstStyle/>
                    <a:p>
                      <a:pPr>
                        <a:buNone/>
                      </a:pPr>
                      <a:r>
                        <a:rPr lang="en-US" sz="1200" dirty="0">
                          <a:solidFill>
                            <a:srgbClr val="365F91"/>
                          </a:solidFill>
                          <a:latin typeface="Ubuntu"/>
                        </a:rPr>
                        <a:t>23 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29 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920750">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920750">
                <a:tc>
                  <a:txBody>
                    <a:bodyPr/>
                    <a:lstStyle/>
                    <a:p>
                      <a:pPr>
                        <a:buNone/>
                      </a:pPr>
                      <a:r>
                        <a:rPr lang="en-US" sz="1200" dirty="0">
                          <a:solidFill>
                            <a:srgbClr val="365F91"/>
                          </a:solidFill>
                          <a:latin typeface="Ubuntu"/>
                        </a:rPr>
                        <a:t>30 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31 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Sheet6</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8229600"/>
              </a:tblGrid>
              <a:tr h="409222">
                <a:tc>
                  <a:txBody>
                    <a:bodyPr/>
                    <a:lstStyle/>
                    <a:p>
                      <a:pPr>
                        <a:buNone/>
                      </a:pPr>
                      <a:r>
                        <a:rPr lang="en-US" sz="1400" b="1" dirty="0">
                          <a:solidFill>
                            <a:srgbClr val="365F91"/>
                          </a:solidFill>
                          <a:latin typeface="Ubuntu"/>
                        </a:rPr>
                        <a:t>Structural Elements </a:t>
                      </a:r>
                      <a:endParaRPr lang="en-US" sz="14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latin typeface="Ubuntu"/>
                        </a:rPr>
                        <a:t>Miscellaneous structural elements you can add to your document, like footnotes, endnotes, dropcaps and the like.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300" b="1" dirty="0">
                          <a:solidFill>
                            <a:srgbClr val="4F81BD"/>
                          </a:solidFill>
                          <a:latin typeface="Ubuntu"/>
                        </a:rPr>
                        <a:t>Footnotes &amp; Endnotes </a:t>
                      </a:r>
                      <a:endParaRPr lang="en-US" sz="13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latin typeface="Ubuntu"/>
                        </a:rPr>
                        <a:t>Footnotes</a:t>
                      </a:r>
                      <a:r>
                        <a:rPr lang="en-US" sz="950" baseline="30000" dirty="0">
                          <a:latin typeface="Ubuntu"/>
                        </a:rPr>
                        <a:t>1</a:t>
                      </a:r>
                      <a:r>
                        <a:rPr lang="en-US" sz="1200" dirty="0">
                          <a:latin typeface="Ubuntu"/>
                        </a:rPr>
                        <a:t> and endnotes</a:t>
                      </a:r>
                      <a:r>
                        <a:rPr lang="en-US" sz="950" baseline="30000" dirty="0">
                          <a:latin typeface="Ubuntu"/>
                        </a:rPr>
                        <a:t>i</a:t>
                      </a:r>
                      <a:r>
                        <a:rPr lang="en-US" sz="1200" dirty="0">
                          <a:latin typeface="Ubuntu"/>
                        </a:rPr>
                        <a:t> are automatically recognized and both are converted to endnotes, with backlinks for maximum ease of use in ebook devices.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300" b="1" dirty="0">
                          <a:solidFill>
                            <a:srgbClr val="4F81BD"/>
                          </a:solidFill>
                          <a:latin typeface="Ubuntu"/>
                        </a:rPr>
                        <a:t>Dropcaps </a:t>
                      </a:r>
                      <a:endParaRPr lang="en-US" sz="13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5850" dirty="0">
                          <a:latin typeface="Ubuntu"/>
                        </a:rPr>
                        <a:t>D </a:t>
                      </a:r>
                      <a:endParaRPr lang="en-US" sz="585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latin typeface="Ubuntu"/>
                        </a:rPr>
                        <a:t>rop caps are used to emphasize the leading paragraph at the start of a section. In Word it is possible to specify how many lines of text a drop-cap should use.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300" b="1" dirty="0">
                          <a:solidFill>
                            <a:srgbClr val="4F81BD"/>
                          </a:solidFill>
                          <a:latin typeface="Ubuntu"/>
                        </a:rPr>
                        <a:t>Links </a:t>
                      </a:r>
                      <a:endParaRPr lang="en-US" sz="13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latin typeface="Ubuntu"/>
                        </a:rPr>
                        <a:t>Two kinds of links are possible, those that refer to an external website and those that refer to locations inside the document itself. Both are supported by calibre. For example, here is a link pointing to the </a:t>
                      </a:r>
                      <a:r>
                        <a:rPr lang="en-US" sz="1200" u="sng" dirty="0">
                          <a:solidFill>
                            <a:srgbClr val="0000FF"/>
                          </a:solidFill>
                          <a:latin typeface="Ubuntu"/>
                        </a:rPr>
                        <a:t>calibre download page</a:t>
                      </a:r>
                      <a:r>
                        <a:rPr lang="en-US" sz="1200" dirty="0">
                          <a:latin typeface="Ubuntu"/>
                        </a:rPr>
                        <a:t>. Then we have a link that points back to the section on </a:t>
                      </a:r>
                      <a:r>
                        <a:rPr lang="en-US" sz="1200" u="sng" dirty="0">
                          <a:solidFill>
                            <a:srgbClr val="0000FF"/>
                          </a:solidFill>
                          <a:latin typeface="Ubuntu"/>
                        </a:rPr>
                        <a:t>paragraph level formatting</a:t>
                      </a:r>
                      <a:r>
                        <a:rPr lang="en-US" sz="1200" dirty="0">
                          <a:latin typeface="Ubuntu"/>
                        </a:rPr>
                        <a:t> in this document.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Sheet7</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8229600"/>
              </a:tblGrid>
              <a:tr h="1227667">
                <a:tc>
                  <a:txBody>
                    <a:bodyPr/>
                    <a:lstStyle/>
                    <a:p>
                      <a:pPr>
                        <a:buNone/>
                      </a:pPr>
                      <a:r>
                        <a:rPr lang="en-US" sz="1400" b="1" dirty="0">
                          <a:solidFill>
                            <a:srgbClr val="365F91"/>
                          </a:solidFill>
                          <a:latin typeface="Ubuntu"/>
                        </a:rPr>
                        <a:t>Images </a:t>
                      </a:r>
                      <a:endParaRPr lang="en-US" sz="1400" dirty="0"/>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r>
                        <a:rPr lang="en-US" sz="1200" dirty="0">
                          <a:solidFill>
                            <a:srgbClr val="000000"/>
                          </a:solidFill>
                          <a:latin typeface="Ubuntu"/>
                        </a:rPr>
                        <a:t>Centered images like this are useful for large pictures that should be a focus of attention.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r>
                        <a:rPr lang="en-US" sz="1200" dirty="0">
                          <a:latin typeface="Ubuntu"/>
                        </a:rPr>
                        <a:t>There is no analogous technology in ebooks, so the conversion will usually end up placing the image either centered or floating close to the point in the text where it was </a:t>
                      </a:r>
                      <a:r>
                        <a:rPr lang="en-US" sz="1200" i="1" dirty="0">
                          <a:solidFill>
                            <a:srgbClr val="808080"/>
                          </a:solidFill>
                          <a:latin typeface="Ubuntu"/>
                        </a:rPr>
                        <a:t>inserted</a:t>
                      </a:r>
                      <a:r>
                        <a:rPr lang="en-US" sz="1200" dirty="0">
                          <a:solidFill>
                            <a:srgbClr val="000000"/>
                          </a:solidFill>
                          <a:latin typeface="Ubuntu"/>
                        </a:rPr>
                        <a:t>, not necessarily where it appears on the page in Word.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Sheet7</a:t>
            </a:r>
            <a:endParaRPr lang="en-US" sz="2800" dirty="0"/>
          </a:p>
        </p:txBody>
      </p:sp>
      <p:pic>
        <p:nvPicPr>
          <p:cNvPr id="3" name="Picture 3" descr="165 Inspirational Quotes To Keep You Motivated In Life"/>
          <p:cNvPicPr>
            <a:picLocks noChangeAspect="1"/>
          </p:cNvPicPr>
          <p:nvPr/>
        </p:nvPicPr>
        <p:blipFill>
          <a:blip r:embed="rId2"/>
          <a:stretch>
            <a:fillRect/>
          </a:stretch>
        </p:blipFill>
        <p:spPr>
          <a:xfrm>
            <a:off x="2730500" y="1143000"/>
            <a:ext cx="3683000" cy="3683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Sheet8</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114800"/>
                <a:gridCol w="4114800"/>
              </a:tblGrid>
              <a:tr h="334818">
                <a:tc>
                  <a:txBody>
                    <a:bodyPr/>
                    <a:lstStyle/>
                    <a:p>
                      <a:pPr>
                        <a:buNone/>
                      </a:pPr>
                      <a:r>
                        <a:rPr lang="en-US" sz="1400" b="1" dirty="0">
                          <a:solidFill>
                            <a:srgbClr val="365F91"/>
                          </a:solidFill>
                          <a:latin typeface="Ubuntu"/>
                        </a:rPr>
                        <a:t>Lists </a:t>
                      </a:r>
                      <a:endParaRPr lang="en-US" sz="14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All types of lists are supported by the conversion, with the exception of lists that use fancy bullets, these get converted to regular bullets.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300" b="1" dirty="0">
                          <a:solidFill>
                            <a:srgbClr val="4F81BD"/>
                          </a:solidFill>
                          <a:latin typeface="Ubuntu"/>
                        </a:rPr>
                        <a:t>Bulleted List </a:t>
                      </a:r>
                      <a:endParaRPr lang="en-US" sz="13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300" b="1" dirty="0">
                          <a:solidFill>
                            <a:srgbClr val="4F81BD"/>
                          </a:solidFill>
                          <a:latin typeface="Ubuntu"/>
                        </a:rPr>
                        <a:t>Numbered List </a:t>
                      </a:r>
                      <a:endParaRPr lang="en-US" sz="13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One,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300" b="1" dirty="0">
                          <a:solidFill>
                            <a:srgbClr val="4F81BD"/>
                          </a:solidFill>
                          <a:latin typeface="Ubuntu"/>
                        </a:rPr>
                        <a:t>Multi-level Lists </a:t>
                      </a:r>
                      <a:endParaRPr lang="en-US" sz="13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Sheet8</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114800"/>
                <a:gridCol w="4114800"/>
              </a:tblGrid>
              <a:tr h="334818">
                <a:tc>
                  <a:txBody>
                    <a:bodyPr/>
                    <a:lstStyle/>
                    <a:p>
                      <a:pPr>
                        <a:buNone/>
                      </a:pPr>
                      <a:r>
                        <a:rPr lang="en-US" sz="1400" b="1" dirty="0">
                          <a:solidFill>
                            <a:srgbClr val="365F91"/>
                          </a:solidFill>
                          <a:latin typeface="Ubuntu"/>
                        </a:rPr>
                        <a:t>Lists </a:t>
                      </a:r>
                      <a:endParaRPr lang="en-US" sz="14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Three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Four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Five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Six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A Multi-level list with bullets: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This bullet uses an image as the bullet item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latin typeface="Ubuntu"/>
                        </a:rPr>
                        <a:t>Five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Sheet8</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114800"/>
                <a:gridCol w="4114800"/>
              </a:tblGrid>
              <a:tr h="526143">
                <a:tc>
                  <a:txBody>
                    <a:bodyPr/>
                    <a:lstStyle/>
                    <a:p>
                      <a:pPr>
                        <a:buNone/>
                      </a:pPr>
                      <a:r>
                        <a:rPr lang="en-US" sz="1400" b="1" dirty="0">
                          <a:solidFill>
                            <a:srgbClr val="365F91"/>
                          </a:solidFill>
                          <a:latin typeface="Ubuntu"/>
                        </a:rPr>
                        <a:t>Lists </a:t>
                      </a:r>
                      <a:endParaRPr lang="en-US" sz="14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300" b="1" dirty="0">
                          <a:solidFill>
                            <a:srgbClr val="4F81BD"/>
                          </a:solidFill>
                          <a:latin typeface="Ubuntu"/>
                        </a:rPr>
                        <a:t>Continued Lists </a:t>
                      </a:r>
                      <a:endParaRPr lang="en-US" sz="13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200" dirty="0">
                          <a:solidFill>
                            <a:srgbClr val="000000"/>
                          </a:solidFill>
                          <a:latin typeface="Ubuntu"/>
                        </a:rPr>
                        <a:t>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200" dirty="0">
                          <a:solidFill>
                            <a:srgbClr val="000000"/>
                          </a:solidFill>
                          <a:latin typeface="Ubuntu"/>
                        </a:rPr>
                        <a:t>ii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200" dirty="0">
                          <a:latin typeface="Ubuntu"/>
                        </a:rPr>
                        <a:t>An interruption in our regularly scheduled listing, for this essential and very relevant public service announcement.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200" dirty="0">
                          <a:solidFill>
                            <a:srgbClr val="000000"/>
                          </a:solidFill>
                          <a:latin typeface="Ubuntu"/>
                        </a:rPr>
                        <a:t>iii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We now resume our normal programming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200" dirty="0">
                          <a:solidFill>
                            <a:srgbClr val="000000"/>
                          </a:solidFill>
                          <a:latin typeface="Ubuntu"/>
                        </a:rPr>
                        <a:t>iv</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Chart Sheet</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914400"/>
                <a:gridCol w="609600"/>
                <a:gridCol w="1524000"/>
                <a:gridCol w="1219200"/>
                <a:gridCol w="2743200"/>
                <a:gridCol w="1219200"/>
              </a:tblGrid>
              <a:tr h="613833">
                <a:tc>
                  <a:txBody>
                    <a:bodyPr/>
                    <a:lstStyle/>
                    <a:p>
                      <a:pPr>
                        <a:buNone/>
                      </a:pPr>
                      <a:r>
                        <a:rPr lang="en-US" sz="1400" b="1" dirty="0">
                          <a:solidFill>
                            <a:srgbClr val="365F91"/>
                          </a:solidFill>
                          <a:latin typeface="Ubuntu"/>
                        </a:rPr>
                        <a:t>Charts</a:t>
                      </a:r>
                      <a:endParaRPr lang="en-US" sz="14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Series 1</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Series 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Series 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Category 1</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4.3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2.4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Category 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2.5</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4.4000000000000004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Category 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3.5</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1.8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Category 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4.5</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2.8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solidFill>
                            <a:srgbClr val="000000"/>
                          </a:solidFill>
                          <a:latin typeface="Aptos Narrow"/>
                        </a:rPr>
                        <a:t>5</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Chart Sheet</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870364"/>
                <a:gridCol w="1496291"/>
                <a:gridCol w="3366655"/>
                <a:gridCol w="1496291"/>
              </a:tblGrid>
              <a:tr h="613833">
                <a:tc gridSpan="4">
                  <a:txBody>
                    <a:bodyPr/>
                    <a:lstStyle/>
                    <a:p>
                      <a:pPr>
                        <a:buNone/>
                      </a:pPr>
                      <a:r>
                        <a:rPr lang="en-US" sz="1200" b="1" dirty="0"/>
                        <a:t>Chart Title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Category 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Category 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4.4000000000000004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Category 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Category 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18</Slides>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2025-11-28T15:36:44Z</dcterms:created>
  <dcterms:modified xsi:type="dcterms:W3CDTF">2024-01-01T00:00:00Z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stString">
    <vt:lpwstr>Hello from custom props</vt:lpwstr>
  </property>
  <property fmtid="{D5CDD505-2E9C-101B-9397-08002B2CF9AE}" pid="3" name="TestNumber">
    <vt:r8>42</vt:r8>
  </property>
  <property fmtid="{D5CDD505-2E9C-101B-9397-08002B2CF9AE}" pid="4" name="TestBool">
    <vt:bool>true</vt:bool>
  </property>
</Properties>
</file>