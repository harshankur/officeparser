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theme" Target="theme/theme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calibre-ebook.com/downloa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457200" y="279400"/>
            <a:ext cx="8229600" cy="4546600"/>
          </a:xfrm>
          <a:prstGeom prst="rect">
            <a:avLst/>
          </a:prstGeom>
          <a:noFill/>
          <a:ln>
            <a:noFill/>
          </a:ln>
        </p:spPr>
        <p:txBody>
          <a:bodyPr wrap="square" anchor="t" rtlCol="0">
            <a:normAutofit/>
          </a:bodyPr>
          <a:lstStyle/>
          <a:p>
            <a:pPr>
              <a:buNone/>
            </a:pPr>
            <a:r>
              <a:rPr lang="en-US" sz="2600" dirty="0">
                <a:solidFill>
                  <a:srgbClr val="17365D"/>
                </a:solidFill>
                <a:latin typeface="Ubuntu"/>
              </a:rPr>
              <a:t>Demonstration of DOCX support in calibre</a:t>
            </a:r>
            <a:endParaRPr lang="en-US" sz="2600" dirty="0"/>
          </a:p>
          <a:p>
            <a:pPr>
              <a:buNone/>
            </a:pPr>
            <a:r>
              <a:rPr lang="en-US" sz="1200" dirty="0">
                <a:latin typeface="Ubuntu"/>
              </a:rPr>
              <a:t>This document demonstrates the ability of the calibre DOCX Input plugin to convert the various typographic features in a Microsoft Word (2007 and newer) document. Convert this document to a modern ebook format, such as AZW3 for Kindles or EPUB for other ebook readers, to see it in action.</a:t>
            </a:r>
            <a:endParaRPr lang="en-US" sz="1200" dirty="0"/>
          </a:p>
          <a:p>
            <a:pPr>
              <a:buNone/>
            </a:pPr>
            <a:r>
              <a:rPr lang="en-US" sz="1200" dirty="0">
                <a:latin typeface="Ubuntu"/>
              </a:rPr>
              <a:t>There is support for images, tables, lists, footnotes, endnotes, links, dropcaps and various types of text and paragraph level formatting.</a:t>
            </a:r>
            <a:endParaRPr lang="en-US" sz="1200" dirty="0"/>
          </a:p>
          <a:p>
            <a:pPr>
              <a:buNone/>
            </a:pPr>
            <a:r>
              <a:rPr lang="en-US" sz="1200" dirty="0">
                <a:latin typeface="Ubuntu"/>
              </a:rPr>
              <a:t>To see the DOCX conversion in action, simply add this file to calibre using the </a:t>
            </a:r>
            <a:r>
              <a:rPr lang="en-US" sz="1200" b="1" dirty="0">
                <a:latin typeface="Ubuntu"/>
              </a:rPr>
              <a:t>“Add Books” </a:t>
            </a:r>
            <a:r>
              <a:rPr lang="en-US" sz="1200" dirty="0">
                <a:latin typeface="Ubuntu"/>
              </a:rPr>
              <a:t>button and then click “</a:t>
            </a:r>
            <a:r>
              <a:rPr lang="en-US" sz="1200" b="1" dirty="0">
                <a:latin typeface="Ubuntu"/>
              </a:rPr>
              <a:t>Convert”. </a:t>
            </a:r>
            <a:r>
              <a:rPr lang="en-US" sz="1200" dirty="0">
                <a:latin typeface="Ubuntu"/>
              </a:rPr>
              <a:t> Set the output format in the top right corner of the conversion dialog to EPUB or AZW3 and click </a:t>
            </a:r>
            <a:r>
              <a:rPr lang="en-US" sz="1200" b="1" dirty="0">
                <a:latin typeface="Ubuntu"/>
              </a:rPr>
              <a:t>“OK”</a:t>
            </a:r>
            <a:r>
              <a:rPr lang="en-US" sz="1200" dirty="0">
                <a:latin typeface="Ubuntu"/>
              </a:rPr>
              <a: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Text Formatting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Inline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Here, we demonstrate various types of inline text formatting and the use of embedded fonts.</a:t>
            </a:r>
            <a:endParaRPr lang="en-US" sz="1200" dirty="0"/>
          </a:p>
          <a:p>
            <a:pPr>
              <a:buNone/>
            </a:pPr>
            <a:r>
              <a:rPr lang="en-US" sz="1200" dirty="0">
                <a:latin typeface="Ubuntu"/>
              </a:rPr>
              <a:t>Here is some </a:t>
            </a:r>
            <a:r>
              <a:rPr lang="en-US" sz="1200" b="1" dirty="0">
                <a:latin typeface="Ubuntu"/>
              </a:rPr>
              <a:t>bold, </a:t>
            </a:r>
            <a:r>
              <a:rPr lang="en-US" sz="1200" i="1" dirty="0">
                <a:latin typeface="Ubuntu"/>
              </a:rPr>
              <a:t>italic, </a:t>
            </a:r>
            <a:r>
              <a:rPr lang="en-US" sz="1200" b="1" i="1" dirty="0">
                <a:latin typeface="Ubuntu"/>
              </a:rPr>
              <a:t>bold-italic, </a:t>
            </a:r>
            <a:r>
              <a:rPr lang="en-US" sz="1200" u="sng" dirty="0">
                <a:latin typeface="Ubuntu"/>
              </a:rPr>
              <a:t>underlined </a:t>
            </a:r>
            <a:r>
              <a:rPr lang="en-US" sz="1200" dirty="0">
                <a:latin typeface="Ubuntu"/>
              </a:rPr>
              <a:t>and </a:t>
            </a:r>
            <a:r>
              <a:rPr lang="en-US" sz="1200" strike="sngStrike" dirty="0">
                <a:latin typeface="Ubuntu"/>
              </a:rPr>
              <a:t>struck out </a:t>
            </a:r>
            <a:r>
              <a:rPr lang="en-US" sz="1200" dirty="0">
                <a:latin typeface="Ubuntu"/>
              </a:rPr>
              <a:t> text. Then, we have a super</a:t>
            </a:r>
            <a:r>
              <a:rPr lang="en-US" sz="1200" baseline="30000" dirty="0">
                <a:latin typeface="Ubuntu"/>
              </a:rPr>
              <a:t>script</a:t>
            </a:r>
            <a:r>
              <a:rPr lang="en-US" sz="1200" dirty="0">
                <a:latin typeface="Ubuntu"/>
              </a:rPr>
              <a:t> and a sub</a:t>
            </a:r>
            <a:r>
              <a:rPr lang="en-US" sz="1200" baseline="-25000" dirty="0">
                <a:latin typeface="Ubuntu"/>
              </a:rPr>
              <a:t>script</a:t>
            </a:r>
            <a:r>
              <a:rPr lang="en-US" sz="1200" dirty="0">
                <a:latin typeface="Ubuntu"/>
              </a:rPr>
              <a:t>. Now we see some </a:t>
            </a:r>
            <a:r>
              <a:rPr lang="en-US" sz="1200" dirty="0">
                <a:solidFill>
                  <a:srgbClr val="FF0000"/>
                </a:solidFill>
                <a:latin typeface="Ubuntu"/>
              </a:rPr>
              <a:t>red</a:t>
            </a:r>
            <a:r>
              <a:rPr lang="en-US" sz="1200" dirty="0">
                <a:latin typeface="Ubuntu"/>
              </a:rPr>
              <a:t>, </a:t>
            </a:r>
            <a:r>
              <a:rPr lang="en-US" sz="1200" dirty="0">
                <a:solidFill>
                  <a:srgbClr val="92D050"/>
                </a:solidFill>
                <a:latin typeface="Ubuntu"/>
              </a:rPr>
              <a:t>green</a:t>
            </a:r>
            <a:r>
              <a:rPr lang="en-US" sz="1200" dirty="0">
                <a:latin typeface="Ubuntu"/>
              </a:rPr>
              <a:t> and </a:t>
            </a:r>
            <a:r>
              <a:rPr lang="en-US" sz="1200" dirty="0">
                <a:solidFill>
                  <a:srgbClr val="0070C0"/>
                </a:solidFill>
                <a:latin typeface="Ubuntu"/>
              </a:rPr>
              <a:t>blue</a:t>
            </a:r>
            <a:r>
              <a:rPr lang="en-US" sz="1200" dirty="0">
                <a:latin typeface="Ubuntu"/>
              </a:rPr>
              <a:t> text. Some text with a </a:t>
            </a:r>
            <a:r>
              <a:rPr lang="en-US" sz="1200" dirty="0">
                <a:latin typeface="Ubuntu"/>
              </a:rPr>
              <a:t>yellow highlight</a:t>
            </a:r>
            <a:r>
              <a:rPr lang="en-US" sz="1200" dirty="0">
                <a:latin typeface="Ubuntu"/>
              </a:rPr>
              <a:t>. Some text in a box. Some text in </a:t>
            </a:r>
            <a:r>
              <a:rPr lang="en-US" sz="1200" dirty="0">
                <a:solidFill>
                  <a:srgbClr val="FFFFFF"/>
                </a:solidFill>
                <a:latin typeface="Ubuntu"/>
              </a:rPr>
              <a:t>inverse video</a:t>
            </a:r>
            <a:r>
              <a:rPr lang="en-US" sz="1200" dirty="0">
                <a:latin typeface="Ubuntu"/>
              </a:rPr>
              <a:t>.</a:t>
            </a:r>
            <a:endParaRPr lang="en-US" sz="1200" dirty="0"/>
          </a:p>
          <a:p>
            <a:pPr>
              <a:buNone/>
            </a:pPr>
            <a:r>
              <a:rPr lang="en-US" sz="1200" dirty="0">
                <a:latin typeface="Ubuntu"/>
              </a:rPr>
              <a:t>A paragraph with styled text: </a:t>
            </a:r>
            <a:r>
              <a:rPr lang="en-US" sz="1200" i="1" dirty="0">
                <a:solidFill>
                  <a:srgbClr val="808080"/>
                </a:solidFill>
                <a:latin typeface="Ubuntu"/>
              </a:rPr>
              <a:t>subtle emphasis  </a:t>
            </a:r>
            <a:r>
              <a:rPr lang="en-US" sz="1200" dirty="0">
                <a:latin typeface="Ubuntu"/>
              </a:rPr>
              <a:t>followed by </a:t>
            </a:r>
            <a:r>
              <a:rPr lang="en-US" sz="1200" b="1" dirty="0">
                <a:latin typeface="Ubuntu"/>
              </a:rPr>
              <a:t>strong text </a:t>
            </a:r>
            <a:r>
              <a:rPr lang="en-US" sz="1200" dirty="0">
                <a:latin typeface="Ubuntu"/>
              </a:rPr>
              <a:t>and </a:t>
            </a:r>
            <a:r>
              <a:rPr lang="en-US" sz="1200" b="1" i="1" dirty="0">
                <a:solidFill>
                  <a:srgbClr val="4F81BD"/>
                </a:solidFill>
                <a:latin typeface="Ubuntu"/>
              </a:rPr>
              <a:t>intense emphasis</a:t>
            </a:r>
            <a:r>
              <a:rPr lang="en-US" sz="1200" dirty="0">
                <a:latin typeface="Ubuntu"/>
              </a:rPr>
              <a:t>. This paragraph uses document wide styles for styling rather than inline text properties as demonstrated in the previous paragraph — calibre can handle both with equal ease.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Fun with fonts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This document has embedded the Ubuntu font family. The body text is in the Ubuntu typeface, here is </a:t>
            </a:r>
            <a:r>
              <a:rPr lang="en-US" sz="1200" dirty="0">
                <a:latin typeface="Ubuntu Mono"/>
              </a:rPr>
              <a:t>some text in the Ubuntu Mono typeface, notice how every letter has the same width, even i and m</a:t>
            </a:r>
            <a:r>
              <a:rPr lang="en-US" sz="1200" dirty="0">
                <a:latin typeface="Ubuntu"/>
              </a:rPr>
              <a:t>. Every embedded font will automatically be embedded in the output ebook during conversion. </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Paragraph level formatting</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lgn="r">
              <a:buNone/>
            </a:pPr>
            <a:r>
              <a:rPr lang="en-US" sz="1200" dirty="0">
                <a:latin typeface="Ubuntu"/>
              </a:rPr>
              <a:t>You can do crazy things with paragraphs, if the urge strikes you. For instance this paragraph is right aligned and has a right border. It has also been given a light gray background.</a:t>
            </a:r>
            <a:endParaRPr lang="en-US" sz="1200" dirty="0"/>
          </a:p>
          <a:p>
            <a:pPr>
              <a:buNone/>
            </a:pPr>
            <a:r>
              <a:rPr lang="en-US" sz="1200" dirty="0">
                <a:latin typeface="Ubuntu"/>
              </a:rPr>
              <a:t>For the lovers of poetry amongst you, paragraphs with hanging indents, like this often 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4764505"/>
                <a:gridCol w="3465095"/>
              </a:tblGrid>
              <a:tr h="613833">
                <a:tc>
                  <a:txBody>
                    <a:bodyPr/>
                    <a:lstStyle/>
                    <a:p>
                      <a:pPr>
                        <a:buNone/>
                      </a:pPr>
                      <a:r>
                        <a:rPr lang="en-US" sz="1100" b="1" dirty="0">
                          <a:solidFill>
                            <a:srgbClr val="FFFFFF"/>
                          </a:solidFill>
                          <a:latin typeface="Ubuntu"/>
                        </a:rPr>
                        <a:t>ITEM</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b="1" dirty="0">
                          <a:solidFill>
                            <a:srgbClr val="FFFFFF"/>
                          </a:solidFill>
                          <a:latin typeface="Ubuntu"/>
                        </a:rPr>
                        <a:t>NEEDED</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100" dirty="0">
                          <a:latin typeface="Ubuntu"/>
                        </a:rPr>
                        <a:t>Books</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100" dirty="0">
                          <a:latin typeface="Ubuntu"/>
                        </a:rPr>
                        <a:t>Pens</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100" dirty="0">
                          <a:latin typeface="Ubuntu"/>
                        </a:rPr>
                        <a:t>Pencils</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100" dirty="0">
                          <a:latin typeface="Ubuntu"/>
                        </a:rPr>
                        <a:t>Highlighter</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 colors</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100" dirty="0">
                          <a:latin typeface="Ubuntu"/>
                        </a:rPr>
                        <a:t>Scissors</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 pair</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Tables in Word can vary from the extremely simple to the extremely complex. calibre tries to do its best when converting tables. While you may run into trouble with the occasional table, the vast majority of common cases should be converted very well, as demonstrated in this section. Note that for optimum results, when creating tables in Word, you should set their widths using percentages, rather than absolute units.  To the left of this paragraph is a floating two column table with a nice green border and header row.</a:t>
            </a:r>
            <a:endParaRPr lang="en-US" sz="1200" dirty="0"/>
          </a:p>
          <a:p>
            <a:pPr>
              <a:buNone/>
            </a:pPr>
            <a:r>
              <a:rPr lang="en-US" sz="1200" dirty="0">
                <a:latin typeface="Ubuntu"/>
              </a:rPr>
              <a:t>Now let’s look at a fancier table—one with alternating row colors and partial borders. This table is stretched out to take 100% of the available width.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101174"/>
                <a:gridCol w="1225685"/>
                <a:gridCol w="1225685"/>
                <a:gridCol w="1225685"/>
                <a:gridCol w="1225685"/>
                <a:gridCol w="1225685"/>
              </a:tblGrid>
              <a:tr h="613833">
                <a:tc>
                  <a:txBody>
                    <a:bodyPr/>
                    <a:lstStyle/>
                    <a:p>
                      <a:pPr>
                        <a:buNone/>
                      </a:pPr>
                      <a:r>
                        <a:rPr lang="en-US" sz="1100" dirty="0">
                          <a:solidFill>
                            <a:srgbClr val="000000"/>
                          </a:solidFill>
                          <a:latin typeface="Ubuntu"/>
                        </a:rPr>
                        <a:t>City or Town</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Point A</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Point B</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Point C</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Point D</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Point 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100" dirty="0">
                          <a:solidFill>
                            <a:srgbClr val="000000"/>
                          </a:solidFill>
                          <a:latin typeface="Ubuntu"/>
                        </a:rPr>
                        <a:t>Point A</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100" dirty="0">
                          <a:solidFill>
                            <a:srgbClr val="000000"/>
                          </a:solidFill>
                          <a:latin typeface="Ubuntu"/>
                        </a:rPr>
                        <a:t>Point B</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87</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100" dirty="0">
                          <a:solidFill>
                            <a:srgbClr val="000000"/>
                          </a:solidFill>
                          <a:latin typeface="Ubuntu"/>
                        </a:rPr>
                        <a:t>Point C</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64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56</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100" dirty="0">
                          <a:solidFill>
                            <a:srgbClr val="000000"/>
                          </a:solidFill>
                          <a:latin typeface="Ubuntu"/>
                        </a:rPr>
                        <a:t>Point D</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37</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32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91</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613833">
                <a:tc>
                  <a:txBody>
                    <a:bodyPr/>
                    <a:lstStyle/>
                    <a:p>
                      <a:pPr>
                        <a:buNone/>
                      </a:pPr>
                      <a:r>
                        <a:rPr lang="en-US" sz="1100" dirty="0">
                          <a:solidFill>
                            <a:srgbClr val="000000"/>
                          </a:solidFill>
                          <a:latin typeface="Ubuntu"/>
                        </a:rPr>
                        <a:t>Point 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93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35</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54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43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ctr">
                        <a:buNone/>
                      </a:pPr>
                      <a:r>
                        <a:rPr lang="en-US" sz="1100" dirty="0">
                          <a:solidFill>
                            <a:srgbClr val="000000"/>
                          </a:solidFill>
                          <a:latin typeface="Ubuntu"/>
                        </a:rPr>
                        <a:t>—</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Next, we see a table with special formatting in various locations. Notice how the formatting for the header row and sub header rows is preserved.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438400"/>
                <a:gridCol w="1981200"/>
                <a:gridCol w="2895600"/>
                <a:gridCol w="914400"/>
              </a:tblGrid>
              <a:tr h="460375">
                <a:tc>
                  <a:txBody>
                    <a:bodyPr/>
                    <a:lstStyle/>
                    <a:p>
                      <a:pPr>
                        <a:buNone/>
                      </a:pPr>
                      <a:r>
                        <a:rPr lang="en-US" sz="1100" b="1" dirty="0">
                          <a:solidFill>
                            <a:srgbClr val="FFFFFF"/>
                          </a:solidFill>
                          <a:latin typeface="Ubuntu"/>
                        </a:rPr>
                        <a:t>College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b="1" dirty="0">
                          <a:solidFill>
                            <a:srgbClr val="FFFFFF"/>
                          </a:solidFill>
                          <a:latin typeface="Ubuntu"/>
                        </a:rPr>
                        <a:t>New students</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b="1" dirty="0">
                          <a:solidFill>
                            <a:srgbClr val="FFFFFF"/>
                          </a:solidFill>
                          <a:latin typeface="Ubuntu"/>
                        </a:rPr>
                        <a:t>Graduating students</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b="1" dirty="0">
                          <a:solidFill>
                            <a:srgbClr val="FFFFFF"/>
                          </a:solidFill>
                          <a:latin typeface="Ubuntu"/>
                        </a:rPr>
                        <a:t>Change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i="1" dirty="0">
                          <a:solidFill>
                            <a:srgbClr val="808080"/>
                          </a:solidFill>
                          <a:latin typeface="Ubuntu"/>
                        </a:rPr>
                        <a:t>Undergraduate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100" dirty="0">
                          <a:latin typeface="Ubuntu"/>
                        </a:rPr>
                        <a:t>Cedar University</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110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103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+7</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100" dirty="0">
                          <a:latin typeface="Ubuntu"/>
                        </a:rPr>
                        <a:t>Oak Institute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202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210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i="1" dirty="0">
                          <a:solidFill>
                            <a:srgbClr val="808080"/>
                          </a:solidFill>
                          <a:latin typeface="Ubuntu"/>
                        </a:rPr>
                        <a:t>Graduate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100" dirty="0">
                          <a:latin typeface="Ubuntu"/>
                        </a:rPr>
                        <a:t>Cedar University</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20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100" dirty="0">
                          <a:latin typeface="Ubuntu"/>
                        </a:rPr>
                        <a:t>Elm College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43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53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-10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460375">
                <a:tc>
                  <a:txBody>
                    <a:bodyPr/>
                    <a:lstStyle/>
                    <a:p>
                      <a:pPr>
                        <a:buNone/>
                      </a:pPr>
                      <a:r>
                        <a:rPr lang="en-US" sz="1100" dirty="0">
                          <a:latin typeface="Ubuntu"/>
                        </a:rPr>
                        <a:t>Total</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998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908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90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000" i="1" dirty="0">
                <a:solidFill>
                  <a:srgbClr val="808080"/>
                </a:solidFill>
                <a:latin typeface="Ubuntu"/>
              </a:rPr>
              <a:t>Source:</a:t>
            </a:r>
            <a:r>
              <a:rPr lang="en-US" sz="1000" dirty="0">
                <a:latin typeface="Ubuntu"/>
              </a:rPr>
              <a:t> Fictitious data, for illustration purposes only</a:t>
            </a:r>
            <a:endParaRPr lang="en-US" sz="1000" dirty="0"/>
          </a:p>
          <a:p>
            <a:pPr>
              <a:buNone/>
            </a:pPr>
            <a:r>
              <a:rPr lang="en-US" sz="1200" dirty="0">
                <a:latin typeface="Ubuntu"/>
              </a:rPr>
              <a:t>Next, we have something a little more complex, a nested table, i.e. a table inside another table. Additionally, the inner table has some of its cells merged. The table is displayed horizontally centered.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2554014"/>
                <a:gridCol w="5675586"/>
              </a:tblGrid>
              <a:tr h="3683000">
                <a:tc>
                  <a:txBody>
                    <a:bodyPr/>
                    <a:lstStyle/>
                    <a:p>
                      <a:pPr>
                        <a:buNone/>
                      </a:pPr>
                      <a:r>
                        <a:rPr lang="en-US" sz="1200" dirty="0"/>
                        <a:t>One
Three	Two</a:t>
                      </a:r>
                      <a:endParaRPr lang="en-US" sz="1200" dirty="0"/>
                    </a:p>
                    <a:p>
                      <a:pPr>
                        <a:buNone/>
                      </a:pPr>
                      <a:r>
                        <a:rPr lang="en-US" sz="1200" dirty="0"/>
                        <a:t>Four</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100" dirty="0">
                          <a:latin typeface="Ubuntu"/>
                        </a:rPr>
                        <a:t>To the left is a table inside a table, with some cells merged.</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Tables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We end with a fancy calendar, note how much of the original formatting is preserved. Note that this table will only display correctly on relatively wide screens. In general, very wide tables or tables whose cells have fixed width requirements don’t fare well in ebooks.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753849"/>
                <a:gridCol w="539646"/>
                <a:gridCol w="539646"/>
                <a:gridCol w="539646"/>
                <a:gridCol w="539646"/>
                <a:gridCol w="539646"/>
                <a:gridCol w="539646"/>
                <a:gridCol w="539646"/>
                <a:gridCol w="539646"/>
                <a:gridCol w="539646"/>
                <a:gridCol w="539646"/>
                <a:gridCol w="539646"/>
                <a:gridCol w="539646"/>
              </a:tblGrid>
              <a:tr h="334818">
                <a:tc>
                  <a:txBody>
                    <a:bodyPr/>
                    <a:lstStyle/>
                    <a:p>
                      <a:pPr algn="r">
                        <a:buNone/>
                      </a:pPr>
                      <a:r>
                        <a:rPr lang="en-US" sz="2200" dirty="0">
                          <a:solidFill>
                            <a:srgbClr val="365F91"/>
                          </a:solidFill>
                          <a:latin typeface="Ubuntu"/>
                        </a:rPr>
                        <a:t>December 2007</a:t>
                      </a:r>
                      <a:endParaRPr lang="en-US" sz="2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r>
                        <a:rPr lang="en-US" sz="1100" dirty="0">
                          <a:solidFill>
                            <a:srgbClr val="365F91"/>
                          </a:solidFill>
                          <a:latin typeface="Ubuntu"/>
                        </a:rPr>
                        <a:t>Sun</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Mon</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Tue</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Wed</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Thu</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Fri</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365F91"/>
                          </a:solidFill>
                          <a:latin typeface="Ubuntu"/>
                        </a:rPr>
                        <a:t>Sat</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365F91"/>
                          </a:solidFill>
                          <a:latin typeface="Ubuntu"/>
                        </a:rPr>
                        <a:t>1</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r>
                        <a:rPr lang="en-US" sz="1100" dirty="0">
                          <a:solidFill>
                            <a:srgbClr val="365F91"/>
                          </a:solidFill>
                          <a:latin typeface="Ubuntu"/>
                        </a:rPr>
                        <a:t>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5</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6</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7</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365F91"/>
                          </a:solidFill>
                          <a:latin typeface="Ubuntu"/>
                        </a:rPr>
                        <a:t>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r>
                        <a:rPr lang="en-US" sz="1100" dirty="0">
                          <a:solidFill>
                            <a:srgbClr val="365F91"/>
                          </a:solidFill>
                          <a:latin typeface="Ubuntu"/>
                        </a:rPr>
                        <a:t>9</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10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11</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12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13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14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365F91"/>
                          </a:solidFill>
                          <a:latin typeface="Ubuntu"/>
                        </a:rPr>
                        <a:t>15</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r>
                        <a:rPr lang="en-US" sz="1100" dirty="0">
                          <a:solidFill>
                            <a:srgbClr val="365F91"/>
                          </a:solidFill>
                          <a:latin typeface="Ubuntu"/>
                        </a:rPr>
                        <a:t>16</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17</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18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19</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20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21</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365F91"/>
                          </a:solidFill>
                          <a:latin typeface="Ubuntu"/>
                        </a:rPr>
                        <a:t>22</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lgn="r">
                        <a:buNone/>
                      </a:pPr>
                      <a:r>
                        <a:rPr lang="en-US" sz="1100" dirty="0">
                          <a:solidFill>
                            <a:srgbClr val="365F91"/>
                          </a:solidFill>
                          <a:latin typeface="Ubuntu"/>
                        </a:rPr>
                        <a:t>23</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24</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25</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26</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27</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28</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365F91"/>
                          </a:solidFill>
                          <a:latin typeface="Ubuntu"/>
                        </a:rPr>
                        <a:t>29</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Tables</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753849"/>
                <a:gridCol w="539646"/>
                <a:gridCol w="539646"/>
                <a:gridCol w="539646"/>
                <a:gridCol w="539646"/>
                <a:gridCol w="539646"/>
                <a:gridCol w="539646"/>
                <a:gridCol w="539646"/>
                <a:gridCol w="539646"/>
                <a:gridCol w="539646"/>
                <a:gridCol w="539646"/>
                <a:gridCol w="539646"/>
                <a:gridCol w="539646"/>
              </a:tblGrid>
              <a:tr h="1227667">
                <a:tc>
                  <a:txBody>
                    <a:bodyPr/>
                    <a:lstStyle/>
                    <a:p>
                      <a:pPr algn="r">
                        <a:buNone/>
                      </a:pPr>
                      <a:r>
                        <a:rPr lang="en-US" sz="2200" dirty="0">
                          <a:solidFill>
                            <a:srgbClr val="365F91"/>
                          </a:solidFill>
                          <a:latin typeface="Ubuntu"/>
                        </a:rPr>
                        <a:t>December 2007</a:t>
                      </a:r>
                      <a:endParaRPr lang="en-US" sz="2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lgn="r">
                        <a:buNone/>
                      </a:pPr>
                      <a:r>
                        <a:rPr lang="en-US" sz="1100" dirty="0">
                          <a:solidFill>
                            <a:srgbClr val="365F91"/>
                          </a:solidFill>
                          <a:latin typeface="Ubuntu"/>
                        </a:rPr>
                        <a:t>30</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lgn="r">
                        <a:buNone/>
                      </a:pPr>
                      <a:r>
                        <a:rPr lang="en-US" sz="1100" dirty="0">
                          <a:solidFill>
                            <a:srgbClr val="7F7F7F"/>
                          </a:solidFill>
                          <a:latin typeface="Ubuntu"/>
                        </a:rPr>
                        <a:t>31</a:t>
                      </a:r>
                      <a:endParaRPr lang="en-US" sz="11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Structural Elements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Miscellaneous structural elements you can add to your document, like footnotes, endnotes, dropcaps and the like. </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Footnotes &amp; Endnotes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Footnotes</a:t>
            </a:r>
            <a:r>
              <a:rPr lang="en-US" sz="1800" baseline="30000" dirty="0"/>
              <a:t>1</a:t>
            </a:r>
            <a:r>
              <a:rPr lang="en-US" sz="1200" dirty="0">
                <a:latin typeface="Ubuntu"/>
              </a:rPr>
              <a:t> and endnotes</a:t>
            </a:r>
            <a:r>
              <a:rPr lang="en-US" sz="1800" baseline="30000" dirty="0"/>
              <a:t>2</a:t>
            </a:r>
            <a:r>
              <a:rPr lang="en-US" sz="1200" dirty="0">
                <a:latin typeface="Ubuntu"/>
              </a:rPr>
              <a:t> are automatically recognized and both are converted to endnotes, with backlinks for maximum ease of use in ebook devices.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Dropcaps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5850" dirty="0">
                <a:latin typeface="Ubuntu"/>
              </a:rPr>
              <a:t>D</a:t>
            </a:r>
            <a:endParaRPr lang="en-US" sz="5850" dirty="0"/>
          </a:p>
          <a:p>
            <a:pPr>
              <a:buNone/>
            </a:pPr>
            <a:r>
              <a:rPr lang="en-US" sz="1200" dirty="0">
                <a:latin typeface="Ubuntu"/>
              </a:rPr>
              <a:t>rop caps are used to emphasize the leading paragraph at the start of a section. In Word it is possible to specify how many lines of text a drop-cap should use.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Links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Two kinds of links are possible, those that refer to an external website and those that refer to locations inside the document itself. Both are supported by calibre. For example, here is a link pointing to the </a:t>
            </a:r>
            <a:r>
              <a:rPr lang="en-US" sz="1200" u="sng" dirty="0">
                <a:solidFill>
                  <a:srgbClr val="0000FF"/>
                </a:solidFill>
                <a:latin typeface="Ubuntu"/>
                <a:hlinkClick r:id="rId2"/>
              </a:rPr>
              <a:t>calibre download page</a:t>
            </a:r>
            <a:r>
              <a:rPr lang="en-US" sz="1200" dirty="0">
                <a:latin typeface="Ubuntu"/>
              </a:rPr>
              <a:t>. Then we have a link that points back to the section on </a:t>
            </a:r>
            <a:r>
              <a:rPr lang="en-US" sz="1200" u="sng" dirty="0">
                <a:solidFill>
                  <a:srgbClr val="0000FF"/>
                </a:solidFill>
                <a:latin typeface="Ubuntu"/>
              </a:rPr>
              <a:t>paragraph level formatting</a:t>
            </a:r>
            <a:r>
              <a:rPr lang="en-US" sz="1200" dirty="0">
                <a:latin typeface="Ubuntu"/>
              </a:rPr>
              <a:t> in this document.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 You can see the Table of Contents created by calibre by clicking the Table of Contents button in whatever viewer you are using to view the converted ebook. </a:t>
            </a:r>
            <a:endParaRPr lang="en-US" sz="1200" dirty="0"/>
          </a:p>
          <a:p>
            <a:pPr>
              <a:buNone/>
            </a:pPr>
            <a:r>
              <a:rPr lang="en-US" sz="1000" b="1" u="sng" dirty="0">
                <a:solidFill>
                  <a:srgbClr val="0000FF"/>
                </a:solidFill>
                <a:latin typeface="Ubuntu"/>
              </a:rPr>
              <a:t>Demonstration of DOCX support in calibre</a:t>
            </a:r>
            <a:r>
              <a:rPr lang="en-US" sz="1000" b="1" dirty="0">
                <a:latin typeface="Ubuntu"/>
              </a:rPr>
              <a:t>	</a:t>
            </a:r>
            <a:r>
              <a:rPr lang="en-US" sz="1000" b="1" u="sng" dirty="0">
                <a:solidFill>
                  <a:srgbClr val="0000FF"/>
                </a:solidFill>
                <a:latin typeface="Ubuntu"/>
              </a:rPr>
              <a:t>1</a:t>
            </a:r>
            <a:endParaRPr lang="en-US" sz="1000" dirty="0"/>
          </a:p>
          <a:p>
            <a:pPr>
              <a:buNone/>
            </a:pPr>
            <a:r>
              <a:rPr lang="en-US" sz="1000" b="1" u="sng" dirty="0">
                <a:solidFill>
                  <a:srgbClr val="0000FF"/>
                </a:solidFill>
                <a:latin typeface="Ubuntu"/>
              </a:rPr>
              <a:t>Text Formatting</a:t>
            </a:r>
            <a:r>
              <a:rPr lang="en-US" sz="1000" b="1" dirty="0">
                <a:latin typeface="Ubuntu"/>
              </a:rPr>
              <a:t>	</a:t>
            </a:r>
            <a:r>
              <a:rPr lang="en-US" sz="1000" b="1" u="sng" dirty="0">
                <a:solidFill>
                  <a:srgbClr val="0000FF"/>
                </a:solidFill>
                <a:latin typeface="Ubuntu"/>
              </a:rPr>
              <a:t>1</a:t>
            </a:r>
            <a:endParaRPr lang="en-US" sz="1000" dirty="0"/>
          </a:p>
          <a:p>
            <a:pPr>
              <a:buNone/>
            </a:pPr>
            <a:r>
              <a:rPr lang="en-US" sz="1000" i="1" u="sng" dirty="0">
                <a:solidFill>
                  <a:srgbClr val="0000FF"/>
                </a:solidFill>
                <a:latin typeface="Ubuntu"/>
              </a:rPr>
              <a:t>Inline formatting</a:t>
            </a:r>
            <a:r>
              <a:rPr lang="en-US" sz="1000" i="1" dirty="0">
                <a:latin typeface="Ubuntu"/>
              </a:rPr>
              <a:t>	</a:t>
            </a:r>
            <a:r>
              <a:rPr lang="en-US" sz="1000" i="1" u="sng" dirty="0">
                <a:solidFill>
                  <a:srgbClr val="0000FF"/>
                </a:solidFill>
                <a:latin typeface="Ubuntu"/>
              </a:rPr>
              <a:t>2</a:t>
            </a:r>
            <a:endParaRPr lang="en-US" sz="1000" dirty="0"/>
          </a:p>
          <a:p>
            <a:pPr>
              <a:buNone/>
            </a:pPr>
            <a:r>
              <a:rPr lang="en-US" sz="1000" i="1" u="sng" dirty="0">
                <a:solidFill>
                  <a:srgbClr val="0000FF"/>
                </a:solidFill>
                <a:latin typeface="Ubuntu"/>
              </a:rPr>
              <a:t>Fun with fonts</a:t>
            </a:r>
            <a:r>
              <a:rPr lang="en-US" sz="1000" i="1" dirty="0">
                <a:latin typeface="Ubuntu"/>
              </a:rPr>
              <a:t>	</a:t>
            </a:r>
            <a:r>
              <a:rPr lang="en-US" sz="1000" i="1" u="sng" dirty="0">
                <a:solidFill>
                  <a:srgbClr val="0000FF"/>
                </a:solidFill>
                <a:latin typeface="Ubuntu"/>
              </a:rPr>
              <a:t>2</a:t>
            </a:r>
            <a:endParaRPr lang="en-US" sz="1000" dirty="0"/>
          </a:p>
          <a:p>
            <a:pPr>
              <a:buNone/>
            </a:pPr>
            <a:r>
              <a:rPr lang="en-US" sz="1000" i="1" u="sng" dirty="0">
                <a:solidFill>
                  <a:srgbClr val="0000FF"/>
                </a:solidFill>
                <a:latin typeface="Ubuntu"/>
              </a:rPr>
              <a:t>Paragraph level formatting</a:t>
            </a:r>
            <a:r>
              <a:rPr lang="en-US" sz="1000" i="1" dirty="0">
                <a:latin typeface="Ubuntu"/>
              </a:rPr>
              <a:t>	</a:t>
            </a:r>
            <a:r>
              <a:rPr lang="en-US" sz="1000" i="1" u="sng" dirty="0">
                <a:solidFill>
                  <a:srgbClr val="0000FF"/>
                </a:solidFill>
                <a:latin typeface="Ubuntu"/>
              </a:rPr>
              <a:t>2</a:t>
            </a:r>
            <a:endParaRPr lang="en-US" sz="1000" dirty="0"/>
          </a:p>
          <a:p>
            <a:pPr>
              <a:buNone/>
            </a:pPr>
            <a:r>
              <a:rPr lang="en-US" sz="1000" b="1" u="sng" dirty="0">
                <a:solidFill>
                  <a:srgbClr val="0000FF"/>
                </a:solidFill>
                <a:latin typeface="Ubuntu"/>
              </a:rPr>
              <a:t>Tables</a:t>
            </a:r>
            <a:r>
              <a:rPr lang="en-US" sz="1000" b="1" dirty="0">
                <a:latin typeface="Ubuntu"/>
              </a:rPr>
              <a:t>	</a:t>
            </a:r>
            <a:r>
              <a:rPr lang="en-US" sz="1000" b="1" u="sng" dirty="0">
                <a:solidFill>
                  <a:srgbClr val="0000FF"/>
                </a:solidFill>
                <a:latin typeface="Ubuntu"/>
              </a:rPr>
              <a:t>2</a:t>
            </a:r>
            <a:endParaRPr lang="en-US" sz="1000" dirty="0"/>
          </a:p>
          <a:p>
            <a:pPr>
              <a:buNone/>
            </a:pPr>
            <a:r>
              <a:rPr lang="en-US" sz="1000" b="1" u="sng" dirty="0">
                <a:solidFill>
                  <a:srgbClr val="0000FF"/>
                </a:solidFill>
                <a:latin typeface="Ubuntu"/>
              </a:rPr>
              <a:t>Structural Elements</a:t>
            </a:r>
            <a:r>
              <a:rPr lang="en-US" sz="1000" b="1" dirty="0">
                <a:latin typeface="Ubuntu"/>
              </a:rPr>
              <a:t>	</a:t>
            </a:r>
            <a:r>
              <a:rPr lang="en-US" sz="1000" b="1" u="sng" dirty="0">
                <a:solidFill>
                  <a:srgbClr val="0000FF"/>
                </a:solidFill>
                <a:latin typeface="Ubuntu"/>
              </a:rPr>
              <a:t>4</a:t>
            </a:r>
            <a:endParaRPr lang="en-US" sz="1000" dirty="0"/>
          </a:p>
          <a:p>
            <a:pPr>
              <a:buNone/>
            </a:pPr>
            <a:r>
              <a:rPr lang="en-US" sz="1000" i="1" u="sng" dirty="0">
                <a:solidFill>
                  <a:srgbClr val="0000FF"/>
                </a:solidFill>
                <a:latin typeface="Ubuntu"/>
              </a:rPr>
              <a:t>Footnotes &amp; Endnotes</a:t>
            </a:r>
            <a:r>
              <a:rPr lang="en-US" sz="1000" i="1" dirty="0">
                <a:latin typeface="Ubuntu"/>
              </a:rPr>
              <a:t>	</a:t>
            </a:r>
            <a:r>
              <a:rPr lang="en-US" sz="1000" i="1" u="sng" dirty="0">
                <a:solidFill>
                  <a:srgbClr val="0000FF"/>
                </a:solidFill>
                <a:latin typeface="Ubuntu"/>
              </a:rPr>
              <a:t>5</a:t>
            </a:r>
            <a:endParaRPr lang="en-US" sz="1000" dirty="0"/>
          </a:p>
          <a:p>
            <a:pPr>
              <a:buNone/>
            </a:pPr>
            <a:r>
              <a:rPr lang="en-US" sz="1000" i="1" u="sng" dirty="0">
                <a:solidFill>
                  <a:srgbClr val="0000FF"/>
                </a:solidFill>
                <a:latin typeface="Ubuntu"/>
              </a:rPr>
              <a:t>Dropcaps</a:t>
            </a:r>
            <a:r>
              <a:rPr lang="en-US" sz="1000" i="1" dirty="0">
                <a:latin typeface="Ubuntu"/>
              </a:rPr>
              <a:t>	</a:t>
            </a:r>
            <a:r>
              <a:rPr lang="en-US" sz="1000" i="1" u="sng" dirty="0">
                <a:solidFill>
                  <a:srgbClr val="0000FF"/>
                </a:solidFill>
                <a:latin typeface="Ubuntu"/>
              </a:rPr>
              <a:t>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Table of Contents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000" i="1" u="sng" dirty="0">
                <a:solidFill>
                  <a:srgbClr val="0000FF"/>
                </a:solidFill>
                <a:latin typeface="Ubuntu"/>
              </a:rPr>
              <a:t>Links</a:t>
            </a:r>
            <a:r>
              <a:rPr lang="en-US" sz="1000" i="1" dirty="0">
                <a:latin typeface="Ubuntu"/>
              </a:rPr>
              <a:t>	</a:t>
            </a:r>
            <a:r>
              <a:rPr lang="en-US" sz="1000" i="1" u="sng" dirty="0">
                <a:solidFill>
                  <a:srgbClr val="0000FF"/>
                </a:solidFill>
                <a:latin typeface="Ubuntu"/>
              </a:rPr>
              <a:t>5</a:t>
            </a:r>
            <a:endParaRPr lang="en-US" sz="1000" dirty="0"/>
          </a:p>
          <a:p>
            <a:pPr>
              <a:buNone/>
            </a:pPr>
            <a:r>
              <a:rPr lang="en-US" sz="1000" i="1" u="sng" dirty="0">
                <a:solidFill>
                  <a:srgbClr val="0000FF"/>
                </a:solidFill>
                <a:latin typeface="Ubuntu"/>
              </a:rPr>
              <a:t>Table of Contents</a:t>
            </a:r>
            <a:r>
              <a:rPr lang="en-US" sz="1000" i="1" dirty="0">
                <a:latin typeface="Ubuntu"/>
              </a:rPr>
              <a:t>	</a:t>
            </a:r>
            <a:r>
              <a:rPr lang="en-US" sz="1000" i="1" u="sng" dirty="0">
                <a:solidFill>
                  <a:srgbClr val="0000FF"/>
                </a:solidFill>
                <a:latin typeface="Ubuntu"/>
              </a:rPr>
              <a:t>5</a:t>
            </a:r>
            <a:endParaRPr lang="en-US" sz="1000" dirty="0"/>
          </a:p>
          <a:p>
            <a:pPr>
              <a:buNone/>
            </a:pPr>
            <a:r>
              <a:rPr lang="en-US" sz="1000" b="1" u="sng" dirty="0">
                <a:solidFill>
                  <a:srgbClr val="0000FF"/>
                </a:solidFill>
                <a:latin typeface="Ubuntu"/>
              </a:rPr>
              <a:t>Images</a:t>
            </a:r>
            <a:r>
              <a:rPr lang="en-US" sz="1000" b="1" dirty="0">
                <a:latin typeface="Ubuntu"/>
              </a:rPr>
              <a:t>	</a:t>
            </a:r>
            <a:r>
              <a:rPr lang="en-US" sz="1000" b="1" u="sng" dirty="0">
                <a:solidFill>
                  <a:srgbClr val="0000FF"/>
                </a:solidFill>
                <a:latin typeface="Ubuntu"/>
              </a:rPr>
              <a:t>6</a:t>
            </a:r>
            <a:endParaRPr lang="en-US" sz="1000" dirty="0"/>
          </a:p>
          <a:p>
            <a:pPr>
              <a:buNone/>
            </a:pPr>
            <a:r>
              <a:rPr lang="en-US" sz="1000" b="1" u="sng" dirty="0">
                <a:solidFill>
                  <a:srgbClr val="0000FF"/>
                </a:solidFill>
                <a:latin typeface="Ubuntu"/>
              </a:rPr>
              <a:t>Lists</a:t>
            </a:r>
            <a:r>
              <a:rPr lang="en-US" sz="1000" b="1" dirty="0">
                <a:latin typeface="Ubuntu"/>
              </a:rPr>
              <a:t>	</a:t>
            </a:r>
            <a:r>
              <a:rPr lang="en-US" sz="1000" b="1" u="sng" dirty="0">
                <a:solidFill>
                  <a:srgbClr val="0000FF"/>
                </a:solidFill>
                <a:latin typeface="Ubuntu"/>
              </a:rPr>
              <a:t>7</a:t>
            </a:r>
            <a:endParaRPr lang="en-US" sz="1000" dirty="0"/>
          </a:p>
          <a:p>
            <a:pPr>
              <a:buNone/>
            </a:pPr>
            <a:r>
              <a:rPr lang="en-US" sz="1000" i="1" u="sng" dirty="0">
                <a:solidFill>
                  <a:srgbClr val="0000FF"/>
                </a:solidFill>
                <a:latin typeface="Ubuntu"/>
              </a:rPr>
              <a:t>Bulleted List</a:t>
            </a:r>
            <a:r>
              <a:rPr lang="en-US" sz="1000" i="1" dirty="0">
                <a:latin typeface="Ubuntu"/>
              </a:rPr>
              <a:t>	</a:t>
            </a:r>
            <a:r>
              <a:rPr lang="en-US" sz="1000" i="1" u="sng" dirty="0">
                <a:solidFill>
                  <a:srgbClr val="0000FF"/>
                </a:solidFill>
                <a:latin typeface="Ubuntu"/>
              </a:rPr>
              <a:t>8</a:t>
            </a:r>
            <a:endParaRPr lang="en-US" sz="1000" dirty="0"/>
          </a:p>
          <a:p>
            <a:pPr>
              <a:buNone/>
            </a:pPr>
            <a:r>
              <a:rPr lang="en-US" sz="1000" i="1" u="sng" dirty="0">
                <a:solidFill>
                  <a:srgbClr val="0000FF"/>
                </a:solidFill>
                <a:latin typeface="Ubuntu"/>
              </a:rPr>
              <a:t>Numbered List</a:t>
            </a:r>
            <a:r>
              <a:rPr lang="en-US" sz="1000" i="1" dirty="0">
                <a:latin typeface="Ubuntu"/>
              </a:rPr>
              <a:t>	</a:t>
            </a:r>
            <a:r>
              <a:rPr lang="en-US" sz="1000" i="1" u="sng" dirty="0">
                <a:solidFill>
                  <a:srgbClr val="0000FF"/>
                </a:solidFill>
                <a:latin typeface="Ubuntu"/>
              </a:rPr>
              <a:t>8</a:t>
            </a:r>
            <a:endParaRPr lang="en-US" sz="1000" dirty="0"/>
          </a:p>
          <a:p>
            <a:pPr>
              <a:buNone/>
            </a:pPr>
            <a:r>
              <a:rPr lang="en-US" sz="1000" i="1" u="sng" dirty="0">
                <a:solidFill>
                  <a:srgbClr val="0000FF"/>
                </a:solidFill>
                <a:latin typeface="Ubuntu"/>
              </a:rPr>
              <a:t>Multi-level Lists</a:t>
            </a:r>
            <a:r>
              <a:rPr lang="en-US" sz="1000" i="1" dirty="0">
                <a:latin typeface="Ubuntu"/>
              </a:rPr>
              <a:t>	</a:t>
            </a:r>
            <a:r>
              <a:rPr lang="en-US" sz="1000" i="1" u="sng" dirty="0">
                <a:solidFill>
                  <a:srgbClr val="0000FF"/>
                </a:solidFill>
                <a:latin typeface="Ubuntu"/>
              </a:rPr>
              <a:t>8</a:t>
            </a:r>
            <a:endParaRPr lang="en-US" sz="1000" dirty="0"/>
          </a:p>
          <a:p>
            <a:pPr>
              <a:buNone/>
            </a:pPr>
            <a:r>
              <a:rPr lang="en-US" sz="1000" i="1" u="sng" dirty="0">
                <a:solidFill>
                  <a:srgbClr val="0000FF"/>
                </a:solidFill>
                <a:latin typeface="Ubuntu"/>
              </a:rPr>
              <a:t>Continued Lists</a:t>
            </a:r>
            <a:r>
              <a:rPr lang="en-US" sz="1000" i="1" dirty="0">
                <a:latin typeface="Ubuntu"/>
              </a:rPr>
              <a:t>	</a:t>
            </a:r>
            <a:r>
              <a:rPr lang="en-US" sz="1000" i="1" u="sng" dirty="0">
                <a:solidFill>
                  <a:srgbClr val="0000FF"/>
                </a:solidFill>
                <a:latin typeface="Ubuntu"/>
              </a:rPr>
              <a:t>8</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Centered images like this are useful for large pictures that should be a focus of attention. </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Images</a:t>
            </a:r>
            <a:endParaRPr lang="en-US" sz="2800" dirty="0"/>
          </a:p>
        </p:txBody>
      </p:sp>
      <p:pic>
        <p:nvPicPr>
          <p:cNvPr id="3" name="Picture 3"/>
          <p:cNvPicPr>
            <a:picLocks noChangeAspect="1"/>
          </p:cNvPicPr>
          <p:nvPr/>
        </p:nvPicPr>
        <p:blipFill>
          <a:blip r:embed="rId2"/>
          <a:stretch>
            <a:fillRect/>
          </a:stretch>
        </p:blipFill>
        <p:spPr>
          <a:xfrm>
            <a:off x="2730500" y="1143000"/>
            <a:ext cx="3683000" cy="3683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Images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There is no analogous technology in ebooks, so the conversion will usually end up placing the image either centered or floating close to the point in the text where it was </a:t>
            </a:r>
            <a:r>
              <a:rPr lang="en-US" sz="1200" i="1" dirty="0">
                <a:solidFill>
                  <a:srgbClr val="808080"/>
                </a:solidFill>
                <a:latin typeface="Ubuntu"/>
              </a:rPr>
              <a:t>inserted</a:t>
            </a:r>
            <a:r>
              <a:rPr lang="en-US" sz="1200" dirty="0">
                <a:latin typeface="Ubuntu"/>
              </a:rPr>
              <a:t>, not necessarily where it appears on the page in Word.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lgn="ctr">
              <a:buNone/>
            </a:pPr>
            <a:r>
              <a:rPr lang="en-US" sz="2800" b="1" dirty="0">
                <a:solidFill>
                  <a:srgbClr val="365F91"/>
                </a:solidFill>
                <a:latin typeface="Ubuntu"/>
              </a:rPr>
              <a:t>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a:buNone/>
            </a:pPr>
            <a:r>
              <a:rPr lang="en-US" sz="1200" dirty="0">
                <a:latin typeface="Ubuntu"/>
              </a:rPr>
              <a:t>All types of lists are supported by the conversion, with the exception of lists that use fancy bullets, these get converted to regular bullets.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Bulleted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200" dirty="0">
                <a:latin typeface="Ubuntu"/>
              </a:rPr>
              <a:t>One</a:t>
            </a:r>
            <a:endParaRPr lang="en-US" sz="1200" dirty="0"/>
          </a:p>
          <a:p>
            <a:pPr marL="228600" indent="-177800">
              <a:buFont typeface="Arial"/>
              <a:buChar char="•"/>
            </a:pPr>
            <a:r>
              <a:rPr lang="en-US" sz="1200" dirty="0">
                <a:latin typeface="Ubuntu"/>
              </a:rPr>
              <a:t>Two</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Numbered List</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200" dirty="0">
                <a:latin typeface="Ubuntu"/>
              </a:rPr>
              <a:t>One, with a very long line to demonstrate that the hanging indent for the list is working correctly</a:t>
            </a:r>
            <a:endParaRPr lang="en-US" sz="1200" dirty="0"/>
          </a:p>
          <a:p>
            <a:pPr marL="228600" indent="-177800">
              <a:buFont typeface="+mj-lt"/>
              <a:buAutoNum type="arabicPeriod"/>
            </a:pPr>
            <a:r>
              <a:rPr lang="en-US" sz="1200" dirty="0">
                <a:latin typeface="Ubuntu"/>
              </a:rPr>
              <a:t>Two</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Multi-level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200" dirty="0">
                <a:latin typeface="Ubuntu"/>
              </a:rPr>
              <a:t>One</a:t>
            </a:r>
            <a:endParaRPr lang="en-US" sz="1200" dirty="0"/>
          </a:p>
          <a:p>
            <a:pPr marL="457200" indent="-177800" lvl="1">
              <a:buFont typeface="+mj-lt"/>
              <a:buAutoNum type="arabicPeriod"/>
            </a:pPr>
            <a:r>
              <a:rPr lang="en-US" sz="1200" dirty="0">
                <a:latin typeface="Ubuntu"/>
              </a:rPr>
              <a:t>Two</a:t>
            </a:r>
            <a:endParaRPr lang="en-US" sz="1200" dirty="0"/>
          </a:p>
          <a:p>
            <a:pPr marL="685800" indent="-177800" lvl="2">
              <a:buFont typeface="+mj-lt"/>
              <a:buAutoNum type="arabicPeriod"/>
            </a:pPr>
            <a:r>
              <a:rPr lang="en-US" sz="1200" dirty="0">
                <a:latin typeface="Ubuntu"/>
              </a:rPr>
              <a:t>Three</a:t>
            </a:r>
            <a:endParaRPr lang="en-US" sz="1200" dirty="0"/>
          </a:p>
          <a:p>
            <a:pPr marL="685800" indent="-177800" lvl="2">
              <a:buFont typeface="+mj-lt"/>
              <a:buAutoNum type="arabicPeriod"/>
            </a:pPr>
            <a:r>
              <a:rPr lang="en-US" sz="1200" dirty="0">
                <a:latin typeface="Ubuntu"/>
              </a:rPr>
              <a:t>Four with a very long line to demonstrate that the hanging indent for the list is working correctly.</a:t>
            </a:r>
            <a:endParaRPr lang="en-US" sz="1200" dirty="0"/>
          </a:p>
          <a:p>
            <a:pPr marL="685800" indent="-177800" lvl="2">
              <a:buFont typeface="+mj-lt"/>
              <a:buAutoNum type="arabicPeriod"/>
            </a:pPr>
            <a:r>
              <a:rPr lang="en-US" sz="1200" dirty="0">
                <a:latin typeface="Ubuntu"/>
              </a:rPr>
              <a:t>Five</a:t>
            </a:r>
            <a:endParaRPr lang="en-US" sz="1200" dirty="0"/>
          </a:p>
          <a:p>
            <a:pPr marL="228600" indent="-177800">
              <a:buFont typeface="+mj-lt"/>
              <a:buAutoNum type="arabicPeriod"/>
            </a:pPr>
            <a:r>
              <a:rPr lang="en-US" sz="1200" dirty="0">
                <a:latin typeface="Ubuntu"/>
              </a:rPr>
              <a:t>Six</a:t>
            </a:r>
            <a:endParaRPr lang="en-US" sz="1200" dirty="0"/>
          </a:p>
          <a:p>
            <a:pPr>
              <a:buNone/>
            </a:pPr>
            <a:r>
              <a:rPr lang="en-US" sz="1200" dirty="0">
                <a:latin typeface="Ubuntu"/>
              </a:rPr>
              <a:t>A Multi-level list with bullets:</a:t>
            </a:r>
            <a:endParaRPr lang="en-US" sz="1200" dirty="0"/>
          </a:p>
          <a:p>
            <a:pPr marL="228600" indent="-177800">
              <a:buFont typeface="Arial"/>
              <a:buChar char="•"/>
            </a:pPr>
            <a:r>
              <a:rPr lang="en-US" sz="1200" dirty="0">
                <a:latin typeface="Ubuntu"/>
              </a:rPr>
              <a:t>One</a:t>
            </a:r>
            <a:endParaRPr lang="en-US" sz="1200" dirty="0"/>
          </a:p>
          <a:p>
            <a:pPr marL="457200" indent="-177800" lvl="1">
              <a:buFont typeface="Arial"/>
              <a:buChar char="•"/>
            </a:pPr>
            <a:r>
              <a:rPr lang="en-US" sz="1200" dirty="0">
                <a:latin typeface="Ubuntu"/>
              </a:rPr>
              <a:t>Two</a:t>
            </a:r>
            <a:endParaRPr lang="en-US" sz="1200" dirty="0"/>
          </a:p>
          <a:p>
            <a:pPr marL="685800" indent="-177800" lvl="2">
              <a:buFont typeface="Arial"/>
              <a:buChar char="•"/>
            </a:pPr>
            <a:r>
              <a:rPr lang="en-US" sz="1200" dirty="0">
                <a:latin typeface="Ubuntu"/>
              </a:rPr>
              <a:t>This bullet uses an image as the bullet item</a:t>
            </a:r>
            <a:endParaRPr lang="en-US" sz="1200" dirty="0"/>
          </a:p>
          <a:p>
            <a:pPr marL="914400" indent="-177800" lvl="3">
              <a:buFont typeface="Arial"/>
              <a:buChar char="•"/>
            </a:pPr>
            <a:r>
              <a:rPr lang="en-US" sz="1200" dirty="0">
                <a:latin typeface="Ubuntu"/>
              </a:rPr>
              <a:t>Four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Multi-level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Arial"/>
              <a:buChar char="•"/>
            </a:pPr>
            <a:r>
              <a:rPr lang="en-US" sz="1200" dirty="0">
                <a:latin typeface="Ubuntu"/>
              </a:rPr>
              <a:t>Five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solidFill>
                  <a:srgbClr val="4F81BD"/>
                </a:solidFill>
                <a:latin typeface="Ubuntu"/>
              </a:rPr>
              <a:t>Continued Lists</a:t>
            </a:r>
            <a:endParaRPr lang="en-US" sz="2800" dirty="0"/>
          </a:p>
        </p:txBody>
      </p:sp>
      <p:sp>
        <p:nvSpPr>
          <p:cNvPr id="3" name="Text 3"/>
          <p:cNvSpPr txBox="1"/>
          <p:nvPr/>
        </p:nvSpPr>
        <p:spPr>
          <a:xfrm>
            <a:off x="457200" y="1143000"/>
            <a:ext cx="8229600" cy="3683000"/>
          </a:xfrm>
          <a:prstGeom prst="rect">
            <a:avLst/>
          </a:prstGeom>
          <a:noFill/>
          <a:ln>
            <a:noFill/>
          </a:ln>
        </p:spPr>
        <p:txBody>
          <a:bodyPr wrap="square" anchor="t" rtlCol="0">
            <a:normAutofit/>
          </a:bodyPr>
          <a:lstStyle/>
          <a:p>
            <a:pPr marL="228600" indent="-177800">
              <a:buFont typeface="+mj-lt"/>
              <a:buAutoNum type="arabicPeriod"/>
            </a:pPr>
            <a:r>
              <a:rPr lang="en-US" sz="1200" dirty="0">
                <a:latin typeface="Ubuntu"/>
              </a:rPr>
              <a:t>One</a:t>
            </a:r>
            <a:endParaRPr lang="en-US" sz="1200" dirty="0"/>
          </a:p>
          <a:p>
            <a:pPr marL="228600" indent="-177800">
              <a:buFont typeface="+mj-lt"/>
              <a:buAutoNum type="arabicPeriod"/>
            </a:pPr>
            <a:r>
              <a:rPr lang="en-US" sz="1200" dirty="0">
                <a:latin typeface="Ubuntu"/>
              </a:rPr>
              <a:t>Two</a:t>
            </a:r>
            <a:endParaRPr lang="en-US" sz="1200" dirty="0"/>
          </a:p>
          <a:p>
            <a:pPr>
              <a:buNone/>
            </a:pPr>
            <a:r>
              <a:rPr lang="en-US" sz="1200" dirty="0">
                <a:latin typeface="Ubuntu"/>
              </a:rPr>
              <a:t>An interruption in our regularly scheduled listing, for this essential and very relevant public service announcement.</a:t>
            </a:r>
            <a:endParaRPr lang="en-US" sz="1200" dirty="0"/>
          </a:p>
          <a:p>
            <a:pPr marL="228600" indent="-177800">
              <a:buFont typeface="+mj-lt"/>
              <a:buAutoNum type="arabicPeriod"/>
            </a:pPr>
            <a:r>
              <a:rPr lang="en-US" sz="1200" dirty="0">
                <a:latin typeface="Ubuntu"/>
              </a:rPr>
              <a:t>We now resume our normal programming</a:t>
            </a:r>
            <a:endParaRPr lang="en-US" sz="1200" dirty="0"/>
          </a:p>
          <a:p>
            <a:pPr marL="228600" indent="-177800">
              <a:buFont typeface="+mj-lt"/>
              <a:buAutoNum type="arabicPeriod"/>
            </a:pPr>
            <a:r>
              <a:rPr lang="en-US" sz="1200" dirty="0">
                <a:latin typeface="Ubuntu"/>
              </a:rPr>
              <a:t>Four</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57175"/>
            <a:ext cx="8229600" cy="720090"/>
          </a:xfrm>
          <a:prstGeom prst="rect">
            <a:avLst/>
          </a:prstGeom>
          <a:noFill/>
          <a:ln>
            <a:noFill/>
          </a:ln>
        </p:spPr>
        <p:txBody>
          <a:bodyPr wrap="square" anchor="t" rtlCol="0">
            <a:normAutofit/>
          </a:bodyPr>
          <a:lstStyle/>
          <a:p>
            <a:pPr>
              <a:buNone/>
            </a:pPr>
            <a:r>
              <a:rPr lang="en-US" sz="2800" b="1" dirty="0"/>
              <a:t>Notes</a:t>
            </a:r>
            <a:endParaRPr lang="en-US" sz="2800" dirty="0"/>
          </a:p>
        </p:txBody>
      </p:sp>
      <p:sp>
        <p:nvSpPr>
          <p:cNvPr id="3" name="Text 3"/>
          <p:cNvSpPr txBox="1"/>
          <p:nvPr/>
        </p:nvSpPr>
        <p:spPr>
          <a:xfrm>
            <a:off x="457200" y="1131570"/>
            <a:ext cx="8229600" cy="3703320"/>
          </a:xfrm>
          <a:prstGeom prst="rect">
            <a:avLst/>
          </a:prstGeom>
          <a:noFill/>
          <a:ln>
            <a:noFill/>
          </a:ln>
        </p:spPr>
        <p:txBody>
          <a:bodyPr wrap="square" anchor="t" rtlCol="0">
            <a:normAutofit/>
          </a:bodyPr>
          <a:lstStyle/>
          <a:p>
            <a:pPr>
              <a:buNone/>
            </a:pPr>
            <a:r>
              <a:rPr lang="en-US" sz="1400" dirty="0"/>
              <a:t>1. In paged media, footnotes are usually displayed at the bottom of the text. However, in ebooks, a better paradigm is to make them clickable endnotes that the user can browse at her pleasure. This conversion is handled automatically by calibre.</a:t>
            </a:r>
            <a:endParaRPr lang="en-US" sz="1400" dirty="0"/>
          </a:p>
          <a:p>
            <a:pPr>
              <a:buNone/>
            </a:pPr>
            <a:r>
              <a:rPr lang="en-US" sz="1400" dirty="0"/>
              <a:t>2. Endnotes are typically used for longer notes, they remain endnotes when converted into ebook form, except that they have an additional backlink to make it easy to return to the current position after reading the note.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31</Slides>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2024-01-01T00:00:00Z</dcterms:created>
  <dcterms:modified xsi:type="dcterms:W3CDTF">2024-01-01T00:00:00Z</dcterms:modified>
</cp:coreProperties>
</file>