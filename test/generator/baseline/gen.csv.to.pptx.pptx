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theme" Target="theme/theme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224216"/>
                <a:gridCol w="2224216"/>
                <a:gridCol w="444843"/>
                <a:gridCol w="444843"/>
                <a:gridCol w="444843"/>
                <a:gridCol w="222422"/>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 Modified: 12/26/2025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11:08:56 AM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Demonstration of DOCX support in calibre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There is support for images, tables, lists, footnotes, endnotes, links, dropcaps and various types of text and 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To see the DOCX conversion in action, simply add this file to calibre using the “Add Books” button and then click “Convert”.  Set the output format in the top right corner of the conversion dialog to EPUB or AZW3 and click “OK”.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224216"/>
                <a:gridCol w="2224216"/>
                <a:gridCol w="444843"/>
                <a:gridCol w="444843"/>
                <a:gridCol w="444843"/>
                <a:gridCol w="222422"/>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Text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Inline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Here, we demonstrate various types of inline text formatting and the use of embedded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224216"/>
                <a:gridCol w="2224216"/>
                <a:gridCol w="444843"/>
                <a:gridCol w="444843"/>
                <a:gridCol w="444843"/>
                <a:gridCol w="222422"/>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Here is some bold, italic, bold-italic, underlined and struck out  text. Then, we have a superscript and a subscript. Now we see some red, green and blue text. Some text with a yellow highlight. Some text in a box. Some text in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inverse video</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 paragraph with styled text: subtle emphasis  followed by strong text and intense emphasis. This paragraph uses document wide styles for styling rather than inline text properties as demonstrated in the previous paragraph — calibre can handle both with equal ease.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Fun with fonts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document has embedded the Ubuntu font family. The body text is in the Ubuntu typeface, here is some text in the Ubuntu Mono typeface, notice how every letter has the same width, even i and m. Every embedded font will automatically be embedded in the output ebook during conversion.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Paragraph level formatting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You can do crazy things with paragraphs, if the urge strikes you. For instance this paragraph is right aligned and has a right border. It has also been given a light gray background.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Tables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224216"/>
                <a:gridCol w="2224216"/>
                <a:gridCol w="444843"/>
                <a:gridCol w="444843"/>
                <a:gridCol w="444843"/>
                <a:gridCol w="222422"/>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Pens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Pencils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Highlighter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Scissors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Now let’s look at a fancier table—one with alternating row colors and partial borders. This table is stretched out to take 100% of the available width.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City or Town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A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224216"/>
                <a:gridCol w="2224216"/>
                <a:gridCol w="444843"/>
                <a:gridCol w="444843"/>
                <a:gridCol w="444843"/>
                <a:gridCol w="222422"/>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B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C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Point 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Next, we see a table with special formatting in various locations. Notice how the formatting for the header row and sub header rows is preserved.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Undergraduate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Oak Institute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Graduate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224216"/>
                <a:gridCol w="2224216"/>
                <a:gridCol w="444843"/>
                <a:gridCol w="444843"/>
                <a:gridCol w="444843"/>
                <a:gridCol w="222422"/>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Cedar University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Elm College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Total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Source: Fictitious data, for illustration purposes only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Next, we have something a little more complex, a nested table, i.e. a table inside another table. Additionally, the inner table has some of its cells merged. The table is displayed horizontally centered.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We end with a fancy calendar, note how much of the original formatting is preserved. Note that this table will only display correctly on relatively wide screens. In general, very wide tables or tables whose cells have fixed width requirements don’t fare well in ebooks.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December 2007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224216"/>
                <a:gridCol w="2224216"/>
                <a:gridCol w="444843"/>
                <a:gridCol w="444843"/>
                <a:gridCol w="444843"/>
                <a:gridCol w="222422"/>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Sat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22 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29 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30 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Structural Elements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Miscellaneous structural elements you can add to your document, like footnotes, endnotes, dropcaps and the like.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Footnotes &amp; Endnotes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224216"/>
                <a:gridCol w="2224216"/>
                <a:gridCol w="444843"/>
                <a:gridCol w="444843"/>
                <a:gridCol w="444843"/>
                <a:gridCol w="222422"/>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Footnotes1 and endnotesi are automatically recognized and both are converted to endnotes, with backlinks for maximum ease of use in ebook devices.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Dropcaps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rop caps are used to emphasize the leading paragraph at the start of a section. In Word it is possible to specify how many lines of text a drop-cap should use.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Links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kinds of links are possible, those that refer to an external website and those that refer to locations inside the document itself. Both are supported by calibre. For example, here is a link pointing to the calibre download page. Then we have a link that points back to the section on paragraph level formatting in this document.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Images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Centered images like this are useful for large pictures that should be a focus of attention.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There is no analogous technology in ebooks, so the conversion will usually end up placing the image either centered or floating close to the point in the text where it was inserted, not necessarily where it appears on the page in Word.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224216"/>
                <a:gridCol w="2224216"/>
                <a:gridCol w="444843"/>
                <a:gridCol w="444843"/>
                <a:gridCol w="444843"/>
                <a:gridCol w="222422"/>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All types of lists are supported by the conversion, with the exception of lists that use fancy bullets, these get converted to regular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Bulleted List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Numbered List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Multi-level 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224216"/>
                <a:gridCol w="2224216"/>
                <a:gridCol w="444843"/>
                <a:gridCol w="444843"/>
                <a:gridCol w="444843"/>
                <a:gridCol w="222422"/>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Three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with a very long line to demonstrate that the hanging indent for the list is working correctly.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Six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 Multi-level list with bullets: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This bullet uses an image as the bullet item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Five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224216"/>
                <a:gridCol w="2224216"/>
                <a:gridCol w="444843"/>
                <a:gridCol w="444843"/>
                <a:gridCol w="444843"/>
                <a:gridCol w="222422"/>
              </a:tblGrid>
              <a:tr h="334818">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Continued Lists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One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Two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An interruption in our regularly scheduled listing, for this essential and very relevant public service announcement.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iii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 now resume our normal programming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iv</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Four </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Charts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Series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Series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Category 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Category 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4.4000000000000004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Sheet1</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224216"/>
                <a:gridCol w="2224216"/>
                <a:gridCol w="2224216"/>
                <a:gridCol w="444843"/>
                <a:gridCol w="444843"/>
                <a:gridCol w="444843"/>
                <a:gridCol w="222422"/>
              </a:tblGrid>
              <a:tr h="1227667">
                <a:tc>
                  <a:txBody>
                    <a:bodyPr/>
                    <a:lstStyle/>
                    <a:p>
                      <a:pPr>
                        <a:buNone/>
                      </a:pPr>
                      <a:r>
                        <a:rPr lang="en-US" sz="1200" dirty="0"/>
                        <a:t># Created: 11/28/2025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 4:36:44 PM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Category 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Category 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12</Slides>
</Properties>
</file>

<file path=docProps/core.xml><?xml version="1.0" encoding="utf-8"?>
<cp:coreProperties xmlns:cp="http://schemas.openxmlformats.org/package/2006/metadata/core-properties" xmlns:dc="http://purl.org/dc/elements/1.1/" xmlns:dcterms="http://purl.org/dc/terms/" xmlns:xsi="http://www.w3.org/2001/XMLSchema-instance">
  <dc:title>Sheet1</dc:title>
  <dcterms:created xsi:type="dcterms:W3CDTF">2024-01-01T00:00:00Z</dcterms:created>
  <dcterms:modified xsi:type="dcterms:W3CDTF">2024-01-01T00:00:00Z</dcterms:modified>
</cp:coreProperties>
</file>