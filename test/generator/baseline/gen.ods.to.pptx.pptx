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theme" Target="theme/theme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demonstrates the ability of the </a:t>
                      </a:r>
                      <a:r>
                        <a:rPr lang="en-US" sz="1200" dirty="0">
                          <a:solidFill>
                            <a:srgbClr val="000000"/>
                          </a:solidFill>
                          <a:latin typeface="Ubuntu"/>
                        </a:rPr>
                        <a:t>calibre</a:t>
                      </a:r>
                      <a:r>
                        <a:rPr lang="en-US" sz="1200" dirty="0"/>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 see the DOCX conversion in action, simply add this file to calibre using the </a:t>
                      </a:r>
                      <a:r>
                        <a:rPr lang="en-US" sz="1200" b="1" dirty="0">
                          <a:solidFill>
                            <a:srgbClr val="000000"/>
                          </a:solidFill>
                          <a:latin typeface="Ubuntu"/>
                        </a:rPr>
                        <a:t>“Add Books” </a:t>
                      </a:r>
                      <a:r>
                        <a:rPr lang="en-US" sz="1200" dirty="0"/>
                        <a:t>button and then click “</a:t>
                      </a:r>
                      <a:r>
                        <a:rPr lang="en-US" sz="1200" b="1" dirty="0">
                          <a:solidFill>
                            <a:srgbClr val="000000"/>
                          </a:solidFill>
                          <a:latin typeface="Ubuntu"/>
                        </a:rPr>
                        <a:t>Convert”. </a:t>
                      </a:r>
                      <a:r>
                        <a:rPr lang="en-US" sz="1200" dirty="0"/>
                        <a:t> Set the output format in the top right corner of the conversion dialog to EPUB or AZW3 and click </a:t>
                      </a:r>
                      <a:r>
                        <a:rPr lang="en-US" sz="1200" b="1" dirty="0">
                          <a:solidFill>
                            <a:srgbClr val="000000"/>
                          </a:solidFill>
                          <a:latin typeface="Ubuntu"/>
                        </a:rPr>
                        <a:t>“OK”</a:t>
                      </a: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Inline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00" dirty="0">
                          <a:solidFill>
                            <a:srgbClr val="000000"/>
                          </a:solidFill>
                          <a:latin typeface="Ubuntu"/>
                        </a:rPr>
                        <a:t>script</a:t>
                      </a:r>
                      <a:r>
                        <a:rPr lang="en-US" sz="1200" dirty="0">
                          <a:solidFill>
                            <a:srgbClr val="000000"/>
                          </a:solidFill>
                          <a:latin typeface="Ubuntu"/>
                        </a:rPr>
                        <a:t> and a sub</a:t>
                      </a:r>
                      <a:r>
                        <a:rPr lang="en-US" sz="9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paragraph with styled text: </a:t>
                      </a:r>
                      <a:r>
                        <a:rPr lang="en-US" sz="1200" i="1" dirty="0">
                          <a:solidFill>
                            <a:srgbClr val="808080"/>
                          </a:solidFill>
                          <a:latin typeface="Ubuntu"/>
                        </a:rPr>
                        <a:t>subtle emphasis  </a:t>
                      </a:r>
                      <a:r>
                        <a:rPr lang="en-US" sz="1200" dirty="0"/>
                        <a:t>followed by </a:t>
                      </a:r>
                      <a:r>
                        <a:rPr lang="en-US" sz="1200" b="1" dirty="0">
                          <a:solidFill>
                            <a:srgbClr val="000000"/>
                          </a:solidFill>
                          <a:latin typeface="Ubuntu"/>
                        </a:rPr>
                        <a:t>strong text </a:t>
                      </a:r>
                      <a:r>
                        <a:rPr lang="en-US" sz="1200" dirty="0"/>
                        <a:t>and </a:t>
                      </a:r>
                      <a:r>
                        <a:rPr lang="en-US" sz="1200" b="1" i="1" dirty="0">
                          <a:solidFill>
                            <a:srgbClr val="4F81BD"/>
                          </a:solidFill>
                          <a:latin typeface="Ubuntu"/>
                        </a:rPr>
                        <a:t>intense emphasis</a:t>
                      </a:r>
                      <a:r>
                        <a:rPr lang="en-US" sz="1200" dirty="0"/>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Fun with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i and m</a:t>
                      </a:r>
                      <a:r>
                        <a:rPr lang="en-US" sz="1200" dirty="0"/>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t>For the lovers of poetry amongst you, paragraphs with hanging indents, like this often</a:t>
                      </a:r>
                      <a:br>
                        <a:rPr lang="en-US" dirty="0"/>
                      </a:br>
                      <a:r>
                        <a:rPr lang="en-US" sz="1200" dirty="0"/>
                        <a:t>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200" dirty="0"/>
                        <a:t>Structural Elements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Footnotes &amp; Endnotes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Footnotes</a:t>
                      </a:r>
                      <a:r>
                        <a:rPr lang="en-US" sz="900" dirty="0">
                          <a:solidFill>
                            <a:srgbClr val="000000"/>
                          </a:solidFill>
                          <a:latin typeface="Ubuntu"/>
                        </a:rPr>
                        <a:t>1</a:t>
                      </a:r>
                      <a:r>
                        <a:rPr lang="en-US" sz="1200" dirty="0"/>
                        <a:t> and endnotes</a:t>
                      </a:r>
                      <a:r>
                        <a:rPr lang="en-US" sz="900" dirty="0">
                          <a:solidFill>
                            <a:srgbClr val="000000"/>
                          </a:solidFill>
                          <a:latin typeface="Ubuntu"/>
                        </a:rPr>
                        <a:t>i</a:t>
                      </a:r>
                      <a:r>
                        <a:rPr lang="en-US" sz="1200" dirty="0"/>
                        <a:t> are automatically recognized and both are converted to endnotes, with backlinks for maximum ease of use in ebook devices. </a:t>
                      </a:r>
                      <a:endParaRPr lang="en-US" sz="9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Dropcaps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Links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t>. Then we have a link that points back to the section on </a:t>
                      </a:r>
                      <a:r>
                        <a:rPr lang="en-US" sz="1200" u="sng" dirty="0">
                          <a:solidFill>
                            <a:srgbClr val="0000FF"/>
                          </a:solidFill>
                          <a:latin typeface="Ubuntu"/>
                        </a:rPr>
                        <a:t>paragraph level formatting</a:t>
                      </a:r>
                      <a:r>
                        <a:rPr lang="en-US" sz="1200" dirty="0"/>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920750">
                <a:tc>
                  <a:txBody>
                    <a:bodyPr/>
                    <a:lstStyle/>
                    <a:p>
                      <a:pPr>
                        <a:buNone/>
                      </a:pPr>
                      <a:r>
                        <a:rPr lang="en-US" sz="1200" dirty="0"/>
                        <a:t>Images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Bulleted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Numbered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Multi-level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Continued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Chart_Sheet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122218"/>
                <a:gridCol w="748145"/>
                <a:gridCol w="1870364"/>
                <a:gridCol w="1496291"/>
                <a:gridCol w="1496291"/>
                <a:gridCol w="1496291"/>
              </a:tblGrid>
              <a:tr h="613833">
                <a:tc>
                  <a:txBody>
                    <a:bodyPr/>
                    <a:lstStyle/>
                    <a:p>
                      <a:pPr>
                        <a:buNone/>
                      </a:pPr>
                      <a:r>
                        <a:rPr lang="en-US" sz="1200" dirty="0"/>
                        <a:t>Charts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17</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