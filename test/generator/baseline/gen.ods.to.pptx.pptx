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theme" Target="theme/theme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334818">
                <a:tc>
                  <a:txBody>
                    <a:bodyPr/>
                    <a:lstStyle/>
                    <a:p>
                      <a:pPr>
                        <a:buNone/>
                      </a:pPr>
                      <a:r>
                        <a:rPr lang="en-US" sz="1200" dirty="0"/>
                        <a:t>Demonstration of DOCX support in calibre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document demonstrates the ability of the </a:t>
                      </a:r>
                      <a:r>
                        <a:rPr lang="en-US" sz="1200" dirty="0">
                          <a:solidFill>
                            <a:srgbClr val="000000"/>
                          </a:solidFill>
                          <a:latin typeface="Ubuntu"/>
                        </a:rPr>
                        <a:t>calibre</a:t>
                      </a:r>
                      <a:r>
                        <a:rPr lang="en-US" sz="1200" dirty="0"/>
                        <a:t> DOCX Input plugin to convert the various typographic features in a Microsoft Word (2007 and newer) document. Convert this document to a modern ebook format, such as AZW3 for Kindles or EPUB for other ebook readers, to see it in action.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There is support for images, tables, lists, footnotes, endnotes, links, dropcaps and various types of text and paragraph level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To see the DOCX conversion in action, simply add this file to calibre using the </a:t>
                      </a:r>
                      <a:r>
                        <a:rPr lang="en-US" sz="1200" b="1" dirty="0">
                          <a:solidFill>
                            <a:srgbClr val="000000"/>
                          </a:solidFill>
                          <a:latin typeface="Ubuntu"/>
                        </a:rPr>
                        <a:t>“Add Books” </a:t>
                      </a:r>
                      <a:r>
                        <a:rPr lang="en-US" sz="1200" dirty="0"/>
                        <a:t>button and then click “</a:t>
                      </a:r>
                      <a:r>
                        <a:rPr lang="en-US" sz="1200" b="1" dirty="0">
                          <a:solidFill>
                            <a:srgbClr val="000000"/>
                          </a:solidFill>
                          <a:latin typeface="Ubuntu"/>
                        </a:rPr>
                        <a:t>Convert”. </a:t>
                      </a:r>
                      <a:r>
                        <a:rPr lang="en-US" sz="1200" dirty="0"/>
                        <a:t> Set the output format in the top right corner of the conversion dialog to EPUB or AZW3 and click </a:t>
                      </a:r>
                      <a:r>
                        <a:rPr lang="en-US" sz="1200" b="1" dirty="0">
                          <a:solidFill>
                            <a:srgbClr val="000000"/>
                          </a:solidFill>
                          <a:latin typeface="Ubuntu"/>
                        </a:rPr>
                        <a:t>“OK”</a:t>
                      </a: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613833">
                <a:tc>
                  <a:txBody>
                    <a:bodyPr/>
                    <a:lstStyle/>
                    <a:p>
                      <a:pPr>
                        <a:buNone/>
                      </a:pPr>
                      <a:r>
                        <a:rPr lang="en-US" sz="1200" dirty="0"/>
                        <a:t>Demonstration of DOCX support in calibre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Sheet2</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334818">
                <a:tc>
                  <a:txBody>
                    <a:bodyPr/>
                    <a:lstStyle/>
                    <a:p>
                      <a:pPr>
                        <a:buNone/>
                      </a:pPr>
                      <a:r>
                        <a:rPr lang="en-US" sz="1200" dirty="0"/>
                        <a:t>Text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Inline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Here, we demonstrate various types of inline text formatting and the use of embedded fonts.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solidFill>
                            <a:srgbClr val="000000"/>
                          </a:solidFill>
                          <a:latin typeface="Ubuntu"/>
                        </a:rPr>
                        <a:t>Here is some </a:t>
                      </a:r>
                      <a:r>
                        <a:rPr lang="en-US" sz="1200" b="1" dirty="0">
                          <a:solidFill>
                            <a:srgbClr val="000000"/>
                          </a:solidFill>
                          <a:latin typeface="Ubuntu"/>
                        </a:rPr>
                        <a:t>bold, </a:t>
                      </a:r>
                      <a:r>
                        <a:rPr lang="en-US" sz="1200" i="1" dirty="0">
                          <a:solidFill>
                            <a:srgbClr val="000000"/>
                          </a:solidFill>
                          <a:latin typeface="Ubuntu"/>
                        </a:rPr>
                        <a:t>italic, </a:t>
                      </a:r>
                      <a:r>
                        <a:rPr lang="en-US" sz="1200" b="1" i="1" dirty="0">
                          <a:solidFill>
                            <a:srgbClr val="000000"/>
                          </a:solidFill>
                          <a:latin typeface="Ubuntu"/>
                        </a:rPr>
                        <a:t>bold-italic, </a:t>
                      </a:r>
                      <a:r>
                        <a:rPr lang="en-US" sz="1200" u="sng" dirty="0">
                          <a:solidFill>
                            <a:srgbClr val="000000"/>
                          </a:solidFill>
                          <a:latin typeface="Ubuntu"/>
                        </a:rPr>
                        <a:t>underlined </a:t>
                      </a:r>
                      <a:r>
                        <a:rPr lang="en-US" sz="1200" dirty="0">
                          <a:solidFill>
                            <a:srgbClr val="000000"/>
                          </a:solidFill>
                          <a:latin typeface="Ubuntu"/>
                        </a:rPr>
                        <a:t>and </a:t>
                      </a:r>
                      <a:r>
                        <a:rPr lang="en-US" sz="1200" strike="sngStrike" dirty="0">
                          <a:solidFill>
                            <a:srgbClr val="000000"/>
                          </a:solidFill>
                          <a:latin typeface="Ubuntu"/>
                        </a:rPr>
                        <a:t>struck out </a:t>
                      </a:r>
                      <a:r>
                        <a:rPr lang="en-US" sz="1200" dirty="0">
                          <a:solidFill>
                            <a:srgbClr val="000000"/>
                          </a:solidFill>
                          <a:latin typeface="Ubuntu"/>
                        </a:rPr>
                        <a:t> text. Then, we have a super</a:t>
                      </a:r>
                      <a:r>
                        <a:rPr lang="en-US" sz="900" dirty="0">
                          <a:solidFill>
                            <a:srgbClr val="000000"/>
                          </a:solidFill>
                          <a:latin typeface="Ubuntu"/>
                        </a:rPr>
                        <a:t>script</a:t>
                      </a:r>
                      <a:r>
                        <a:rPr lang="en-US" sz="1200" dirty="0">
                          <a:solidFill>
                            <a:srgbClr val="000000"/>
                          </a:solidFill>
                          <a:latin typeface="Ubuntu"/>
                        </a:rPr>
                        <a:t> and a sub</a:t>
                      </a:r>
                      <a:r>
                        <a:rPr lang="en-US" sz="900" dirty="0">
                          <a:solidFill>
                            <a:srgbClr val="000000"/>
                          </a:solidFill>
                          <a:latin typeface="Ubuntu"/>
                        </a:rPr>
                        <a:t>script</a:t>
                      </a:r>
                      <a:r>
                        <a:rPr lang="en-US" sz="1200" dirty="0">
                          <a:solidFill>
                            <a:srgbClr val="000000"/>
                          </a:solidFill>
                          <a:latin typeface="Ubuntu"/>
                        </a:rPr>
                        <a:t>. Now we see some </a:t>
                      </a:r>
                      <a:r>
                        <a:rPr lang="en-US" sz="1200" dirty="0">
                          <a:solidFill>
                            <a:srgbClr val="FF0000"/>
                          </a:solidFill>
                          <a:latin typeface="Ubuntu"/>
                        </a:rPr>
                        <a:t>red</a:t>
                      </a:r>
                      <a:r>
                        <a:rPr lang="en-US" sz="1200" dirty="0">
                          <a:solidFill>
                            <a:srgbClr val="000000"/>
                          </a:solidFill>
                          <a:latin typeface="Ubuntu"/>
                        </a:rPr>
                        <a:t>, </a:t>
                      </a:r>
                      <a:r>
                        <a:rPr lang="en-US" sz="1200" dirty="0">
                          <a:solidFill>
                            <a:srgbClr val="92D050"/>
                          </a:solidFill>
                          <a:latin typeface="Ubuntu"/>
                        </a:rPr>
                        <a:t>green</a:t>
                      </a:r>
                      <a:r>
                        <a:rPr lang="en-US" sz="1200" dirty="0">
                          <a:solidFill>
                            <a:srgbClr val="000000"/>
                          </a:solidFill>
                          <a:latin typeface="Ubuntu"/>
                        </a:rPr>
                        <a:t> and </a:t>
                      </a:r>
                      <a:r>
                        <a:rPr lang="en-US" sz="1200" dirty="0">
                          <a:solidFill>
                            <a:srgbClr val="0070C0"/>
                          </a:solidFill>
                          <a:latin typeface="Ubuntu"/>
                        </a:rPr>
                        <a:t>blue</a:t>
                      </a:r>
                      <a:r>
                        <a:rPr lang="en-US" sz="1200" dirty="0">
                          <a:solidFill>
                            <a:srgbClr val="000000"/>
                          </a:solidFill>
                          <a:latin typeface="Ubuntu"/>
                        </a:rPr>
                        <a:t> text. Some text with a yellow highlight. Some text in a box. Some text in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inverse video</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 paragraph with styled text: </a:t>
                      </a:r>
                      <a:r>
                        <a:rPr lang="en-US" sz="1200" i="1" dirty="0">
                          <a:solidFill>
                            <a:srgbClr val="808080"/>
                          </a:solidFill>
                          <a:latin typeface="Ubuntu"/>
                        </a:rPr>
                        <a:t>subtle emphasis  </a:t>
                      </a:r>
                      <a:r>
                        <a:rPr lang="en-US" sz="1200" dirty="0"/>
                        <a:t>followed by </a:t>
                      </a:r>
                      <a:r>
                        <a:rPr lang="en-US" sz="1200" b="1" dirty="0">
                          <a:solidFill>
                            <a:srgbClr val="000000"/>
                          </a:solidFill>
                          <a:latin typeface="Ubuntu"/>
                        </a:rPr>
                        <a:t>strong text </a:t>
                      </a:r>
                      <a:r>
                        <a:rPr lang="en-US" sz="1200" dirty="0"/>
                        <a:t>and </a:t>
                      </a:r>
                      <a:r>
                        <a:rPr lang="en-US" sz="1200" b="1" i="1" dirty="0">
                          <a:solidFill>
                            <a:srgbClr val="4F81BD"/>
                          </a:solidFill>
                          <a:latin typeface="Ubuntu"/>
                        </a:rPr>
                        <a:t>intense emphasis</a:t>
                      </a:r>
                      <a:r>
                        <a:rPr lang="en-US" sz="1200" dirty="0"/>
                        <a:t>. This paragraph uses document wide styles for styling rather than inline text properties as demonstrated in the previous paragraph — calibre can handle both with equal ease.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Fun with fonts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document has embedded the Ubuntu font family. The body text is in the Ubuntu typeface, here is </a:t>
                      </a:r>
                      <a:r>
                        <a:rPr lang="en-US" sz="1200" dirty="0">
                          <a:solidFill>
                            <a:srgbClr val="000000"/>
                          </a:solidFill>
                          <a:latin typeface="Ubuntu Mono"/>
                        </a:rPr>
                        <a:t>some text in the Ubuntu Mono typeface, notice how every letter has the same width, even i and m</a:t>
                      </a:r>
                      <a:r>
                        <a:rPr lang="en-US" sz="1200" dirty="0"/>
                        <a:t>. Every embedded font will automatically be embedded in the output ebook during conversion.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Paragraph level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You can do crazy things with paragraphs, if the urge strikes you. For instance this paragraph is right aligned and has a right border. It has also been given a light gray background.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Sheet2</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1841500">
                <a:tc>
                  <a:txBody>
                    <a:bodyPr/>
                    <a:lstStyle/>
                    <a:p>
                      <a:pPr>
                        <a:buNone/>
                      </a:pPr>
                      <a:r>
                        <a:rPr lang="en-US" sz="1200" dirty="0"/>
                        <a:t>Text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1841500">
                <a:tc>
                  <a:txBody>
                    <a:bodyPr/>
                    <a:lstStyle/>
                    <a:p>
                      <a:pPr>
                        <a:buNone/>
                      </a:pPr>
                      <a:r>
                        <a:rPr lang="en-US" sz="1200" dirty="0"/>
                        <a:t>For the lovers of poetry amongst you, paragraphs with hanging indents, like this often</a:t>
                      </a:r>
                      <a:br>
                        <a:rPr lang="en-US" dirty="0"/>
                      </a:br>
                      <a:r>
                        <a:rPr lang="en-US" sz="1200" dirty="0"/>
                        <a:t>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Sheet3</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064000"/>
                <a:gridCol w="914400"/>
                <a:gridCol w="812800"/>
                <a:gridCol w="812800"/>
                <a:gridCol w="812800"/>
                <a:gridCol w="812800"/>
              </a:tblGrid>
              <a:tr h="334818">
                <a:tc>
                  <a:txBody>
                    <a:bodyPr/>
                    <a:lstStyle/>
                    <a:p>
                      <a:pPr>
                        <a:buNone/>
                      </a:pPr>
                      <a:r>
                        <a:rPr lang="en-US" sz="1200" dirty="0"/>
                        <a:t>Tables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Pens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Pencils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Highlighter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Scissors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Now let’s look at a fancier table—one with alternating row colors and partial borders. This table is stretched out to take 100% of the available width.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City or Town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Sheet3</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064000"/>
                <a:gridCol w="914400"/>
                <a:gridCol w="812800"/>
                <a:gridCol w="812800"/>
                <a:gridCol w="812800"/>
                <a:gridCol w="812800"/>
              </a:tblGrid>
              <a:tr h="736600">
                <a:tc>
                  <a:txBody>
                    <a:bodyPr/>
                    <a:lstStyle/>
                    <a:p>
                      <a:pPr>
                        <a:buNone/>
                      </a:pPr>
                      <a:r>
                        <a:rPr lang="en-US" sz="1200" dirty="0"/>
                        <a:t>Tables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Sheet4</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259248"/>
                <a:gridCol w="1140737"/>
                <a:gridCol w="3259248"/>
                <a:gridCol w="570368"/>
              </a:tblGrid>
              <a:tr h="334818">
                <a:tc>
                  <a:txBody>
                    <a:bodyPr/>
                    <a:lstStyle/>
                    <a:p>
                      <a:pPr>
                        <a:buNone/>
                      </a:pPr>
                      <a:r>
                        <a:rPr lang="en-US" sz="1200" dirty="0"/>
                        <a:t>Next, we see a table with special formatting in various locations. Notice how the formatting for the header row and sub header rows is preserved.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Undergraduate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Oak Institute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Elm 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Total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998 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Source:</a:t>
                      </a:r>
                      <a:r>
                        <a:rPr lang="en-US" sz="1000" dirty="0">
                          <a:solidFill>
                            <a:srgbClr val="000000"/>
                          </a:solidFill>
                          <a:latin typeface="Ubuntu"/>
                        </a:rPr>
                        <a:t> Fictitious data, for illustration purposes only </a:t>
                      </a:r>
                      <a:endParaRPr lang="en-US" sz="10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Next, we have something a little more complex, a nested table, i.e. a table inside another table. Additionally, the inner table has some of its cells merged. The table is displayed horizontally centered.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Sheet4</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259248"/>
                <a:gridCol w="1140737"/>
                <a:gridCol w="3259248"/>
                <a:gridCol w="570368"/>
              </a:tblGrid>
              <a:tr h="736600">
                <a:tc>
                  <a:txBody>
                    <a:bodyPr/>
                    <a:lstStyle/>
                    <a:p>
                      <a:pPr>
                        <a:buNone/>
                      </a:pPr>
                      <a:r>
                        <a:rPr lang="en-US" sz="1200" dirty="0"/>
                        <a:t>Next, we see a table with special formatting in various locations. Notice how the formatting for the header row and sub header rows is preserved.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73660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Sheet5</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578087"/>
                <a:gridCol w="357809"/>
                <a:gridCol w="357809"/>
                <a:gridCol w="357809"/>
                <a:gridCol w="357809"/>
                <a:gridCol w="357809"/>
                <a:gridCol w="357809"/>
                <a:gridCol w="357809"/>
                <a:gridCol w="357809"/>
                <a:gridCol w="357809"/>
                <a:gridCol w="357809"/>
                <a:gridCol w="357809"/>
                <a:gridCol w="357809"/>
                <a:gridCol w="357809"/>
              </a:tblGrid>
              <a:tr h="334818">
                <a:tc>
                  <a:txBody>
                    <a:bodyPr/>
                    <a:lstStyle/>
                    <a:p>
                      <a:pPr>
                        <a:buNone/>
                      </a:pPr>
                      <a:r>
                        <a:rPr lang="en-US" sz="1200" dirty="0"/>
                        <a:t>We end with a fancy calendar, note how much of the original formatting is preserved. Note that this table will only display correctly on relatively wide screens. In general, very wide tables or tables whose cells have fixed width requirements don’t fare well in ebooks.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gridSpan="13">
                  <a:txBody>
                    <a:bodyPr/>
                    <a:lstStyle/>
                    <a:p>
                      <a:pPr>
                        <a:buNone/>
                      </a:pPr>
                      <a:r>
                        <a:rPr lang="en-US" sz="1200" dirty="0"/>
                        <a:t>December 2007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Sheet5</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3578087"/>
                <a:gridCol w="357809"/>
                <a:gridCol w="357809"/>
                <a:gridCol w="357809"/>
                <a:gridCol w="357809"/>
                <a:gridCol w="357809"/>
                <a:gridCol w="357809"/>
                <a:gridCol w="357809"/>
                <a:gridCol w="357809"/>
                <a:gridCol w="357809"/>
                <a:gridCol w="357809"/>
                <a:gridCol w="357809"/>
                <a:gridCol w="357809"/>
                <a:gridCol w="357809"/>
              </a:tblGrid>
              <a:tr h="920750">
                <a:tc>
                  <a:txBody>
                    <a:bodyPr/>
                    <a:lstStyle/>
                    <a:p>
                      <a:pPr>
                        <a:buNone/>
                      </a:pPr>
                      <a:r>
                        <a:rPr lang="en-US" sz="1200" dirty="0"/>
                        <a:t>We end with a fancy calendar, note how much of the original formatting is preserved. Note that this table will only display correctly on relatively wide screens. In general, very wide tables or tables whose cells have fixed width requirements don’t fare well in ebooks.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t>23 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t>30 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Sheet6</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409222">
                <a:tc>
                  <a:txBody>
                    <a:bodyPr/>
                    <a:lstStyle/>
                    <a:p>
                      <a:pPr>
                        <a:buNone/>
                      </a:pPr>
                      <a:r>
                        <a:rPr lang="en-US" sz="1200" dirty="0"/>
                        <a:t>Structural Elements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Miscellaneous structural elements you can add to your document, like footnotes, endnotes, dropcaps and the like.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Footnotes &amp; Endnotes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Footnotes</a:t>
                      </a:r>
                      <a:r>
                        <a:rPr lang="en-US" sz="900" dirty="0">
                          <a:solidFill>
                            <a:srgbClr val="000000"/>
                          </a:solidFill>
                          <a:latin typeface="Ubuntu"/>
                        </a:rPr>
                        <a:t>1</a:t>
                      </a:r>
                      <a:r>
                        <a:rPr lang="en-US" sz="1200" dirty="0"/>
                        <a:t> and endnotes</a:t>
                      </a:r>
                      <a:r>
                        <a:rPr lang="en-US" sz="900" dirty="0">
                          <a:solidFill>
                            <a:srgbClr val="000000"/>
                          </a:solidFill>
                          <a:latin typeface="Ubuntu"/>
                        </a:rPr>
                        <a:t>i</a:t>
                      </a:r>
                      <a:r>
                        <a:rPr lang="en-US" sz="1200" dirty="0"/>
                        <a:t> are automatically recognized and both are converted to endnotes, with backlinks for maximum ease of use in ebook devices. </a:t>
                      </a:r>
                      <a:endParaRPr lang="en-US" sz="9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Dropcaps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rop caps are used to emphasize the leading paragraph at the start of a section. In Word it is possible to specify how many lines of text a drop-cap should use.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Links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09222">
                <a:tc>
                  <a:txBody>
                    <a:bodyPr/>
                    <a:lstStyle/>
                    <a:p>
                      <a:pPr>
                        <a:buNone/>
                      </a:pPr>
                      <a:r>
                        <a:rPr lang="en-US" sz="1200" dirty="0"/>
                        <a:t>Two kinds of links are possible, those that refer to an external website and those that refer to locations inside the document itself. Both are supported by calibre. For example, here is a link pointing to the </a:t>
                      </a:r>
                      <a:r>
                        <a:rPr lang="en-US" sz="1200" u="sng" dirty="0">
                          <a:solidFill>
                            <a:srgbClr val="0000FF"/>
                          </a:solidFill>
                          <a:latin typeface="Ubuntu"/>
                        </a:rPr>
                        <a:t>calibre download page</a:t>
                      </a:r>
                      <a:r>
                        <a:rPr lang="en-US" sz="1200" dirty="0"/>
                        <a:t>. Then we have a link that points back to the section on </a:t>
                      </a:r>
                      <a:r>
                        <a:rPr lang="en-US" sz="1200" u="sng" dirty="0">
                          <a:solidFill>
                            <a:srgbClr val="0000FF"/>
                          </a:solidFill>
                          <a:latin typeface="Ubuntu"/>
                        </a:rPr>
                        <a:t>paragraph level formatting</a:t>
                      </a:r>
                      <a:r>
                        <a:rPr lang="en-US" sz="1200" dirty="0"/>
                        <a:t> in this document.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Sheet7</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8229600"/>
              </a:tblGrid>
              <a:tr h="920750">
                <a:tc>
                  <a:txBody>
                    <a:bodyPr/>
                    <a:lstStyle/>
                    <a:p>
                      <a:pPr>
                        <a:buNone/>
                      </a:pPr>
                      <a:r>
                        <a:rPr lang="en-US" sz="1200" dirty="0"/>
                        <a:t>Images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t>Centered images like this are useful for large pictures that should be a focus of attention.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920750">
                <a:tc>
                  <a:txBody>
                    <a:bodyPr/>
                    <a:lstStyle/>
                    <a:p>
                      <a:pPr>
                        <a:buNone/>
                      </a:pPr>
                      <a:r>
                        <a:rPr lang="en-US" sz="1200" dirty="0"/>
                        <a:t>There is no analogous technology in ebooks, so the conversion will usually end up placing the image either centered or floating close to the point in the text where it was </a:t>
                      </a:r>
                      <a:r>
                        <a:rPr lang="en-US" sz="1200" i="1" dirty="0">
                          <a:solidFill>
                            <a:srgbClr val="808080"/>
                          </a:solidFill>
                          <a:latin typeface="Ubuntu"/>
                        </a:rPr>
                        <a:t>inserted</a:t>
                      </a:r>
                      <a:r>
                        <a:rPr lang="en-US" sz="1200" dirty="0"/>
                        <a:t>, not necessarily where it appears on the page in Word.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334818">
                <a:tc>
                  <a:txBody>
                    <a:bodyPr/>
                    <a:lstStyle/>
                    <a:p>
                      <a:pPr>
                        <a:buNone/>
                      </a:pPr>
                      <a:r>
                        <a:rPr lang="en-US" sz="1200" dirty="0"/>
                        <a:t>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All types of lists are supported by the conversion, with the exception of lists that use fancy bullets, these get converted to regular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Bulleted List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Numbered List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Multi-level 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334818">
                <a:tc>
                  <a:txBody>
                    <a:bodyPr/>
                    <a:lstStyle/>
                    <a:p>
                      <a:pPr>
                        <a:buNone/>
                      </a:pPr>
                      <a:r>
                        <a:rPr lang="en-US" sz="1200" dirty="0"/>
                        <a:t>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 Multi-level list with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bullet uses an image as the bullet 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Sheet8</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114800"/>
                <a:gridCol w="4114800"/>
              </a:tblGrid>
              <a:tr h="526143">
                <a:tc>
                  <a:txBody>
                    <a:bodyPr/>
                    <a:lstStyle/>
                    <a:p>
                      <a:pPr>
                        <a:buNone/>
                      </a:pPr>
                      <a:r>
                        <a:rPr lang="en-US" sz="1200" dirty="0"/>
                        <a:t>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Continued 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An interruption in our regularly scheduled listing, for this essential and very relevant public service announcement.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iii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526143">
                <a:tc>
                  <a:txBody>
                    <a:bodyPr/>
                    <a:lstStyle/>
                    <a:p>
                      <a:pPr>
                        <a:buNone/>
                      </a:pPr>
                      <a:r>
                        <a:rPr lang="en-US" sz="1200" dirty="0"/>
                        <a:t>iv</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Chart_Sheet</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057400"/>
                <a:gridCol w="2057400"/>
                <a:gridCol w="1645920"/>
                <a:gridCol w="1645920"/>
                <a:gridCol w="822960"/>
              </a:tblGrid>
              <a:tr h="613833">
                <a:tc>
                  <a:txBody>
                    <a:bodyPr/>
                    <a:lstStyle/>
                    <a:p>
                      <a:pPr>
                        <a:buNone/>
                      </a:pPr>
                      <a:r>
                        <a:rPr lang="en-US" sz="1200" dirty="0"/>
                        <a:t>Charts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Category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Category 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16</Slide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2025-11-28T15:36:44Z</dcterms:created>
  <dcterms:modified xsi:type="dcterms:W3CDTF">2024-01-01T00:00:00Z</dcterms:modified>
</cp:coreProperties>
</file>