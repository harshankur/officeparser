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theme" Target="theme/theme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This document demonstrates the ability of the </a:t>
                      </a:r>
                      <a:r>
                        <a:rPr lang="en-US" sz="1200" dirty="0">
                          <a:solidFill>
                            <a:srgbClr val="000000"/>
                          </a:solidFill>
                          <a:latin typeface="Ubuntu"/>
                        </a:rPr>
                        <a:t>calibre</a:t>
                      </a:r>
                      <a:r>
                        <a:rPr lang="en-US" sz="1200" dirty="0">
                          <a:solidFill>
                            <a:srgbClr val="000000"/>
                          </a:solidFill>
                          <a:latin typeface="Ubuntu"/>
                        </a:rPr>
                        <a:t>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To see the DOCX conversion in action, simply add this file to calibre using the </a:t>
                      </a:r>
                      <a:r>
                        <a:rPr lang="en-US" sz="1200" b="1" dirty="0">
                          <a:solidFill>
                            <a:srgbClr val="000000"/>
                          </a:solidFill>
                          <a:latin typeface="Ubuntu"/>
                        </a:rPr>
                        <a:t>“Add Books” </a:t>
                      </a:r>
                      <a:r>
                        <a:rPr lang="en-US" sz="1200" dirty="0">
                          <a:solidFill>
                            <a:srgbClr val="000000"/>
                          </a:solidFill>
                          <a:latin typeface="Ubuntu"/>
                        </a:rPr>
                        <a:t>button and then click “</a:t>
                      </a:r>
                      <a:r>
                        <a:rPr lang="en-US" sz="1200" b="1" dirty="0">
                          <a:solidFill>
                            <a:srgbClr val="000000"/>
                          </a:solidFill>
                          <a:latin typeface="Ubuntu"/>
                        </a:rPr>
                        <a:t>Convert”. </a:t>
                      </a:r>
                      <a:r>
                        <a:rPr lang="en-US" sz="1200" dirty="0">
                          <a:solidFill>
                            <a:srgbClr val="000000"/>
                          </a:solidFill>
                          <a:latin typeface="Ubuntu"/>
                        </a:rPr>
                        <a:t> Set the output format in the top right corner of the conversion dialog to EPUB or AZW3 and click </a:t>
                      </a:r>
                      <a:r>
                        <a:rPr lang="en-US" sz="1200" b="1" dirty="0">
                          <a:solidFill>
                            <a:srgbClr val="000000"/>
                          </a:solidFill>
                          <a:latin typeface="Ubuntu"/>
                        </a:rPr>
                        <a:t>“OK”</a:t>
                      </a: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613833">
                <a:tc>
                  <a:txBody>
                    <a:bodyPr/>
                    <a:lstStyle/>
                    <a:p>
                      <a:pPr>
                        <a:buNone/>
                      </a:pPr>
                      <a:r>
                        <a:rPr lang="en-US" sz="2600" dirty="0">
                          <a:solidFill>
                            <a:srgbClr val="17365D"/>
                          </a:solidFill>
                          <a:latin typeface="Ubuntu"/>
                        </a:rPr>
                        <a:t>Demonstration of DOCX support in calibre </a:t>
                      </a:r>
                      <a:endParaRPr lang="en-US" sz="26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334818">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Inline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Here is some </a:t>
                      </a:r>
                      <a:r>
                        <a:rPr lang="en-US" sz="1200" b="1" dirty="0">
                          <a:solidFill>
                            <a:srgbClr val="000000"/>
                          </a:solidFill>
                          <a:latin typeface="Ubuntu"/>
                        </a:rPr>
                        <a:t>bold, </a:t>
                      </a:r>
                      <a:r>
                        <a:rPr lang="en-US" sz="1200" i="1" dirty="0">
                          <a:solidFill>
                            <a:srgbClr val="000000"/>
                          </a:solidFill>
                          <a:latin typeface="Ubuntu"/>
                        </a:rPr>
                        <a:t>italic, </a:t>
                      </a:r>
                      <a:r>
                        <a:rPr lang="en-US" sz="1200" b="1" i="1" dirty="0">
                          <a:solidFill>
                            <a:srgbClr val="000000"/>
                          </a:solidFill>
                          <a:latin typeface="Ubuntu"/>
                        </a:rPr>
                        <a:t>bold-italic, </a:t>
                      </a:r>
                      <a:r>
                        <a:rPr lang="en-US" sz="1200" u="sng" dirty="0">
                          <a:solidFill>
                            <a:srgbClr val="000000"/>
                          </a:solidFill>
                          <a:latin typeface="Ubuntu"/>
                        </a:rPr>
                        <a:t>underlined </a:t>
                      </a:r>
                      <a:r>
                        <a:rPr lang="en-US" sz="1200" dirty="0">
                          <a:solidFill>
                            <a:srgbClr val="000000"/>
                          </a:solidFill>
                          <a:latin typeface="Ubuntu"/>
                        </a:rPr>
                        <a:t>and </a:t>
                      </a:r>
                      <a:r>
                        <a:rPr lang="en-US" sz="1200" strike="sngStrike" dirty="0">
                          <a:solidFill>
                            <a:srgbClr val="000000"/>
                          </a:solidFill>
                          <a:latin typeface="Ubuntu"/>
                        </a:rPr>
                        <a:t>struck out </a:t>
                      </a:r>
                      <a:r>
                        <a:rPr lang="en-US" sz="1200" dirty="0">
                          <a:solidFill>
                            <a:srgbClr val="000000"/>
                          </a:solidFill>
                          <a:latin typeface="Ubuntu"/>
                        </a:rPr>
                        <a:t> text. Then, we have a super</a:t>
                      </a:r>
                      <a:r>
                        <a:rPr lang="en-US" sz="900" dirty="0">
                          <a:solidFill>
                            <a:srgbClr val="000000"/>
                          </a:solidFill>
                          <a:latin typeface="Ubuntu"/>
                        </a:rPr>
                        <a:t>script</a:t>
                      </a:r>
                      <a:r>
                        <a:rPr lang="en-US" sz="1200" dirty="0">
                          <a:solidFill>
                            <a:srgbClr val="000000"/>
                          </a:solidFill>
                          <a:latin typeface="Ubuntu"/>
                        </a:rPr>
                        <a:t> and a sub</a:t>
                      </a:r>
                      <a:r>
                        <a:rPr lang="en-US" sz="900" dirty="0">
                          <a:solidFill>
                            <a:srgbClr val="000000"/>
                          </a:solidFill>
                          <a:latin typeface="Ubuntu"/>
                        </a:rPr>
                        <a:t>script</a:t>
                      </a:r>
                      <a:r>
                        <a:rPr lang="en-US" sz="1200" dirty="0">
                          <a:solidFill>
                            <a:srgbClr val="000000"/>
                          </a:solidFill>
                          <a:latin typeface="Ubuntu"/>
                        </a:rPr>
                        <a:t>. Now we see some </a:t>
                      </a:r>
                      <a:r>
                        <a:rPr lang="en-US" sz="1200" dirty="0">
                          <a:solidFill>
                            <a:srgbClr val="FF0000"/>
                          </a:solidFill>
                          <a:latin typeface="Ubuntu"/>
                        </a:rPr>
                        <a:t>red</a:t>
                      </a:r>
                      <a:r>
                        <a:rPr lang="en-US" sz="1200" dirty="0">
                          <a:solidFill>
                            <a:srgbClr val="000000"/>
                          </a:solidFill>
                          <a:latin typeface="Ubuntu"/>
                        </a:rPr>
                        <a:t>, </a:t>
                      </a:r>
                      <a:r>
                        <a:rPr lang="en-US" sz="1200" dirty="0">
                          <a:solidFill>
                            <a:srgbClr val="92D050"/>
                          </a:solidFill>
                          <a:latin typeface="Ubuntu"/>
                        </a:rPr>
                        <a:t>green</a:t>
                      </a:r>
                      <a:r>
                        <a:rPr lang="en-US" sz="1200" dirty="0">
                          <a:solidFill>
                            <a:srgbClr val="000000"/>
                          </a:solidFill>
                          <a:latin typeface="Ubuntu"/>
                        </a:rPr>
                        <a:t> and </a:t>
                      </a:r>
                      <a:r>
                        <a:rPr lang="en-US" sz="1200" dirty="0">
                          <a:solidFill>
                            <a:srgbClr val="0070C0"/>
                          </a:solidFill>
                          <a:latin typeface="Ubuntu"/>
                        </a:rPr>
                        <a:t>blue</a:t>
                      </a:r>
                      <a:r>
                        <a:rPr lang="en-US" sz="1200" dirty="0">
                          <a:solidFill>
                            <a:srgbClr val="000000"/>
                          </a:solidFill>
                          <a:latin typeface="Ubuntu"/>
                        </a:rPr>
                        <a:t>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FFFFFF"/>
                          </a:solidFill>
                          <a:latin typeface="Ubuntu"/>
                        </a:rPr>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 paragraph with styled text: </a:t>
                      </a:r>
                      <a:r>
                        <a:rPr lang="en-US" sz="1200" i="1" dirty="0">
                          <a:solidFill>
                            <a:srgbClr val="808080"/>
                          </a:solidFill>
                          <a:latin typeface="Ubuntu"/>
                        </a:rPr>
                        <a:t>subtle emphasis  </a:t>
                      </a:r>
                      <a:r>
                        <a:rPr lang="en-US" sz="1200" dirty="0">
                          <a:solidFill>
                            <a:srgbClr val="000000"/>
                          </a:solidFill>
                          <a:latin typeface="Ubuntu"/>
                        </a:rPr>
                        <a:t>followed by </a:t>
                      </a:r>
                      <a:r>
                        <a:rPr lang="en-US" sz="1200" b="1" dirty="0">
                          <a:solidFill>
                            <a:srgbClr val="000000"/>
                          </a:solidFill>
                          <a:latin typeface="Ubuntu"/>
                        </a:rPr>
                        <a:t>strong text </a:t>
                      </a:r>
                      <a:r>
                        <a:rPr lang="en-US" sz="1200" dirty="0">
                          <a:solidFill>
                            <a:srgbClr val="000000"/>
                          </a:solidFill>
                          <a:latin typeface="Ubuntu"/>
                        </a:rPr>
                        <a:t>and </a:t>
                      </a:r>
                      <a:r>
                        <a:rPr lang="en-US" sz="1200" b="1" i="1" dirty="0">
                          <a:solidFill>
                            <a:srgbClr val="4F81BD"/>
                          </a:solidFill>
                          <a:latin typeface="Ubuntu"/>
                        </a:rPr>
                        <a:t>intense emphasis</a:t>
                      </a:r>
                      <a:r>
                        <a:rPr lang="en-US" sz="1200" dirty="0">
                          <a:solidFill>
                            <a:srgbClr val="000000"/>
                          </a:solidFill>
                          <a:latin typeface="Ubuntu"/>
                        </a:rPr>
                        <a:t>.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Fun with fonts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This document has embedded the Ubuntu font family. The body text is in the Ubuntu typeface, here is </a:t>
                      </a:r>
                      <a:r>
                        <a:rPr lang="en-US" sz="1200" dirty="0">
                          <a:solidFill>
                            <a:srgbClr val="000000"/>
                          </a:solidFill>
                          <a:latin typeface="Ubuntu Mono"/>
                        </a:rPr>
                        <a:t>some text in the Ubuntu Mono typeface, notice how every letter has the same width, even i and m</a:t>
                      </a:r>
                      <a:r>
                        <a:rPr lang="en-US" sz="1200" dirty="0">
                          <a:solidFill>
                            <a:srgbClr val="000000"/>
                          </a:solidFill>
                          <a:latin typeface="Ubuntu"/>
                        </a:rPr>
                        <a:t>.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Paragraph level formatting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Sheet2</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1841500">
                <a:tc>
                  <a:txBody>
                    <a:bodyPr/>
                    <a:lstStyle/>
                    <a:p>
                      <a:pPr>
                        <a:buNone/>
                      </a:pPr>
                      <a:r>
                        <a:rPr lang="en-US" sz="1400" b="1" dirty="0">
                          <a:solidFill>
                            <a:srgbClr val="365F91"/>
                          </a:solidFill>
                          <a:latin typeface="Ubuntu"/>
                        </a:rPr>
                        <a:t>Text Formatting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1841500">
                <a:tc>
                  <a:txBody>
                    <a:bodyPr/>
                    <a:lstStyle/>
                    <a:p>
                      <a:pPr>
                        <a:buNone/>
                      </a:pPr>
                      <a:r>
                        <a:rPr lang="en-US" sz="1200" dirty="0">
                          <a:solidFill>
                            <a:srgbClr val="000000"/>
                          </a:solidFill>
                          <a:latin typeface="Ubuntu"/>
                        </a:rPr>
                        <a:t>For the lovers of poetry amongst you, paragraphs with hanging indents, like this often</a:t>
                      </a:r>
                      <a:br>
                        <a:rPr lang="en-US" dirty="0"/>
                      </a:br>
                      <a:r>
                        <a:rPr lang="en-US" sz="1200" dirty="0">
                          <a:solidFill>
                            <a:srgbClr val="000000"/>
                          </a:solidFill>
                          <a:latin typeface="Ubuntu"/>
                        </a:rPr>
                        <a:t>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334818">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Sheet3</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064000"/>
                <a:gridCol w="914400"/>
                <a:gridCol w="812800"/>
                <a:gridCol w="812800"/>
                <a:gridCol w="812800"/>
                <a:gridCol w="812800"/>
              </a:tblGrid>
              <a:tr h="736600">
                <a:tc>
                  <a:txBody>
                    <a:bodyPr/>
                    <a:lstStyle/>
                    <a:p>
                      <a:pPr>
                        <a:buNone/>
                      </a:pPr>
                      <a:r>
                        <a:rPr lang="en-US" sz="1400" b="1" dirty="0">
                          <a:solidFill>
                            <a:srgbClr val="365F91"/>
                          </a:solidFill>
                          <a:latin typeface="Ubuntu"/>
                        </a:rPr>
                        <a:t>Tables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334818">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b="1" dirty="0">
                          <a:solidFill>
                            <a:srgbClr val="FFFFFF"/>
                          </a:solidFill>
                          <a:latin typeface="Ubuntu"/>
                        </a:rPr>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b="1" dirty="0">
                          <a:solidFill>
                            <a:srgbClr val="FFFFFF"/>
                          </a:solidFill>
                          <a:latin typeface="Ubuntu"/>
                        </a:rPr>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Undergraduate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i="1" dirty="0">
                          <a:solidFill>
                            <a:srgbClr val="808080"/>
                          </a:solidFill>
                          <a:latin typeface="Ubuntu"/>
                        </a:rPr>
                        <a:t>Graduate</a:t>
                      </a:r>
                      <a:r>
                        <a:rPr lang="en-US" sz="1200" dirty="0">
                          <a:solidFill>
                            <a:srgbClr val="808080"/>
                          </a:solidFill>
                          <a:latin typeface="Ubuntu"/>
                        </a:rPr>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000" i="1" dirty="0">
                          <a:solidFill>
                            <a:srgbClr val="808080"/>
                          </a:solidFill>
                          <a:latin typeface="Ubuntu"/>
                        </a:rPr>
                        <a:t>Source:</a:t>
                      </a:r>
                      <a:r>
                        <a:rPr lang="en-US" sz="1000" dirty="0">
                          <a:solidFill>
                            <a:srgbClr val="000000"/>
                          </a:solidFill>
                          <a:latin typeface="Ubuntu"/>
                        </a:rPr>
                        <a:t> Fictitious data, for illustration purposes only </a:t>
                      </a:r>
                      <a:endParaRPr lang="en-US" sz="10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Sheet4</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259248"/>
                <a:gridCol w="1140737"/>
                <a:gridCol w="3259248"/>
                <a:gridCol w="570368"/>
              </a:tblGrid>
              <a:tr h="736600">
                <a:tc>
                  <a:txBody>
                    <a:bodyPr/>
                    <a:lstStyle/>
                    <a:p>
                      <a:pPr>
                        <a:buNone/>
                      </a:pPr>
                      <a:r>
                        <a:rPr lang="en-US" sz="1200" dirty="0">
                          <a:solidFill>
                            <a:srgbClr val="000000"/>
                          </a:solidFill>
                          <a:latin typeface="Ubuntu"/>
                        </a:rPr>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r>
                        <a:rPr lang="en-US" sz="1200" dirty="0">
                          <a:solidFill>
                            <a:srgbClr val="000000"/>
                          </a:solidFill>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73660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334818">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gridSpan="13">
                  <a:txBody>
                    <a:bodyPr/>
                    <a:lstStyle/>
                    <a:p>
                      <a:pPr>
                        <a:buNone/>
                      </a:pPr>
                      <a:r>
                        <a:rPr lang="en-US" sz="1200" dirty="0">
                          <a:solidFill>
                            <a:srgbClr val="365F91"/>
                          </a:solidFill>
                          <a:latin typeface="Ubuntu"/>
                        </a:rPr>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365F91"/>
                          </a:solidFill>
                          <a:latin typeface="Ubuntu"/>
                        </a:rPr>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Sheet5</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3578087"/>
                <a:gridCol w="357809"/>
                <a:gridCol w="357809"/>
                <a:gridCol w="357809"/>
                <a:gridCol w="357809"/>
                <a:gridCol w="357809"/>
                <a:gridCol w="357809"/>
                <a:gridCol w="357809"/>
                <a:gridCol w="357809"/>
                <a:gridCol w="357809"/>
                <a:gridCol w="357809"/>
                <a:gridCol w="357809"/>
                <a:gridCol w="357809"/>
                <a:gridCol w="357809"/>
              </a:tblGrid>
              <a:tr h="920750">
                <a:tc>
                  <a:txBody>
                    <a:bodyPr/>
                    <a:lstStyle/>
                    <a:p>
                      <a:pPr>
                        <a:buNone/>
                      </a:pPr>
                      <a:r>
                        <a:rPr lang="en-US" sz="1200" dirty="0">
                          <a:solidFill>
                            <a:srgbClr val="000000"/>
                          </a:solidFill>
                          <a:latin typeface="Ubuntu"/>
                        </a:rPr>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solidFill>
                            <a:srgbClr val="7F7F7F"/>
                          </a:solidFill>
                          <a:latin typeface="Ubuntu"/>
                        </a:rPr>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365F91"/>
                          </a:solidFill>
                          <a:latin typeface="Ubuntu"/>
                        </a:rPr>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7F7F7F"/>
                          </a:solidFill>
                          <a:latin typeface="Ubuntu"/>
                        </a:rPr>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Sheet6</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409222">
                <a:tc>
                  <a:txBody>
                    <a:bodyPr/>
                    <a:lstStyle/>
                    <a:p>
                      <a:pPr>
                        <a:buNone/>
                      </a:pPr>
                      <a:r>
                        <a:rPr lang="en-US" sz="1400" b="1" dirty="0">
                          <a:solidFill>
                            <a:srgbClr val="365F91"/>
                          </a:solidFill>
                          <a:latin typeface="Ubuntu"/>
                        </a:rPr>
                        <a:t>Structural Elements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Footnotes &amp; Endnotes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Footnotes</a:t>
                      </a:r>
                      <a:r>
                        <a:rPr lang="en-US" sz="900" dirty="0">
                          <a:solidFill>
                            <a:srgbClr val="000000"/>
                          </a:solidFill>
                          <a:latin typeface="Ubuntu"/>
                        </a:rPr>
                        <a:t>1</a:t>
                      </a:r>
                      <a:r>
                        <a:rPr lang="en-US" sz="1200" dirty="0">
                          <a:solidFill>
                            <a:srgbClr val="000000"/>
                          </a:solidFill>
                          <a:latin typeface="Ubuntu"/>
                        </a:rPr>
                        <a:t> and endnotes</a:t>
                      </a:r>
                      <a:r>
                        <a:rPr lang="en-US" sz="900" dirty="0">
                          <a:solidFill>
                            <a:srgbClr val="000000"/>
                          </a:solidFill>
                          <a:latin typeface="Ubuntu"/>
                        </a:rPr>
                        <a:t>i</a:t>
                      </a:r>
                      <a:r>
                        <a:rPr lang="en-US" sz="1200" dirty="0">
                          <a:solidFill>
                            <a:srgbClr val="000000"/>
                          </a:solidFill>
                          <a:latin typeface="Ubuntu"/>
                        </a:rPr>
                        <a:t>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Dropcaps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5800" dirty="0">
                          <a:solidFill>
                            <a:srgbClr val="000000"/>
                          </a:solidFill>
                          <a:latin typeface="Ubuntu"/>
                        </a:rPr>
                        <a:t>D </a:t>
                      </a:r>
                      <a:endParaRPr lang="en-US" sz="58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300" b="1" dirty="0">
                          <a:solidFill>
                            <a:srgbClr val="4F81BD"/>
                          </a:solidFill>
                          <a:latin typeface="Ubuntu"/>
                        </a:rPr>
                        <a:t>Links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r>
              <a:tr h="409222">
                <a:tc>
                  <a:txBody>
                    <a:bodyPr/>
                    <a:lstStyle/>
                    <a:p>
                      <a:pPr>
                        <a:buNone/>
                      </a:pPr>
                      <a:r>
                        <a:rPr lang="en-US" sz="1200" dirty="0">
                          <a:solidFill>
                            <a:srgbClr val="000000"/>
                          </a:solidFill>
                          <a:latin typeface="Ubuntu"/>
                        </a:rPr>
                        <a:t>Two kinds of links are possible, those that refer to an external website and those that refer to locations inside the document itself. Both are supported by calibre. For example, here is a link pointing to the </a:t>
                      </a:r>
                      <a:r>
                        <a:rPr lang="en-US" sz="1200" u="sng" dirty="0">
                          <a:solidFill>
                            <a:srgbClr val="0000FF"/>
                          </a:solidFill>
                          <a:latin typeface="Ubuntu"/>
                        </a:rPr>
                        <a:t>calibre download page</a:t>
                      </a:r>
                      <a:r>
                        <a:rPr lang="en-US" sz="1200" dirty="0">
                          <a:solidFill>
                            <a:srgbClr val="000000"/>
                          </a:solidFill>
                          <a:latin typeface="Ubuntu"/>
                        </a:rPr>
                        <a:t>. Then we have a link that points back to the section on </a:t>
                      </a:r>
                      <a:r>
                        <a:rPr lang="en-US" sz="1200" u="sng" dirty="0">
                          <a:solidFill>
                            <a:srgbClr val="0000FF"/>
                          </a:solidFill>
                          <a:latin typeface="Ubuntu"/>
                        </a:rPr>
                        <a:t>paragraph level formatting</a:t>
                      </a:r>
                      <a:r>
                        <a:rPr lang="en-US" sz="1200" dirty="0">
                          <a:solidFill>
                            <a:srgbClr val="000000"/>
                          </a:solidFill>
                          <a:latin typeface="Ubuntu"/>
                        </a:rPr>
                        <a:t>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8229600"/>
              </a:tblGrid>
              <a:tr h="920750">
                <a:tc>
                  <a:txBody>
                    <a:bodyPr/>
                    <a:lstStyle/>
                    <a:p>
                      <a:pPr>
                        <a:buNone/>
                      </a:pPr>
                      <a:r>
                        <a:rPr lang="en-US" sz="1400" b="1" dirty="0">
                          <a:solidFill>
                            <a:srgbClr val="365F91"/>
                          </a:solidFill>
                          <a:latin typeface="Ubuntu"/>
                        </a:rPr>
                        <a:t>Images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000000"/>
                          </a:solidFill>
                          <a:latin typeface="Ubuntu"/>
                        </a:rPr>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920750">
                <a:tc>
                  <a:txBody>
                    <a:bodyPr/>
                    <a:lstStyle/>
                    <a:p>
                      <a:pPr>
                        <a:buNone/>
                      </a:pPr>
                      <a:r>
                        <a:rPr lang="en-US" sz="1200" dirty="0">
                          <a:solidFill>
                            <a:srgbClr val="000000"/>
                          </a:solidFill>
                          <a:latin typeface="Ubuntu"/>
                        </a:rPr>
                        <a:t>There is no analogous technology in ebooks, so the conversion will usually end up placing the image either centered or floating close to the point in the text where it was </a:t>
                      </a:r>
                      <a:r>
                        <a:rPr lang="en-US" sz="1200" i="1" dirty="0">
                          <a:solidFill>
                            <a:srgbClr val="808080"/>
                          </a:solidFill>
                          <a:latin typeface="Ubuntu"/>
                        </a:rPr>
                        <a:t>inserted</a:t>
                      </a:r>
                      <a:r>
                        <a:rPr lang="en-US" sz="1200" dirty="0">
                          <a:solidFill>
                            <a:srgbClr val="000000"/>
                          </a:solidFill>
                          <a:latin typeface="Ubuntu"/>
                        </a:rPr>
                        <a:t>,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Sheet7</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Bulleted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Numbered List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300" b="1" dirty="0">
                          <a:solidFill>
                            <a:srgbClr val="4F81BD"/>
                          </a:solidFill>
                          <a:latin typeface="Ubuntu"/>
                        </a:rPr>
                        <a:t>Multi-level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334818">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solidFill>
                            <a:srgbClr val="000000"/>
                          </a:solidFill>
                          <a:latin typeface="Ubuntu"/>
                        </a:rPr>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Sheet8</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114800"/>
                <a:gridCol w="4114800"/>
              </a:tblGrid>
              <a:tr h="526143">
                <a:tc>
                  <a:txBody>
                    <a:bodyPr/>
                    <a:lstStyle/>
                    <a:p>
                      <a:pPr>
                        <a:buNone/>
                      </a:pPr>
                      <a:r>
                        <a:rPr lang="en-US" sz="1400" b="1" dirty="0">
                          <a:solidFill>
                            <a:srgbClr val="365F91"/>
                          </a:solidFill>
                          <a:latin typeface="Ubuntu"/>
                        </a:rPr>
                        <a:t>Lists </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300" b="1" dirty="0">
                          <a:solidFill>
                            <a:srgbClr val="4F81BD"/>
                          </a:solidFill>
                          <a:latin typeface="Ubuntu"/>
                        </a:rPr>
                        <a:t>Continued Lists </a:t>
                      </a:r>
                      <a:endParaRPr lang="en-US" sz="13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526143">
                <a:tc>
                  <a:txBody>
                    <a:bodyPr/>
                    <a:lstStyle/>
                    <a:p>
                      <a:pPr>
                        <a:buNone/>
                      </a:pPr>
                      <a:r>
                        <a:rPr lang="en-US" sz="1200" dirty="0">
                          <a:solidFill>
                            <a:srgbClr val="000000"/>
                          </a:solidFill>
                          <a:latin typeface="Ubuntu"/>
                        </a:rPr>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latin typeface="Ubuntu"/>
                        </a:rPr>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Chart_Sheet</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1122218"/>
                <a:gridCol w="748145"/>
                <a:gridCol w="1870364"/>
                <a:gridCol w="1496291"/>
                <a:gridCol w="1496291"/>
                <a:gridCol w="1496291"/>
              </a:tblGrid>
              <a:tr h="613833">
                <a:tc>
                  <a:txBody>
                    <a:bodyPr/>
                    <a:lstStyle/>
                    <a:p>
                      <a:pPr>
                        <a:buNone/>
                      </a:pPr>
                      <a:r>
                        <a:rPr lang="en-US" sz="1400" b="1" dirty="0">
                          <a:solidFill>
                            <a:srgbClr val="365F91"/>
                          </a:solidFill>
                          <a:latin typeface="Ubuntu"/>
                        </a:rPr>
                        <a:t>Charts</a:t>
                      </a:r>
                      <a:endParaRPr lang="en-US" sz="14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4.4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solidFill>
                            <a:srgbClr val="000000"/>
                          </a:solidFill>
                        </a:rPr>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17</Slides>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2025-11-28T15:36:44Z</dcterms:created>
  <dcterms:modified xsi:type="dcterms:W3CDTF">2024-01-01T00:00:00Z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estString">
    <vt:lpwstr>Hello from custom props</vt:lpwstr>
  </property>
  <property fmtid="{D5CDD505-2E9C-101B-9397-08002B2CF9AE}" pid="3" name="TestNumber">
    <vt:r8>42</vt:r8>
  </property>
  <property fmtid="{D5CDD505-2E9C-101B-9397-08002B2CF9AE}" pid="4" name="TestBool">
    <vt:bool>true</vt:bool>
  </property>
</Properties>
</file>