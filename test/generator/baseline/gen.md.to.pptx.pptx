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theme" Target="theme/theme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calibre-ebook.com/downloa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Demonstration of DOCX support in calibre</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This document demonstrates the ability of the calibre DOCX Input plugin to convert the various typographic features in a Microsoft Word (2007 and newer) document. Convert this document to a modern ebook format, such as AZW3 for Kindles or EPUB for other ebook readers, to see it in action.</a:t>
            </a:r>
            <a:endParaRPr lang="en-US" sz="1800" dirty="0"/>
          </a:p>
          <a:p>
            <a:pPr>
              <a:buNone/>
            </a:pPr>
            <a:r>
              <a:rPr lang="en-US" sz="1800" dirty="0"/>
              <a:t>There is support for images, tables, lists, footnotes, endnotes, links, dropcaps and various types of text and paragraph level formatting.</a:t>
            </a:r>
            <a:endParaRPr lang="en-US" sz="1800" dirty="0"/>
          </a:p>
          <a:p>
            <a:pPr>
              <a:buNone/>
            </a:pPr>
            <a:r>
              <a:rPr lang="en-US" sz="1800" dirty="0"/>
              <a:t>To see the DOCX conversion in action, simply add this file to calibre using the </a:t>
            </a:r>
            <a:r>
              <a:rPr lang="en-US" sz="1800" b="1" dirty="0"/>
              <a:t>“Add Books” </a:t>
            </a:r>
            <a:r>
              <a:rPr lang="en-US" sz="1800" dirty="0"/>
              <a:t>button and then click “</a:t>
            </a:r>
            <a:r>
              <a:rPr lang="en-US" sz="1800" b="1" dirty="0"/>
              <a:t>Convert”. </a:t>
            </a:r>
            <a:r>
              <a:rPr lang="en-US" sz="1800" dirty="0"/>
              <a:t> Set the output format in the top right corner of the conversion dialog to EPUB or AZW3 and click </a:t>
            </a:r>
            <a:r>
              <a:rPr lang="en-US" sz="1800" b="1" dirty="0"/>
              <a:t>“OK”</a:t>
            </a:r>
            <a:r>
              <a:rPr lang="en-US" sz="1800" dirty="0"/>
              <a: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t>Text Formatting</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Inline formatting</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Here, we demonstrate various types of inline text formatting and the use of embedded fonts.</a:t>
            </a:r>
            <a:endParaRPr lang="en-US" sz="1800" dirty="0"/>
          </a:p>
          <a:p>
            <a:pPr>
              <a:buNone/>
            </a:pPr>
            <a:r>
              <a:rPr lang="en-US" sz="1800" dirty="0"/>
              <a:t>Here is some </a:t>
            </a:r>
            <a:r>
              <a:rPr lang="en-US" sz="1800" b="1" dirty="0"/>
              <a:t>bold, </a:t>
            </a:r>
            <a:r>
              <a:rPr lang="en-US" sz="1800" i="1" dirty="0"/>
              <a:t>italic, </a:t>
            </a:r>
            <a:r>
              <a:rPr lang="en-US" sz="1800" b="1" i="1" dirty="0"/>
              <a:t>bold-italic, </a:t>
            </a:r>
            <a:r>
              <a:rPr lang="en-US" sz="1800" u="sng" dirty="0"/>
              <a:t>underlined </a:t>
            </a:r>
            <a:r>
              <a:rPr lang="en-US" sz="1800" dirty="0"/>
              <a:t>and </a:t>
            </a:r>
            <a:r>
              <a:rPr lang="en-US" sz="1800" strike="sngStrike" dirty="0"/>
              <a:t>struck out </a:t>
            </a:r>
            <a:r>
              <a:rPr lang="en-US" sz="1800" dirty="0"/>
              <a:t> text. Then, we have a super</a:t>
            </a:r>
            <a:r>
              <a:rPr lang="en-US" sz="1800" baseline="30000" dirty="0"/>
              <a:t>script</a:t>
            </a:r>
            <a:r>
              <a:rPr lang="en-US" sz="1800" dirty="0"/>
              <a:t> and a sub</a:t>
            </a:r>
            <a:r>
              <a:rPr lang="en-US" sz="1800" baseline="-25000" dirty="0"/>
              <a:t>script</a:t>
            </a:r>
            <a:r>
              <a:rPr lang="en-US" sz="1800" dirty="0"/>
              <a:t>. Now we see some red, green and blue text. Some text with a yellow highlight. Some text in a box. Some text in inverse video.</a:t>
            </a:r>
            <a:endParaRPr lang="en-US" sz="1800" dirty="0"/>
          </a:p>
          <a:p>
            <a:pPr>
              <a:buNone/>
            </a:pPr>
            <a:r>
              <a:rPr lang="en-US" sz="1800" dirty="0"/>
              <a:t>A paragraph with styled text: </a:t>
            </a:r>
            <a:r>
              <a:rPr lang="en-US" sz="1800" i="1" dirty="0"/>
              <a:t>subtle emphasis  </a:t>
            </a:r>
            <a:r>
              <a:rPr lang="en-US" sz="1800" dirty="0"/>
              <a:t>followed by </a:t>
            </a:r>
            <a:r>
              <a:rPr lang="en-US" sz="1800" b="1" dirty="0"/>
              <a:t>strong text </a:t>
            </a:r>
            <a:r>
              <a:rPr lang="en-US" sz="1800" dirty="0"/>
              <a:t>and </a:t>
            </a:r>
            <a:r>
              <a:rPr lang="en-US" sz="1800" b="1" i="1" dirty="0"/>
              <a:t>intense emphasis</a:t>
            </a:r>
            <a:r>
              <a:rPr lang="en-US" sz="1800" dirty="0"/>
              <a:t>. This paragraph uses document wide styles for styling rather than inline text properties as demonstrated in the previous paragraph — calibre can handle both with equal ease.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Fun with fonts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This document has embedded the Ubuntu font family. The body text is in the Ubuntu typeface, here is some text in the Ubuntu Mono typeface, notice how every letter has the same width, even i and m. Every embedded font will automatically be embedded in the output ebook during conversion.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Paragraph level formatting</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lgn="r">
              <a:buNone/>
            </a:pPr>
            <a:r>
              <a:rPr lang="en-US" sz="1800" dirty="0"/>
              <a:t>You can do crazy things with paragraphs, if the urge strikes you. For instance this paragraph is right aligned and has a right border. It has also been given a light gray background.</a:t>
            </a:r>
            <a:endParaRPr lang="en-US" sz="1800" dirty="0"/>
          </a:p>
          <a:p>
            <a:pPr>
              <a:buNone/>
            </a:pPr>
            <a:r>
              <a:rPr lang="en-US" sz="1800" dirty="0"/>
              <a:t>For the lovers of poetry amongst you, paragraphs with hanging indents, like this often come in handy. You can use hanging indents to ensure that a line of poetry retains its individual identity as a line even when the screen is  too narrow to display it as a single line. Not only does this paragraph have a hanging indent, it is also has an extra top margin, setting it apart from the preceding paragraph.</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764505"/>
                <a:gridCol w="3465095"/>
              </a:tblGrid>
              <a:tr h="613833">
                <a:tc>
                  <a:txBody>
                    <a:bodyPr/>
                    <a:lstStyle/>
                    <a:p>
                      <a:pPr>
                        <a:buNone/>
                      </a:pPr>
                      <a:r>
                        <a:rPr lang="en-US" sz="1200" b="1" dirty="0"/>
                        <a:t>ITEM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b="1" dirty="0"/>
                        <a:t>NEEDED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Books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Pens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Pencils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Highlighter</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 colors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Scissors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 pair</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Tables in Word can vary from the extremely simple to the extremely complex. calibre tries to do its best when converting tables. While you may run into trouble with the occasional table, the vast majority of common cases should be converted very well, as demonstrated in this section. Note that for optimum results, when creating tables in Word, you should set their widths using percentages, rather than absolute units.  To the left of this paragraph is a floating two column table with a nice green border and header row.</a:t>
            </a:r>
            <a:endParaRPr lang="en-US" sz="1800" dirty="0"/>
          </a:p>
          <a:p>
            <a:pPr>
              <a:buNone/>
            </a:pPr>
            <a:r>
              <a:rPr lang="en-US" sz="1800" dirty="0"/>
              <a:t>Now let’s look at a fancier table—one with alternating row colors and partial borders. This table is stretched out to take 100% of the available width.</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101174"/>
                <a:gridCol w="1225685"/>
                <a:gridCol w="1225685"/>
                <a:gridCol w="1225685"/>
                <a:gridCol w="1225685"/>
                <a:gridCol w="1225685"/>
              </a:tblGrid>
              <a:tr h="613833">
                <a:tc>
                  <a:txBody>
                    <a:bodyPr/>
                    <a:lstStyle/>
                    <a:p>
                      <a:pPr>
                        <a:buNone/>
                      </a:pPr>
                      <a:r>
                        <a:rPr lang="en-US" sz="1200" b="1" dirty="0"/>
                        <a:t>City or Town</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b="1" dirty="0"/>
                        <a:t>Point A</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b="1" dirty="0"/>
                        <a:t>Point B</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b="1" dirty="0"/>
                        <a:t>Point C</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b="1" dirty="0"/>
                        <a:t>Point 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b="1" dirty="0"/>
                        <a:t>Point 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A</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B</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87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C</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64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56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37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32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91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93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35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54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43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Next, we see a table with special formatting in various locations. Notice how the formatting for the header row and sub header rows is preserved.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438400"/>
                <a:gridCol w="1981200"/>
                <a:gridCol w="2895600"/>
                <a:gridCol w="914400"/>
              </a:tblGrid>
              <a:tr h="460375">
                <a:tc>
                  <a:txBody>
                    <a:bodyPr/>
                    <a:lstStyle/>
                    <a:p>
                      <a:pPr>
                        <a:buNone/>
                      </a:pPr>
                      <a:r>
                        <a:rPr lang="en-US" sz="1200" b="1" dirty="0"/>
                        <a:t>College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b="1" dirty="0"/>
                        <a:t>New students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b="1" dirty="0"/>
                        <a:t>Graduating students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b="1" dirty="0"/>
                        <a:t>Change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i="1" dirty="0"/>
                        <a:t>Undergraduate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Cedar University</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Oak Institute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i="1" dirty="0"/>
                        <a:t>Graduate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Cedar University</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Elm College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Total</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998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908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i="1" dirty="0"/>
              <a:t>Source:</a:t>
            </a:r>
            <a:r>
              <a:rPr lang="en-US" sz="1800" dirty="0"/>
              <a:t> Fictitious data, for illustration purposes only</a:t>
            </a:r>
            <a:endParaRPr lang="en-US" sz="1800" dirty="0"/>
          </a:p>
          <a:p>
            <a:pPr>
              <a:buNone/>
            </a:pPr>
            <a:r>
              <a:rPr lang="en-US" sz="1800" dirty="0"/>
              <a:t>Next, we have something a little more complex, a nested table, i.e. a table inside another table. Additionally, the inner table has some of its cells merged. The table is displayed horizontally centered.</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748145"/>
                <a:gridCol w="7481455"/>
              </a:tblGrid>
              <a:tr h="3683000">
                <a:tc>
                  <a:txBody>
                    <a:bodyPr/>
                    <a:lstStyle/>
                    <a:p>
                      <a:pPr>
                        <a:buNone/>
                      </a:pPr>
                      <a:r>
                        <a:rPr lang="en-US" sz="1200" dirty="0"/>
                        <a:t>	</a:t>
                      </a:r>
                      <a:endParaRPr lang="en-US" sz="1200" dirty="0"/>
                    </a:p>
                    <a:p>
                      <a:pPr>
                        <a:buNone/>
                      </a:pPr>
                      <a:endParaRPr lang="en-US" sz="1200" dirty="0"/>
                    </a:p>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To the left is a table inside a table, with some cells merged.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We end with a fancy calendar, note how much of the original formatting is preserved. Note that this table will only display correctly on relatively wide screens. In general, very wide tables or tables whose cells have fixed width requirements don’t fare well in ebooks.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587829"/>
                <a:gridCol w="587829"/>
                <a:gridCol w="587829"/>
                <a:gridCol w="587829"/>
                <a:gridCol w="587829"/>
                <a:gridCol w="587829"/>
                <a:gridCol w="587829"/>
                <a:gridCol w="587829"/>
                <a:gridCol w="587829"/>
                <a:gridCol w="587829"/>
                <a:gridCol w="587829"/>
                <a:gridCol w="587829"/>
                <a:gridCol w="587829"/>
                <a:gridCol w="587829"/>
              </a:tblGrid>
              <a:tr h="334818">
                <a:tc gridSpan="13">
                  <a:txBody>
                    <a:bodyPr/>
                    <a:lstStyle/>
                    <a:p>
                      <a:pPr>
                        <a:buNone/>
                      </a:pPr>
                      <a:r>
                        <a:rPr lang="en-US" sz="1200" dirty="0"/>
                        <a:t>December 2007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Sun</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Mon</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Tue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Wed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Thu</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Fri</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Sat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15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16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22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29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587829"/>
                <a:gridCol w="587829"/>
                <a:gridCol w="587829"/>
                <a:gridCol w="587829"/>
                <a:gridCol w="587829"/>
                <a:gridCol w="587829"/>
                <a:gridCol w="587829"/>
                <a:gridCol w="587829"/>
                <a:gridCol w="587829"/>
                <a:gridCol w="587829"/>
                <a:gridCol w="587829"/>
                <a:gridCol w="587829"/>
                <a:gridCol w="587829"/>
                <a:gridCol w="587829"/>
              </a:tblGrid>
              <a:tr h="1227667">
                <a:tc gridSpan="13">
                  <a:txBody>
                    <a:bodyPr/>
                    <a:lstStyle/>
                    <a:p>
                      <a:pPr>
                        <a:buNone/>
                      </a:pPr>
                      <a:r>
                        <a:rPr lang="en-US" sz="1200" dirty="0"/>
                        <a:t>December 2007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buNone/>
                      </a:pPr>
                      <a:r>
                        <a:rPr lang="en-US" sz="1200" dirty="0"/>
                        <a:t>30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t>Structural Elements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Miscellaneous structural elements you can add to your document, like footnotes, endnotes, dropcaps and the like.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Footnotes &amp; Endnotes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Footnotes In paged media, footnotes are usually displayed at the bottom of the text. However, in ebooks, a better paradigm is to make them clickable endnotes that the user can browse at her pleasure. This conversion is handled automatically by calibre.</a:t>
            </a:r>
            <a:endParaRPr lang="en-US" sz="1800" dirty="0"/>
          </a:p>
          <a:p>
            <a:pPr>
              <a:buNone/>
            </a:pPr>
            <a:r>
              <a:rPr lang="en-US" sz="1800" dirty="0"/>
              <a:t>and endnotes Endnotes are typically used for longer notes, they remain endnotes when converted into ebook form, except that they have an additional backlink to make it easy to return to the current position after reading the note.</a:t>
            </a:r>
            <a:endParaRPr lang="en-US" sz="1800" dirty="0"/>
          </a:p>
          <a:p>
            <a:pPr>
              <a:buNone/>
            </a:pPr>
            <a:r>
              <a:rPr lang="en-US" sz="1800" dirty="0"/>
              <a:t>are automatically recognized and both are converted to endnotes, with backlinks for maximum ease of use in ebook devices.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Dropcaps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D</a:t>
            </a:r>
            <a:endParaRPr lang="en-US" sz="1800" dirty="0"/>
          </a:p>
          <a:p>
            <a:pPr>
              <a:buNone/>
            </a:pPr>
            <a:r>
              <a:rPr lang="en-US" sz="1800" dirty="0"/>
              <a:t>rop caps are used to emphasize the leading paragraph at the start of a section. In Word it is possible to specify how many lines of text a drop-cap should use.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Links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Two kinds of links are possible, those that refer to an external website and those that refer to locations inside the document itself. Both are supported by calibre. For example, here is a link pointing to the </a:t>
            </a:r>
            <a:r>
              <a:rPr lang="en-US" sz="1800" u="sng" dirty="0">
                <a:hlinkClick r:id="rId2"/>
              </a:rPr>
              <a:t>calibre download page</a:t>
            </a:r>
            <a:r>
              <a:rPr lang="en-US" sz="1800" dirty="0"/>
              <a:t>. Then we have a link that points back to the section on </a:t>
            </a:r>
            <a:r>
              <a:rPr lang="en-US" sz="1800" u="sng" dirty="0"/>
              <a:t>paragraph level formatting</a:t>
            </a:r>
            <a:r>
              <a:rPr lang="en-US" sz="1800" dirty="0"/>
              <a:t> in this document.</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Table of Contents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You can see the Table of Contents created by calibre by clicking the Table of Contents button in whatever viewer you are using to view the converted ebook.</a:t>
            </a:r>
            <a:endParaRPr lang="en-US" sz="1800" dirty="0"/>
          </a:p>
          <a:p>
            <a:pPr>
              <a:buNone/>
            </a:pPr>
            <a:r>
              <a:rPr lang="en-US" sz="1800" u="sng" dirty="0"/>
              <a:t>Demonstration of DOCX support in calibre1</a:t>
            </a:r>
            <a:endParaRPr lang="en-US" sz="1800" dirty="0"/>
          </a:p>
          <a:p>
            <a:pPr>
              <a:buNone/>
            </a:pPr>
            <a:r>
              <a:rPr lang="en-US" sz="1800" u="sng" dirty="0"/>
              <a:t>Text Formatting1</a:t>
            </a:r>
            <a:endParaRPr lang="en-US" sz="1800" dirty="0"/>
          </a:p>
          <a:p>
            <a:pPr>
              <a:buNone/>
            </a:pPr>
            <a:r>
              <a:rPr lang="en-US" sz="1800" u="sng" dirty="0"/>
              <a:t>Inline formatting2</a:t>
            </a:r>
            <a:endParaRPr lang="en-US" sz="1800" dirty="0"/>
          </a:p>
          <a:p>
            <a:pPr>
              <a:buNone/>
            </a:pPr>
            <a:r>
              <a:rPr lang="en-US" sz="1800" u="sng" dirty="0"/>
              <a:t>Fun with fonts2</a:t>
            </a:r>
            <a:endParaRPr lang="en-US" sz="1800" dirty="0"/>
          </a:p>
          <a:p>
            <a:pPr>
              <a:buNone/>
            </a:pPr>
            <a:r>
              <a:rPr lang="en-US" sz="1800" u="sng" dirty="0"/>
              <a:t>Paragraph level formatting2</a:t>
            </a:r>
            <a:endParaRPr lang="en-US" sz="1800" dirty="0"/>
          </a:p>
          <a:p>
            <a:pPr>
              <a:buNone/>
            </a:pPr>
            <a:r>
              <a:rPr lang="en-US" sz="1800" u="sng" dirty="0"/>
              <a:t>Tables2</a:t>
            </a:r>
            <a:endParaRPr lang="en-US" sz="1800" dirty="0"/>
          </a:p>
          <a:p>
            <a:pPr>
              <a:buNone/>
            </a:pPr>
            <a:r>
              <a:rPr lang="en-US" sz="1800" u="sng" dirty="0"/>
              <a:t>Structural Elements4</a:t>
            </a:r>
            <a:endParaRPr lang="en-US" sz="1800" dirty="0"/>
          </a:p>
          <a:p>
            <a:pPr>
              <a:buNone/>
            </a:pPr>
            <a:r>
              <a:rPr lang="en-US" sz="1800" u="sng" dirty="0"/>
              <a:t>Footnotes &amp; Endnotes5</a:t>
            </a:r>
            <a:endParaRPr lang="en-US" sz="1800" dirty="0"/>
          </a:p>
          <a:p>
            <a:pPr>
              <a:buNone/>
            </a:pPr>
            <a:r>
              <a:rPr lang="en-US" sz="1800" u="sng" dirty="0"/>
              <a:t>Dropcaps5</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Table of Contents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u="sng" dirty="0"/>
              <a:t>Links5</a:t>
            </a:r>
            <a:endParaRPr lang="en-US" sz="1800" dirty="0"/>
          </a:p>
          <a:p>
            <a:pPr>
              <a:buNone/>
            </a:pPr>
            <a:r>
              <a:rPr lang="en-US" sz="1800" u="sng" dirty="0"/>
              <a:t>Table of Contents5</a:t>
            </a:r>
            <a:endParaRPr lang="en-US" sz="1800" dirty="0"/>
          </a:p>
          <a:p>
            <a:pPr>
              <a:buNone/>
            </a:pPr>
            <a:r>
              <a:rPr lang="en-US" sz="1800" u="sng" dirty="0"/>
              <a:t>Images6</a:t>
            </a:r>
            <a:endParaRPr lang="en-US" sz="1800" dirty="0"/>
          </a:p>
          <a:p>
            <a:pPr>
              <a:buNone/>
            </a:pPr>
            <a:r>
              <a:rPr lang="en-US" sz="1800" u="sng" dirty="0"/>
              <a:t>Lists7</a:t>
            </a:r>
            <a:endParaRPr lang="en-US" sz="1800" dirty="0"/>
          </a:p>
          <a:p>
            <a:pPr>
              <a:buNone/>
            </a:pPr>
            <a:r>
              <a:rPr lang="en-US" sz="1800" u="sng" dirty="0"/>
              <a:t>Bulleted List8</a:t>
            </a:r>
            <a:endParaRPr lang="en-US" sz="1800" dirty="0"/>
          </a:p>
          <a:p>
            <a:pPr>
              <a:buNone/>
            </a:pPr>
            <a:r>
              <a:rPr lang="en-US" sz="1800" u="sng" dirty="0"/>
              <a:t>Numbered List8</a:t>
            </a:r>
            <a:endParaRPr lang="en-US" sz="1800" dirty="0"/>
          </a:p>
          <a:p>
            <a:pPr>
              <a:buNone/>
            </a:pPr>
            <a:r>
              <a:rPr lang="en-US" sz="1800" u="sng" dirty="0"/>
              <a:t>Multi-level Lists8</a:t>
            </a:r>
            <a:endParaRPr lang="en-US" sz="1800" dirty="0"/>
          </a:p>
          <a:p>
            <a:pPr>
              <a:buNone/>
            </a:pPr>
            <a:r>
              <a:rPr lang="en-US" sz="1800" u="sng" dirty="0"/>
              <a:t>Continued Lists8</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t>Images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Centered images like this are useful for large pictures that should be a focus of attention.</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t>Images</a:t>
            </a:r>
            <a:endParaRPr lang="en-US" sz="2800" dirty="0"/>
          </a:p>
        </p:txBody>
      </p:sp>
      <p:pic>
        <p:nvPicPr>
          <p:cNvPr id="3" name="Picture 3" descr="165 Inspirational Quotes To Keep You Motivated In Life"/>
          <p:cNvPicPr>
            <a:picLocks noChangeAspect="1"/>
          </p:cNvPicPr>
          <p:nvPr/>
        </p:nvPicPr>
        <p:blipFill>
          <a:blip r:embed="rId2"/>
          <a:stretch>
            <a:fillRect/>
          </a:stretch>
        </p:blipFill>
        <p:spPr>
          <a:xfrm>
            <a:off x="2730500" y="1143000"/>
            <a:ext cx="3683000" cy="3683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t>Images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There is no analogous technology in ebooks, so the conversion will usually end up placing the image either centered or floating close to the point in the text where it was </a:t>
            </a:r>
            <a:r>
              <a:rPr lang="en-US" sz="1800" i="1" dirty="0"/>
              <a:t>inserted</a:t>
            </a:r>
            <a:r>
              <a:rPr lang="en-US" sz="1800" dirty="0"/>
              <a:t>, not necessarily where it appears on the page in Word.</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t>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All types of lists are supported by the conversion, with the exception of lists that use fancy bullets, these get converted to regular bullets.</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Bulleted List</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Arial"/>
              <a:buChar char="•"/>
            </a:pPr>
            <a:r>
              <a:rPr lang="en-US" sz="1800" dirty="0"/>
              <a:t>One</a:t>
            </a:r>
            <a:endParaRPr lang="en-US" sz="1800" dirty="0"/>
          </a:p>
          <a:p>
            <a:pPr marL="228600" indent="-177800">
              <a:buFont typeface="Arial"/>
              <a:buChar char="•"/>
            </a:pPr>
            <a:r>
              <a:rPr lang="en-US" sz="1800" dirty="0"/>
              <a:t>Two</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Numbered List</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None/>
            </a:pPr>
            <a:r>
              <a:rPr lang="en-US" sz="1800" dirty="0"/>
              <a:t>1.	</a:t>
            </a:r>
            <a:r>
              <a:rPr lang="en-US" sz="1800" dirty="0"/>
              <a:t>One, with a very long line to demonstrate that the hanging indent for the list is working correctly</a:t>
            </a:r>
            <a:endParaRPr lang="en-US" sz="1800" dirty="0"/>
          </a:p>
          <a:p>
            <a:pPr marL="228600" indent="-177800">
              <a:buNone/>
            </a:pPr>
            <a:r>
              <a:rPr lang="en-US" sz="1800" dirty="0"/>
              <a:t>2.	</a:t>
            </a:r>
            <a:r>
              <a:rPr lang="en-US" sz="1800" dirty="0"/>
              <a:t>Two</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Multi-level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None/>
            </a:pPr>
            <a:r>
              <a:rPr lang="en-US" sz="1800" dirty="0"/>
              <a:t>1.	</a:t>
            </a:r>
            <a:r>
              <a:rPr lang="en-US" sz="1800" dirty="0"/>
              <a:t>One</a:t>
            </a:r>
            <a:endParaRPr lang="en-US" sz="1800" dirty="0"/>
          </a:p>
          <a:p>
            <a:pPr marL="457200" indent="-177800" lvl="1">
              <a:buNone/>
            </a:pPr>
            <a:r>
              <a:rPr lang="en-US" sz="1800" dirty="0"/>
              <a:t>1.	</a:t>
            </a:r>
            <a:r>
              <a:rPr lang="en-US" sz="1800" dirty="0"/>
              <a:t>Two</a:t>
            </a:r>
            <a:endParaRPr lang="en-US" sz="1800" dirty="0"/>
          </a:p>
          <a:p>
            <a:pPr marL="685800" indent="-177800" lvl="2">
              <a:buNone/>
            </a:pPr>
            <a:r>
              <a:rPr lang="en-US" sz="1800" dirty="0"/>
              <a:t>1.	</a:t>
            </a:r>
            <a:r>
              <a:rPr lang="en-US" sz="1800" dirty="0"/>
              <a:t>Three</a:t>
            </a:r>
            <a:endParaRPr lang="en-US" sz="1800" dirty="0"/>
          </a:p>
          <a:p>
            <a:pPr marL="685800" indent="-177800" lvl="2">
              <a:buNone/>
            </a:pPr>
            <a:r>
              <a:rPr lang="en-US" sz="1800" dirty="0"/>
              <a:t>2.	</a:t>
            </a:r>
            <a:r>
              <a:rPr lang="en-US" sz="1800" dirty="0"/>
              <a:t>Four with a very long line to demonstrate that the hanging indent for the list is working correctly.</a:t>
            </a:r>
            <a:endParaRPr lang="en-US" sz="1800" dirty="0"/>
          </a:p>
          <a:p>
            <a:pPr marL="685800" indent="-177800" lvl="2">
              <a:buNone/>
            </a:pPr>
            <a:r>
              <a:rPr lang="en-US" sz="1800" dirty="0"/>
              <a:t>3.	</a:t>
            </a:r>
            <a:r>
              <a:rPr lang="en-US" sz="1800" dirty="0"/>
              <a:t>Five</a:t>
            </a:r>
            <a:endParaRPr lang="en-US" sz="1800" dirty="0"/>
          </a:p>
          <a:p>
            <a:pPr marL="228600" indent="-177800">
              <a:buNone/>
            </a:pPr>
            <a:r>
              <a:rPr lang="en-US" sz="1800" dirty="0"/>
              <a:t>2.	</a:t>
            </a:r>
            <a:r>
              <a:rPr lang="en-US" sz="1800" dirty="0"/>
              <a:t>Six</a:t>
            </a:r>
            <a:endParaRPr lang="en-US" sz="1800" dirty="0"/>
          </a:p>
          <a:p>
            <a:pPr>
              <a:buNone/>
            </a:pPr>
            <a:r>
              <a:rPr lang="en-US" sz="1800" dirty="0"/>
              <a:t>A Multi-level list with bullets:</a:t>
            </a:r>
            <a:endParaRPr lang="en-US" sz="1800" dirty="0"/>
          </a:p>
          <a:p>
            <a:pPr marL="228600" indent="-177800">
              <a:buFont typeface="Arial"/>
              <a:buChar char="•"/>
            </a:pPr>
            <a:r>
              <a:rPr lang="en-US" sz="1800" dirty="0"/>
              <a:t>One</a:t>
            </a:r>
            <a:endParaRPr lang="en-US" sz="1800" dirty="0"/>
          </a:p>
          <a:p>
            <a:pPr marL="457200" indent="-177800" lvl="1">
              <a:buFont typeface="Arial"/>
              <a:buChar char="•"/>
            </a:pPr>
            <a:r>
              <a:rPr lang="en-US" sz="1800" dirty="0"/>
              <a:t>Two</a:t>
            </a:r>
            <a:endParaRPr lang="en-US" sz="1800" dirty="0"/>
          </a:p>
          <a:p>
            <a:pPr marL="685800" indent="-177800" lvl="2">
              <a:buFont typeface="Arial"/>
              <a:buChar char="•"/>
            </a:pPr>
            <a:r>
              <a:rPr lang="en-US" sz="1800" dirty="0"/>
              <a:t>This bullet uses an image as the bullet item</a:t>
            </a:r>
            <a:endParaRPr lang="en-US" sz="1800" dirty="0"/>
          </a:p>
          <a:p>
            <a:pPr marL="914400" indent="-177800" lvl="3">
              <a:buFont typeface="Arial"/>
              <a:buChar char="•"/>
            </a:pPr>
            <a:r>
              <a:rPr lang="en-US" sz="1800" dirty="0"/>
              <a:t>Four</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Multi-level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Arial"/>
              <a:buChar char="•"/>
            </a:pPr>
            <a:r>
              <a:rPr lang="en-US" sz="1800" dirty="0"/>
              <a:t>Five</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Continued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None/>
            </a:pPr>
            <a:r>
              <a:rPr lang="en-US" sz="1800" dirty="0"/>
              <a:t>1.	</a:t>
            </a:r>
            <a:r>
              <a:rPr lang="en-US" sz="1800" dirty="0"/>
              <a:t>One</a:t>
            </a:r>
            <a:endParaRPr lang="en-US" sz="1800" dirty="0"/>
          </a:p>
          <a:p>
            <a:pPr marL="228600" indent="-177800">
              <a:buNone/>
            </a:pPr>
            <a:r>
              <a:rPr lang="en-US" sz="1800" dirty="0"/>
              <a:t>2.	</a:t>
            </a:r>
            <a:r>
              <a:rPr lang="en-US" sz="1800" dirty="0"/>
              <a:t>Two</a:t>
            </a:r>
            <a:endParaRPr lang="en-US" sz="1800" dirty="0"/>
          </a:p>
          <a:p>
            <a:pPr>
              <a:buNone/>
            </a:pPr>
            <a:r>
              <a:rPr lang="en-US" sz="1800" dirty="0"/>
              <a:t>An interruption in our regularly scheduled listing, for this essential and very relevant public service announcement.</a:t>
            </a:r>
            <a:endParaRPr lang="en-US" sz="1800" dirty="0"/>
          </a:p>
          <a:p>
            <a:pPr marL="228600" indent="-177800">
              <a:buNone/>
            </a:pPr>
            <a:r>
              <a:rPr lang="en-US" sz="1800" dirty="0"/>
              <a:t>3.	</a:t>
            </a:r>
            <a:r>
              <a:rPr lang="en-US" sz="1800" dirty="0"/>
              <a:t>We now resume our normal programming</a:t>
            </a:r>
            <a:endParaRPr lang="en-US" sz="1800" dirty="0"/>
          </a:p>
          <a:p>
            <a:pPr marL="228600" indent="-177800">
              <a:buNone/>
            </a:pPr>
            <a:r>
              <a:rPr lang="en-US" sz="1800" dirty="0"/>
              <a:t>4.	</a:t>
            </a:r>
            <a:r>
              <a:rPr lang="en-US" sz="1800" dirty="0"/>
              <a:t>Four</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officeParser</Application>
  <Slides>30</Slides>
</Properties>
</file>

<file path=docProps/core.xml><?xml version="1.0" encoding="utf-8"?>
<cp:coreProperties xmlns:cp="http://schemas.openxmlformats.org/package/2006/metadata/core-properties" xmlns:dc="http://purl.org/dc/elements/1.1/" xmlns:dcterms="http://purl.org/dc/terms/" xmlns:xsi="http://www.w3.org/2001/XMLSchema-instance">
  <dc:title>DOCX Demo</dc:title>
  <dc:creator>Kovid Goyal</dc:creator>
  <dc:description>Demonstration of DOCX support in calibre</dc:description>
  <dcterms:created xsi:type="dcterms:W3CDTF">2013-06-05T07:56:00Z</dcterms:created>
  <dcterms:modified xsi:type="dcterms:W3CDTF">2024-01-01T00:00:00Z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stString">
    <vt:lpwstr>Hello from custom props</vt:lpwstr>
  </property>
  <property fmtid="{D5CDD505-2E9C-101B-9397-08002B2CF9AE}" pid="3" name="TestNumber">
    <vt:r8>42</vt:r8>
  </property>
  <property fmtid="{D5CDD505-2E9C-101B-9397-08002B2CF9AE}" pid="4" name="TestBool">
    <vt:bool>true</vt:bool>
  </property>
</Properties>
</file>