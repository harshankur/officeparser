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 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 text. Then, we have a super</a:t>
            </a:r>
            <a:r>
              <a:rPr lang="en-US" sz="1800" baseline="30000" dirty="0"/>
              <a:t>script</a:t>
            </a:r>
            <a:r>
              <a:rPr lang="en-US" sz="1800" dirty="0"/>
              <a:t> and a sub</a:t>
            </a:r>
            <a:r>
              <a:rPr lang="en-US" sz="1800" baseline="-25000" dirty="0"/>
              <a:t>script</a:t>
            </a:r>
            <a:r>
              <a:rPr lang="en-US" sz="1800" dirty="0"/>
              <a:t>. Now we see some red, green and blue text. Some text with a yellow highlight. Some text in a box. Some text in inverse video.</a:t>
            </a:r>
            <a:endParaRPr lang="en-US" sz="1800" dirty="0"/>
          </a:p>
          <a:p>
            <a:pPr>
              <a:buNone/>
            </a:pPr>
            <a:r>
              <a:rPr lang="en-US" sz="1800" dirty="0"/>
              <a:t>A paragraph with styled text: </a:t>
            </a:r>
            <a:r>
              <a:rPr lang="en-US" sz="1800" i="1" dirty="0"/>
              <a:t>subtle emphasis  </a:t>
            </a:r>
            <a:r>
              <a:rPr lang="en-US" sz="1800" dirty="0"/>
              <a:t>followed by </a:t>
            </a:r>
            <a:r>
              <a:rPr lang="en-US" sz="1800" b="1" dirty="0"/>
              <a:t>strong text </a:t>
            </a:r>
            <a:r>
              <a:rPr lang="en-US" sz="1800" dirty="0"/>
              <a:t>and </a:t>
            </a:r>
            <a:r>
              <a:rPr lang="en-US" sz="1800" b="1" i="1" dirty="0"/>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some text in the Ubuntu Mono typeface, notice how every letter has the same width, even i and m.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b="1"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b="1"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b="1"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b="1"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i="1" dirty="0"/>
              <a:t>Source:</a:t>
            </a:r>
            <a:r>
              <a:rPr lang="en-US" sz="1800" dirty="0"/>
              <a:t> Fictitious data, for illustration purposes only</a:t>
            </a:r>
            <a:endParaRPr lang="en-US" sz="18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748145"/>
                <a:gridCol w="7481455"/>
              </a:tblGrid>
              <a:tr h="36830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 In paged media, footnotes are usually displayed at the bottom of the text. However, in ebooks, a better paradigm is to make them clickable endnotes that the user can browse at her pleasure. This conversion is handled automatically by calibre.</a:t>
            </a:r>
            <a:endParaRPr lang="en-US" sz="1800" dirty="0"/>
          </a:p>
          <a:p>
            <a:pPr>
              <a:buNone/>
            </a:pPr>
            <a:r>
              <a:rPr lang="en-US" sz="1800" dirty="0"/>
              <a:t>and endnotes Endnotes are typically used for longer notes, they remain endnotes when converted into ebook form, except that they have an additional backlink to make it easy to return to the current position after reading the note.</a:t>
            </a:r>
            <a:endParaRPr lang="en-US" sz="1800" dirty="0"/>
          </a:p>
          <a:p>
            <a:pPr>
              <a:buNone/>
            </a:pPr>
            <a:r>
              <a:rPr lang="en-US" sz="1800" dirty="0"/>
              <a:t>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a:t>
            </a:r>
            <a:endParaRPr lang="en-US" sz="180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hlinkClick r:id="rId2"/>
              </a:rPr>
              <a:t>calibre download page</a:t>
            </a:r>
            <a:r>
              <a:rPr lang="en-US" sz="1800" dirty="0"/>
              <a:t>. Then we have a link that points back to the section on </a:t>
            </a:r>
            <a:r>
              <a:rPr lang="en-US" sz="1800" u="sng" dirty="0"/>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800" u="sng" dirty="0"/>
              <a:t>Demonstration of DOCX support in calibre1</a:t>
            </a:r>
            <a:endParaRPr lang="en-US" sz="1800" dirty="0"/>
          </a:p>
          <a:p>
            <a:pPr>
              <a:buNone/>
            </a:pPr>
            <a:r>
              <a:rPr lang="en-US" sz="1800" u="sng" dirty="0"/>
              <a:t>Text Formatting1</a:t>
            </a:r>
            <a:endParaRPr lang="en-US" sz="1800" dirty="0"/>
          </a:p>
          <a:p>
            <a:pPr>
              <a:buNone/>
            </a:pPr>
            <a:r>
              <a:rPr lang="en-US" sz="1800" u="sng" dirty="0"/>
              <a:t>Inline formatting2</a:t>
            </a:r>
            <a:endParaRPr lang="en-US" sz="1800" dirty="0"/>
          </a:p>
          <a:p>
            <a:pPr>
              <a:buNone/>
            </a:pPr>
            <a:r>
              <a:rPr lang="en-US" sz="1800" u="sng" dirty="0"/>
              <a:t>Fun with fonts2</a:t>
            </a:r>
            <a:endParaRPr lang="en-US" sz="1800" dirty="0"/>
          </a:p>
          <a:p>
            <a:pPr>
              <a:buNone/>
            </a:pPr>
            <a:r>
              <a:rPr lang="en-US" sz="1800" u="sng" dirty="0"/>
              <a:t>Paragraph level formatting2</a:t>
            </a:r>
            <a:endParaRPr lang="en-US" sz="1800" dirty="0"/>
          </a:p>
          <a:p>
            <a:pPr>
              <a:buNone/>
            </a:pPr>
            <a:r>
              <a:rPr lang="en-US" sz="1800" u="sng" dirty="0"/>
              <a:t>Tables2</a:t>
            </a:r>
            <a:endParaRPr lang="en-US" sz="1800" dirty="0"/>
          </a:p>
          <a:p>
            <a:pPr>
              <a:buNone/>
            </a:pPr>
            <a:r>
              <a:rPr lang="en-US" sz="1800" u="sng" dirty="0"/>
              <a:t>Structural Elements4</a:t>
            </a:r>
            <a:endParaRPr lang="en-US" sz="1800" dirty="0"/>
          </a:p>
          <a:p>
            <a:pPr>
              <a:buNone/>
            </a:pPr>
            <a:r>
              <a:rPr lang="en-US" sz="1800" u="sng" dirty="0"/>
              <a:t>Footnotes &amp; Endnotes5</a:t>
            </a:r>
            <a:endParaRPr lang="en-US" sz="1800" dirty="0"/>
          </a:p>
          <a:p>
            <a:pPr>
              <a:buNone/>
            </a:pPr>
            <a:r>
              <a:rPr lang="en-US" sz="1800" u="sng" dirty="0"/>
              <a:t>Dropcaps5</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u="sng" dirty="0"/>
              <a:t>Links5</a:t>
            </a:r>
            <a:endParaRPr lang="en-US" sz="1800" dirty="0"/>
          </a:p>
          <a:p>
            <a:pPr>
              <a:buNone/>
            </a:pPr>
            <a:r>
              <a:rPr lang="en-US" sz="1800" u="sng" dirty="0"/>
              <a:t>Table of Contents5</a:t>
            </a:r>
            <a:endParaRPr lang="en-US" sz="1800" dirty="0"/>
          </a:p>
          <a:p>
            <a:pPr>
              <a:buNone/>
            </a:pPr>
            <a:r>
              <a:rPr lang="en-US" sz="1800" u="sng" dirty="0"/>
              <a:t>Images6</a:t>
            </a:r>
            <a:endParaRPr lang="en-US" sz="1800" dirty="0"/>
          </a:p>
          <a:p>
            <a:pPr>
              <a:buNone/>
            </a:pPr>
            <a:r>
              <a:rPr lang="en-US" sz="1800" u="sng" dirty="0"/>
              <a:t>Lists7</a:t>
            </a:r>
            <a:endParaRPr lang="en-US" sz="1800" dirty="0"/>
          </a:p>
          <a:p>
            <a:pPr>
              <a:buNone/>
            </a:pPr>
            <a:r>
              <a:rPr lang="en-US" sz="1800" u="sng" dirty="0"/>
              <a:t>Bulleted List8</a:t>
            </a:r>
            <a:endParaRPr lang="en-US" sz="1800" dirty="0"/>
          </a:p>
          <a:p>
            <a:pPr>
              <a:buNone/>
            </a:pPr>
            <a:r>
              <a:rPr lang="en-US" sz="1800" u="sng" dirty="0"/>
              <a:t>Numbered List8</a:t>
            </a:r>
            <a:endParaRPr lang="en-US" sz="1800" dirty="0"/>
          </a:p>
          <a:p>
            <a:pPr>
              <a:buNone/>
            </a:pPr>
            <a:r>
              <a:rPr lang="en-US" sz="1800" u="sng" dirty="0"/>
              <a:t>Multi-level Lists8</a:t>
            </a:r>
            <a:endParaRPr lang="en-US" sz="1800" dirty="0"/>
          </a:p>
          <a:p>
            <a:pPr>
              <a:buNone/>
            </a:pPr>
            <a:r>
              <a:rPr lang="en-US" sz="1800" u="sng" dirty="0"/>
              <a:t>Continued Lists8</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There is no analogous technology in ebooks, so the conversion will usually end up placing the image either centered or floating close to the point in the text where it was </a:t>
            </a:r>
            <a:r>
              <a:rPr lang="en-US" sz="1800" i="1" dirty="0"/>
              <a:t>inserted</a:t>
            </a:r>
            <a:r>
              <a:rPr lang="en-US" sz="1800" dirty="0"/>
              <a:t>, not necessarily where it appears on the page in Word.</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457200" indent="-177800" lvl="1">
              <a:buFont typeface="+mj-lt"/>
              <a:buAutoNum type="arabicPeriod"/>
            </a:pPr>
            <a:r>
              <a:rPr lang="en-US" sz="1800" dirty="0"/>
              <a:t>Two</a:t>
            </a:r>
            <a:endParaRPr lang="en-US" sz="1800" dirty="0"/>
          </a:p>
          <a:p>
            <a:pPr marL="685800" indent="-177800" lvl="2">
              <a:buFont typeface="+mj-lt"/>
              <a:buAutoNum type="arabicPeriod"/>
            </a:pPr>
            <a:r>
              <a:rPr lang="en-US" sz="1800" dirty="0"/>
              <a:t>Three</a:t>
            </a:r>
            <a:endParaRPr lang="en-US" sz="1800" dirty="0"/>
          </a:p>
          <a:p>
            <a:pPr marL="685800" indent="-177800" lvl="2">
              <a:buFont typeface="+mj-lt"/>
              <a:buAutoNum type="arabicPeriod"/>
            </a:pPr>
            <a:r>
              <a:rPr lang="en-US" sz="1800" dirty="0"/>
              <a:t>Four with a very long line to demonstrate that the hanging indent for the list is working correctly.</a:t>
            </a:r>
            <a:endParaRPr lang="en-US" sz="1800" dirty="0"/>
          </a:p>
          <a:p>
            <a:pPr marL="685800" indent="-177800" lvl="2">
              <a:buFont typeface="+mj-lt"/>
              <a:buAutoNum type="arabicPeriod"/>
            </a:pPr>
            <a:r>
              <a:rPr lang="en-US" sz="1800" dirty="0"/>
              <a:t>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dcterms:created xsi:type="dcterms:W3CDTF">2013-06-05T07:56:00Z</dcterms:created>
  <dcterms:modified xsi:type="dcterms:W3CDTF">2024-01-01T00:00:00Z</dcterms:modified>
</cp:coreProperties>
</file>